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9" r:id="rId29"/>
    <p:sldId id="257" r:id="rId3"/>
    <p:sldId id="274" r:id="rId7"/>
    <p:sldId id="275" r:id="rId25"/>
    <p:sldId id="273" r:id="rId24"/>
    <p:sldId id="280" r:id="rId30"/>
    <p:sldId id="258" r:id="rId4"/>
    <p:sldId id="259" r:id="rId5"/>
    <p:sldId id="281" r:id="rId31"/>
    <p:sldId id="262" r:id="rId8"/>
    <p:sldId id="260" r:id="rId6"/>
    <p:sldId id="263" r:id="rId9"/>
    <p:sldId id="264" r:id="rId10"/>
    <p:sldId id="265" r:id="rId11"/>
    <p:sldId id="282" r:id="rId18"/>
    <p:sldId id="266" r:id="rId12"/>
    <p:sldId id="267" r:id="rId13"/>
    <p:sldId id="268" r:id="rId14"/>
    <p:sldId id="283" r:id="rId26"/>
    <p:sldId id="284" r:id="rId27"/>
    <p:sldId id="285" r:id="rId2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8.xml"/><Relationship Id="rId5" Type="http://schemas.openxmlformats.org/officeDocument/2006/relationships/slide" Target="slides/slide9.xml"/><Relationship Id="rId6" Type="http://schemas.openxmlformats.org/officeDocument/2006/relationships/slide" Target="slides/slide12.xml"/><Relationship Id="rId7" Type="http://schemas.openxmlformats.org/officeDocument/2006/relationships/slide" Target="slides/slide4.xml"/><Relationship Id="rId8" Type="http://schemas.openxmlformats.org/officeDocument/2006/relationships/slide" Target="slides/slide11.xml"/><Relationship Id="rId9" Type="http://schemas.openxmlformats.org/officeDocument/2006/relationships/slide" Target="slides/slide13.xml"/><Relationship Id="rId10" Type="http://schemas.openxmlformats.org/officeDocument/2006/relationships/slide" Target="slides/slide14.xml"/><Relationship Id="rId11" Type="http://schemas.openxmlformats.org/officeDocument/2006/relationships/slide" Target="slides/slide15.xml"/><Relationship Id="rId12" Type="http://schemas.openxmlformats.org/officeDocument/2006/relationships/slide" Target="slides/slide17.xml"/><Relationship Id="rId13" Type="http://schemas.openxmlformats.org/officeDocument/2006/relationships/slide" Target="slides/slide18.xml"/><Relationship Id="rId14" Type="http://schemas.openxmlformats.org/officeDocument/2006/relationships/slide" Target="slides/slide19.xml"/><Relationship Id="rId18" Type="http://schemas.openxmlformats.org/officeDocument/2006/relationships/slide" Target="slides/slide16.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6.xml"/><Relationship Id="rId25" Type="http://schemas.openxmlformats.org/officeDocument/2006/relationships/slide" Target="slides/slide5.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xml"/><Relationship Id="rId30" Type="http://schemas.openxmlformats.org/officeDocument/2006/relationships/slide" Target="slides/slide7.xml"/><Relationship Id="rId31"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 · PORTADA · TIEMPO PLANIFICADO 0:15 (NO ENSAYADO)</a:t>
            </a:r>
          </a:p>
          <a:p/>
          <a:p>
            <a:r>
              <a:t>GUION ORAL:</a:t>
            </a:r>
          </a:p>
          <a:p>
            <a:r>
              <a:t>En Chile, el paso desde la educación media hacia la superior conecta modalidades escolares diferentes con distintos sectores institucionales. Nos interesa caracterizar esa transición, no clasificar los destinos como mejores o peores.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 · PROBLEMA · TIEMPO PLANIFICADO 0:45 (NO ENSAYADO)</a:t>
            </a:r>
          </a:p>
          <a:p/>
          <a:p>
            <a:r>
              <a:t>GUION ORAL:</a:t>
            </a:r>
          </a:p>
          <a:p>
            <a:r>
              <a:t>Una tasa general de matrícula permite observar si aparece continuidad de estudios, pero no informa en qué sector comienza ni qué episodios no registran matrícula elegible durante el seguimiento. Por eso el problema requiere dos resultados complementarios: matrícula observada y primer destino institucional. Esta distinción no supone que universidad, IP y CFT se ordenen automáticamente por calidad: describe sectores diferentes del sistema.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08 · DATOS · TIEMPO PLANIFICADO 0:40 (NO ENSAYADO)</a:t>
            </a:r>
          </a:p>
          <a:p/>
          <a:p>
            <a:r>
              <a:t>GUION ORAL:</a:t>
            </a:r>
          </a:p>
          <a:p>
            <a:r>
              <a:t>Vinculamos información de egreso de educación media del MINEDUC con registros de matrícula de pregrado del SIES. La muestra principal reúne 1.233.761 episodios de las cohortes 2018 a 2023, provenientes de 3.074 establecimientos. La barra muestra su composición entre HC y TP. Es importante hablar de episodios: no necesariamente equivalen a personas únicas.</a:t>
            </a:r>
          </a:p>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09 · VARIABLES · TIEMPO PLANIFICADO 0:50 (NO ENSAYADO)</a:t>
            </a:r>
          </a:p>
          <a:p/>
          <a:p>
            <a:r>
              <a:t>GUION ORAL:</a:t>
            </a:r>
          </a:p>
          <a:p>
            <a:r>
              <a:t>Partimos del año de egreso y observamos los dos años siguientes. Con los registros construimos dos resultados distintos. Uno indica si aparece matrícula elegible de pregrado: sí o no. El otro identifica el primer destino observado: ausencia de matrícula elegible, universidad, instituto profesional o centro de formación técnica. Este segundo resultado incluye todos los episodios elegibles, no solamente a quienes se matricularon. Que no aparezca matrícula en esa ventana no significa abandono definitivo.</a:t>
            </a:r>
          </a:p>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 · DESCRIPTIVOS · TIEMPO PLANIFICADO 0:45 (NO ENSAYADO)</a:t>
            </a:r>
          </a:p>
          <a:p/>
          <a:p>
            <a:r>
              <a:t>GUION ORAL:</a:t>
            </a:r>
          </a:p>
          <a:p>
            <a:r>
              <a:t>Comencemos con la matrícula observada. Se registra en el 82,64 % de los episodios HC y el 60,19 % de los TP. La diferencia es de −22,45 puntos porcentuales. La dirección puede ser esperable, pero necesitamos cuantificar su magnitud y comprobar cuánto cambia cuando incorporamos características académicas y escolares. Ese será el siguiente paso.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 · ANTECEDENTES Y VACÍO · TIEMPO PLANIFICADO 0:45 (NO ENSAYADO)</a:t>
            </a:r>
          </a:p>
          <a:p/>
          <a:p>
            <a:r>
              <a:t>GUION ORAL:</a:t>
            </a:r>
          </a:p>
          <a:p>
            <a:r>
              <a:t>Los estudios chilenos ya han examinado segregación, acceso y destinos, incluso para distintos grupos sociales. No afirmamos que esos fenómenos sean desconocidos. Nuestro foco es más específico: precisar cómo se asocia la modalidad curricular de egreso con la matrícula registrada y con la distribución del primer sector institucional, mediante comparaciones nacionales descriptivas y ajustadas. Más adelante veremos las diferencias entre cohortes como análisis complementario.</a:t>
            </a:r>
          </a:p>
          <a:p/>
          <a:p>
            <a:r>
              <a:t>PRECISIONES Y FUENTES:</a:t>
            </a:r>
          </a:p>
          <a:p>
            <a:r>
              <a:t>ANTECEDENTES: comprobar en el manuscrito P010. Vacío delimitado, no primacía absoluta; la comparación HC/TP no constituye una innovación metodológica por sí misma.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 · ESTRATEGIA ANALÍTICA · TIEMPO PLANIFICADO 0:40 (NO ENSAYADO)</a:t>
            </a:r>
          </a:p>
          <a:p/>
          <a:p>
            <a:r>
              <a:t>GUION ORAL:</a:t>
            </a:r>
          </a:p>
          <a:p>
            <a:r>
              <a:t>El modelo produce probabilidades que podemos expresar en porcentajes. Para cada episodio calculamos una predicción bajo el escenario HC y otra bajo TP, manteniendo las demás características tal como están observadas. Después obtenemos el promedio de las predicciones para HC y para TP, y calculamos su diferencia, TP menos HC, en puntos porcentuales. Son contrastes estandarizados, no efectos causales.</a:t>
            </a:r>
          </a:p>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 · MATRÍCULA AJUSTADA · TIEMPO PLANIFICADO 1:10 (NO ENSAYADO)</a:t>
            </a:r>
          </a:p>
          <a:p/>
          <a:p>
            <a:r>
              <a:t>GUION ORAL:</a:t>
            </a:r>
          </a:p>
          <a:p>
            <a:r>
              <a:t>En los modelos la comparación se modifica al incorporar características observadas. El contraste de matrícula pasa de −22,45 en M1 a −14,83 en M2 y −12,53 puntos porcentuales en M3. En este último las probabilidades ajustadas son 79,74 % para HC y 67,20 % para TP. El intervalo del contraste es [−13,40; −11,67]. La diferencia sigue siendo negativa, pero el ajuste no identifica qué la causa.</a:t>
            </a:r>
          </a:p>
          <a:p/>
          <a:p>
            <a:r>
              <a:t>PRECISIÓN Y FUENTES:</a:t>
            </a:r>
          </a:p>
          <a:p>
            <a:r>
              <a:t>M3 contraste TP−HC −12,53 pp [−13,40; −11,67] pp. Las PPP se estandarizan sobre población común. Ajuste observacional.</a:t>
            </a:r>
          </a:p>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 · DESTINOS AJUSTADOS · TIEMPO PLANIFICADO 1:05 (NO ENSAYADO)</a:t>
            </a:r>
          </a:p>
          <a:p/>
          <a:p>
            <a:r>
              <a:t>GUION ORAL:</a:t>
            </a:r>
          </a:p>
          <a:p>
            <a:r>
              <a:t>El multinomial distingue cuatro posibles primeros resultados para los mismos episodios. El destino universitario presenta 55,76 % bajo el escenario HC y 31,51 % bajo TP. Para la ausencia de matrícula y los sectores IP y CFT, las probabilidades son mayores bajo TP. Aquí lo importante no es leer cada porcentaje: es reconocer que la composición institucional no se observa en una única tasa de continuidad.</a:t>
            </a:r>
          </a:p>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 CONTRASTES POR DESTINO · TIEMPO PLANIFICADO 1:15 (NO ENSAYADO)</a:t>
            </a:r>
          </a:p>
          <a:p/>
          <a:p>
            <a:r>
              <a:t>GUION ORAL:</a:t>
            </a:r>
          </a:p>
          <a:p>
            <a:r>
              <a:t>Al comparar los primeros destinos, no encontramos una única diferencia uniforme. La ausencia de matrícula muestra +13,50 puntos porcentuales bajo TP y universidad −24,25. Los contrastes son positivos para IP, +6,20, y CFT, +4,55, en el modelo principal. Estos sectores no están ordenados por calidad. Una precisión adicional: para IP el contraste es +6,20 en el modelo completo, pero al excluir universidad y reestimar otro universo pasa a −4,46. No estamos comparando poblaciones equivalentes; el detalle está en el respaldo. Hasta aquí agrupamos seis cohortes. ¿Ocurre lo mismo en cada año de egreso?</a:t>
            </a:r>
          </a:p>
          <a:p/>
          <a:p>
            <a:r>
              <a:t>NOTAS CIENTÍFICAS / PREGUNTAS:</a:t>
            </a:r>
          </a:p>
          <a:p>
            <a:r>
              <a:t>Contrastes multinomiales M3, TP−HC. IP +6,20 pp, N=1.233.761; al excluir universidades y reestimar, −4,46 pp, N=647.747. Los universos y estimandos no son intercambiables. No es un efecto causal.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17 · DISCUSIÓN SOCIOLÓGICA · TIEMPO PLANIFICADO 1:00 (NO ENSAYADO)</a:t>
            </a:r>
          </a:p>
          <a:p/>
          <a:p>
            <a:r>
              <a:t>GUION ORAL:</a:t>
            </a:r>
          </a:p>
          <a:p>
            <a:r>
              <a:t>El punto sociológico no es que una modalidad conduzca necesariamente a un destino. Es que la asociación con la continuidad toma formas distintas según el primer sector institucional.</a:t>
            </a:r>
          </a:p>
          <a:p/>
          <a:p>
            <a:r>
              <a:t>La perspectiva de transiciones sucesivas recuerda que estas observaciones se sitúan después de trayectorias escolares previas, atravesadas por desigualdades que no medimos exhaustivamente.</a:t>
            </a:r>
          </a:p>
          <a:p/>
          <a:p>
            <a:r>
              <a:t>La estratificación horizontal aporta la segunda lectura: ingresar al mismo nivel no significa comenzar en el mismo sector.</a:t>
            </a:r>
          </a:p>
          <a:p/>
          <a:p>
            <a:r>
              <a:t>Por eso los contrastes universitarios y los de IP o CFT importan como distribución institucional, no como ranking de calidad.</a:t>
            </a:r>
          </a:p>
          <a:p/>
          <a:p>
            <a:r>
              <a:t>Entre cohortes también varía la magnitud, aunque no identificamos sus causas ni un efecto de la pandemia. La segregación documentada aporta contexto, no un mecanismo demostrado.</a:t>
            </a:r>
          </a:p>
          <a:p/>
          <a:p>
            <a:r>
              <a:t>NOTAS CIENTÍFICAS / PREGUNTAS:</a:t>
            </a:r>
          </a:p>
          <a:p>
            <a:r>
              <a:t>Asociaciones observacionales, no causalidad. Segregación = contexto documentado en la literatura, no índice ni mecanismo estimado. Contrastes de sectores: modelo multinomial M3, TP−HC: universidad −24,25 pp, IP +6,20 pp, CFT +4,55 pp; el análisis IP que excluye universidad estima −4,46 pp en N=647.747 frente a N=1.233.761 del modelo preferido. Distintos universos/estimandos. Referencias conceptuales: Mare (1980); Gerber y Cheung (2008); Lucas (2001). Manuscrito, discusión, párrafos 119–129; suplemento A4.</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18 · CONCLUSIONES · TIEMPO PLANIFICADO 0:55 (NO ENSAYADO)</a:t>
            </a:r>
          </a:p>
          <a:p/>
          <a:p>
            <a:r>
              <a:t>GUION ORAL:</a:t>
            </a:r>
          </a:p>
          <a:p>
            <a:r>
              <a:t>En nuestro estudio, la pregunta era cómo se asocia la modalidad con la matrícula y el primer destino.</a:t>
            </a:r>
          </a:p>
          <a:p/>
          <a:p>
            <a:r>
              <a:t>Encontramos que no existe una única diferencia TP−HC.</a:t>
            </a:r>
          </a:p>
          <a:p/>
          <a:p>
            <a:r>
              <a:t>La probabilidad ajustada de matrícula es menor bajo el escenario TP; el contraste universitario es más negativo, mientras IP y CFT muestran contrastes positivos en el modelo principal.</a:t>
            </a:r>
          </a:p>
          <a:p/>
          <a:p>
            <a:r>
              <a:t>Además, la magnitud cambia entre cohortes: una brecha menor no implica que ambas modalidades mejoren.</a:t>
            </a:r>
          </a:p>
          <a:p/>
          <a:p>
            <a:r>
              <a:t>Con seis cohortes nacionales, caracterizamos estas dimensiones sin identificar las causas de las asociaciones.</a:t>
            </a:r>
          </a:p>
          <a:p/>
          <a:p>
            <a:r>
              <a:t>La contribución es mostrar que la transición no se resume en cuántos continúan: también importa dónde comienza la matrícula y cómo varía la asociación entre cohortes.</a:t>
            </a:r>
          </a:p>
          <a:p/>
          <a:p>
            <a:r>
              <a:t>NOTAS CIENTÍFICAS / PREGUNTAS:</a:t>
            </a:r>
          </a:p>
          <a:p>
            <a:r>
              <a:t>Estudio observacional, no efectos causales; diferencias entre sectores institucionales, no jerarquía de calidad. M3 binario TP−HC −12,53 pp [−13,40; −11,67]; multinomial universidad −24,25 pp, IP +6,20 pp y CFT +4,55 pp. IP sensible al universo alternativo. Contrastes por cohorte: −14,90 pp (2018) y −9,93 pp (2023). Primer destino no es trayectoria completa; ausencia de registro no equivale a abandono definitivo.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19 · RESPALDO PARA PREGUNTAS · SIN TIEMPO DE EXPOSICIÓN</a:t>
            </a:r>
          </a:p>
          <a:p/>
          <a:p>
            <a:r>
              <a:t>GUION ORAL SI SE SOLICITA:</a:t>
            </a:r>
          </a:p>
          <a:p>
            <a:r>
              <a:t>El primer destino se define por el primer registro elegible de pregrado en t+1 o t+2. La Tabla A4 muestra que las seis reglas alternativas de asignación conservan los signos de los contrastes de universidad, IP y CFT. Para IP el contraste varía entre +5,30 y +6,30 puntos porcentuales al cambiar solo las reglas. Sin embargo, cuando se excluye universidad y se reestima sobre otro universo, IP pasa de +6,20 a −4,46 puntos. El modelo principal incluye 1.233.761 episodios y el alternativo 647.747; no son estimaciones del mismo universo o estimando.</a:t>
            </a:r>
          </a:p>
          <a:p/>
          <a:p>
            <a:r>
              <a:t>NOTAS CIENTÍFICAS:</a:t>
            </a:r>
          </a:p>
          <a:p>
            <a:r>
              <a:t>Fuente: Material suplementario EPAA, Tabla A4, Panel A, 7 reglas (1 preferida y 6 alternativas), Panel B, exclusión de universidad. Panel A: IP para reglas alternativas +6,30; +5,30; +6,28; +6,20; +6,29; +6,28 pp.</a:t>
            </a:r>
          </a:p>
          <a:p>
            <a:r>
              <a:t>Regla principal: primer registro elegible en t+1 o t+2; empates administrativos U → IP → CFT. La prioridad no implica calidad. A4 Panel B: M3 cuatro destinos, IP +6,20 pp (N=1.233.761) vs exclusión de universidad, IP −4,46 pp (N=647.747). Al excluir universidad se modifica la población y el conjunto de alternativas. No comparar como efecto de retirar una categoría manteniendo población fija. El indicador de signo conservado en A4 se refiere a reajuste sobre el mismo soporte reducido, no al M3 preferido. No inferencia causal; no resuelve confusión no medida.</a:t>
            </a:r>
          </a:p>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 HETEROGENEIDAD ENTRE COHORTES · TIEMPO PLANIFICADO 0:55 (NO ENSAYADO)</a:t>
            </a:r>
          </a:p>
          <a:p/>
          <a:p>
            <a:r>
              <a:t>GUION ORAL:</a:t>
            </a:r>
          </a:p>
          <a:p>
            <a:r>
              <a:t>La figura muestra probabilidades ajustadas por cohorte, no tasas brutas. Entre 2018 y 2020 descienden las probabilidades tanto de HC como de TP, pero la diferencia entre modalidades se estrecha. Entre 2018 y 2023 pasa de −14,90 a −9,93 puntos. Entonces, una brecha menor no significa necesariamente una mejora simultánea de ambos grupos. Son cohortes distintas, observadas en contextos históricos distintos: no podemos atribuir esa variación causalmente a la pandemia.</a:t>
            </a:r>
          </a:p>
          <a:p/>
          <a:p>
            <a:r>
              <a:t>NOTAS CIENTÍFICAS / PREGUNTAS:</a:t>
            </a:r>
          </a:p>
          <a:p>
            <a:r>
              <a:t>Suplemento A3, modelo M3 con interacción modalidad×cohorte. PPP HC 2018=85,17 % y 2020=75,92 %; PPP TP 2018=70,27 % y 2020=63,17 %. Contraste TP−HC 2018=−14,90 pp y 2023=−9,93 pp, cambio +4,97 pp [IC95 % +4,23; +5,71]. Estandarización sobre población común de 1.233.761 episodios. Sin efecto causal de la pandemia.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 · TRANSICIÓN EDUCATIVA · TIEMPO PLANIFICADO 0:30 (NO ENSAYADO)</a:t>
            </a:r>
          </a:p>
          <a:p/>
          <a:p>
            <a:r>
              <a:t>GUION ORAL:</a:t>
            </a:r>
          </a:p>
          <a:p>
            <a:r>
              <a:t>El egreso es un momento dentro de una trayectoria educativa más amplia. Lo que ocurre después puede relacionarse con experiencias y posiciones anteriores. Nuestro estudio observa solo el tramo inicial de los dos años posteriores, no todas las decisiones previas ni la trayectoria definitiva.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 MARCO TEÓRICO · TIEMPO PLANIFICADO 0:35 (NO ENSAYADO)</a:t>
            </a:r>
          </a:p>
          <a:p/>
          <a:p>
            <a:r>
              <a:t>GUION ORAL:</a:t>
            </a:r>
          </a:p>
          <a:p>
            <a:r>
              <a:t>La teoría nos aporta dos preguntas distintas. Desde las transiciones sucesivas, el resultado posterior debe situarse respecto de una posición escolar previa, aquí la modalidad de egreso. Desde la estratificación horizontal, ingresar al mismo nivel no implica comenzar en el mismo sector. La segregación documentada en Chile aporta contexto, pero no estimamos su efecto. Por eso analizamos tanto la continuidad registrada como los primeros destinos.</a:t>
            </a:r>
          </a:p>
          <a:p/>
          <a:p>
            <a:r>
              <a:t>PRECISIONES Y FUENTES:</a:t>
            </a:r>
          </a:p>
          <a:p>
            <a:r>
              <a:t>MARCO TEÓRICO: Boudon (1974); Mare (1980); Breen y Goldthorpe (1997): transiciones sucesivas. Gerber y Cheung (2008); Lucas (2001); Triventi (2013): estratificación horizontal. Kuzmanic et al. (2022, 2023): contexto de segregación documentada. No estimamos índices de segregación ni sus mecanismos.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REFERENCIAS · RESPALDO NO CRONOMETRADO</a:t>
            </a:r>
          </a:p>
          <a:p/>
          <a:p>
            <a:r>
              <a:t>Alvarado-Urbina, A. (2025). Educational trajectories of indigenous students in Chile: Horizontal stratification in secondary and tertiary education. Research in Social Stratification and Mobility, 98, Article 101068. https://doi.org/10.1016/j.rssm.2025.101068</a:t>
            </a:r>
          </a:p>
          <a:p/>
          <a:p>
            <a:r>
              <a:t>Biblioteca del Congreso Nacional de Chile. (2009). Ley N.º 20.370: Establece la Ley General de Educación. https://www.bcn.cl/leychile/navegar?idNorma=1006043</a:t>
            </a:r>
          </a:p>
          <a:p/>
          <a:p>
            <a:r>
              <a:t>Biblioteca del Congreso Nacional de Chile. (2018). Ley N.º 21.091: Sobre educación superior. https://www.bcn.cl/leychile/navegar?idNorma=1118991</a:t>
            </a:r>
          </a:p>
          <a:p/>
          <a:p>
            <a:r>
              <a:t>Boudon, R. (1974). Education, opportunity, and social inequality: Changing prospects in Western society. Wiley.</a:t>
            </a:r>
          </a:p>
          <a:p/>
          <a:p>
            <a:r>
              <a:t>Fuentes de resultados: registros MINEDUC–SIES, elaboración propia en el manuscrito y suplemento (tablas A1–A4).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REFERENCIAS · RESPALDO NO CRONOMETRADO</a:t>
            </a:r>
          </a:p>
          <a:p/>
          <a:p>
            <a:r>
              <a:t>Gerber, T. P., &amp; Cheung, S. Y. (2008). Horizontal stratification in postsecondary education: Forms, explanations, and implications. Annual Review of Sociology, 34, 299–318. https://doi.org/10.1146/annurev.soc.34.040507.134604</a:t>
            </a:r>
          </a:p>
          <a:p/>
          <a:p>
            <a:r>
              <a:t>Kuzmanic, D., Valenzuela, J. P., Villalobos, C., &amp; Quaresma, M. L. (2022). Reproduction of academic and socioeconomic segregation in the transition to postsecondary education: A new approach. Research in Social Stratification and Mobility, 80, Article 100711. https://doi.org/10.1016/j.rssm.2022.100711</a:t>
            </a:r>
          </a:p>
          <a:p/>
          <a:p>
            <a:r>
              <a:t>Kuzmanic, D., Valenzuela, J. P., Villalobos, C., &amp; Quaresma, M. L. (2023). Socioeconomic segregation in higher education: Evidence for Chile (2009–2017). Higher Education Policy, 36(2), 329–350. https://doi.org/10.1057/s41307-021-00258-6</a:t>
            </a:r>
          </a:p>
          <a:p/>
          <a:p>
            <a:r>
              <a:t>Lucas, S. R. (2001). Effectively maintained inequality: Education transitions, track mobility, and social background effects. American Journal of Sociology, 106(6), 1642–1690. https://doi.org/10.1086/321300</a:t>
            </a:r>
          </a:p>
          <a:p/>
          <a:p>
            <a:r>
              <a:t>Fuentes de resultados: registros MINEDUC–SIES, elaboración propia en el manuscrito y suplemento (tablas A1–A4).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REFERENCIAS · RESPALDO NO CRONOMETRADO</a:t>
            </a:r>
          </a:p>
          <a:p/>
          <a:p>
            <a:r>
              <a:t>Mare, R. D. (1980). Social background and school continuation decisions. Journal of the American Statistical Association, 75(370), 295–305. https://doi.org/10.1080/01621459.1980.10477466</a:t>
            </a:r>
          </a:p>
          <a:p/>
          <a:p>
            <a:r>
              <a:t>Peralta Rojas, M. (2024). Cursar un programa técnico secundario en Chile, más allá del origen. Revista Estudios de Políticas Públicas, 10(2), 68–93. https://doi.org/10.5354/0719-6296.2024.76162</a:t>
            </a:r>
          </a:p>
          <a:p/>
          <a:p>
            <a:r>
              <a:t>Triventi, M. (2013). Stratification in higher education and its relationship with social inequality: A comparative study of 11 European countries. European Sociological Review, 29(3), 489–502. https://doi.org/10.1093/esr/jcr092</a:t>
            </a:r>
          </a:p>
          <a:p/>
          <a:p>
            <a:r>
              <a:t>Zelada, C., Ortega, L., &amp; Montero, M. (2025). ¿El “Sueño Chileno” incumplido? Desigualdades y segregación institucional en las transiciones a la educación superior de estudiantes extranjeros en Chile. Archivos Analíticos de Políticas Educativas, 33(88). https://doi.org/10.14507/epaa.33.8520</a:t>
            </a:r>
          </a:p>
          <a:p/>
          <a:p>
            <a:r>
              <a:t>Fuentes de resultados: registros MINEDUC–SIES, elaboración propia en el manuscrito y suplemento (tablas A1–A4).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 CONTEXTO CHILENO · TIEMPO PLANIFICADO 0:45 (NO ENSAYADO)</a:t>
            </a:r>
          </a:p>
          <a:p/>
          <a:p>
            <a:r>
              <a:t>GUION ORAL:</a:t>
            </a:r>
          </a:p>
          <a:p>
            <a:r>
              <a:t>En Chile, la educación media distingue una modalidad humanístico-científica y otra técnico-profesional, con orientaciones formativas distintas. Después, la educación superior se organiza en universidades, institutos profesionales y centros de formación técnica. No existe un destino inevitable para cada modalidad. Justamente por esa diferenciación entre niveles, importa estudiar qué continuidades se registran después del egreso y cómo se distribuyen institucionalmente.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 · OBJETIVO Y PREGUNTA · TIEMPO PLANIFICADO 0:35 (NO ENSAYADO)</a:t>
            </a:r>
          </a:p>
          <a:p/>
          <a:p>
            <a:r>
              <a:t>GUION ORAL:</a:t>
            </a:r>
          </a:p>
          <a:p>
            <a:r>
              <a:t>El objetivo es caracterizar la asociación entre modalidad de egreso y dos resultados: matrícula observada y primer destino institucional hasta dos años después. La pregunta del artículo es: ¿cómo se asocia la modalidad de educación media —HC o TP— con la matrícula de pregrado observada y el primer destino institucional durante los dos años posteriores al egreso? La comparación es asociacional, no un efecto causal de cursar una modalidad.</a:t>
            </a:r>
          </a:p>
          <a:p/>
          <a:p>
            <a:r>
              <a:t>PRECISIONES Y FUENTES:</a:t>
            </a:r>
          </a:p>
          <a:p>
            <a:r>
              <a:t>FUENTE: Manuscrito P009, P011 y P012. OBJETIVO: síntesis editorial fiel, no transcripción literal de una sección formal. PREGUNTA: transcripción literal P012. La cohorte es análisis complementario.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 MODELOS · TIEMPO PLANIFICADO 0:35 (NO ENSAYADO)</a:t>
            </a:r>
          </a:p>
          <a:p/>
          <a:p>
            <a:r>
              <a:t>GUION ORAL:</a:t>
            </a:r>
          </a:p>
          <a:p>
            <a:r>
              <a:t>Como el primer resultado es sí o no, usamos una regresión logística binaria. Allí comparamos tres ajustes: M1 incluye HC y TP; M2 agrega notas y cohorte; y M3 incorpora designación SEP y características del establecimiento de egreso. Para el primer destino, con cuatro categorías, estimamos por separado una regresión logística multinomial usando el mismo ajuste M3. Los ajustes permiten comparar asociaciones considerando información observada, no probar causalidad.</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oi.org/10.1016/j.rssm.2025.101068" TargetMode="External"/><Relationship Id="rId3" Type="http://schemas.openxmlformats.org/officeDocument/2006/relationships/hyperlink" Target="https://www.bcn.cl/leychile/navegar?idNorma=1006043" TargetMode="External"/><Relationship Id="rId4" Type="http://schemas.openxmlformats.org/officeDocument/2006/relationships/hyperlink" Target="https://www.bcn.cl/leychile/navegar?idNorma=1118991" TargetMode="Externa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oi.org/10.1146/annurev.soc.34.040507.134604" TargetMode="External"/><Relationship Id="rId3" Type="http://schemas.openxmlformats.org/officeDocument/2006/relationships/hyperlink" Target="https://doi.org/10.1016/j.rssm.2022.100711" TargetMode="External"/><Relationship Id="rId4" Type="http://schemas.openxmlformats.org/officeDocument/2006/relationships/hyperlink" Target="https://doi.org/10.1057/s41307-021-00258-6" TargetMode="External"/><Relationship Id="rId5" Type="http://schemas.openxmlformats.org/officeDocument/2006/relationships/hyperlink" Target="https://doi.org/10.1086/321300" TargetMode="Externa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oi.org/10.1080/01621459.1980.10477466" TargetMode="External"/><Relationship Id="rId3" Type="http://schemas.openxmlformats.org/officeDocument/2006/relationships/hyperlink" Target="https://doi.org/10.5354/0719-6296.2024.76162" TargetMode="External"/><Relationship Id="rId4" Type="http://schemas.openxmlformats.org/officeDocument/2006/relationships/hyperlink" Target="https://doi.org/10.1093/esr/jcr092" TargetMode="External"/><Relationship Id="rId5" Type="http://schemas.openxmlformats.org/officeDocument/2006/relationships/hyperlink" Target="https://doi.org/10.14507/epaa.33.8520" TargetMode="External"/><Relationship Id="rId6"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12064"/>
            <a:ext cx="10634472" cy="0"/>
          </a:xfrm>
          <a:prstGeom prst="line">
            <a:avLst/>
          </a:prstGeom>
          <a:noFill/>
          <a:ln w="12700">
            <a:solidFill>
              <a:srgbClr val="E5E0EA"/>
            </a:solidFill>
            <a:prstDash val="solid"/>
          </a:ln>
        </p:spPr>
        <p:txBody>
          <a:bodyPr/>
          <a:p/>
        </p:txBody>
      </p:sp>
      <p:sp>
        <p:nvSpPr>
          <p:cNvPr id="3" name="Shape 1"/>
          <p:cNvSpPr/>
          <p:nvPr/>
        </p:nvSpPr>
        <p:spPr>
          <a:xfrm>
            <a:off x="731520" y="512064"/>
            <a:ext cx="1883664" cy="50292"/>
          </a:xfrm>
          <a:prstGeom prst="rect">
            <a:avLst/>
          </a:prstGeom>
          <a:solidFill>
            <a:srgbClr val="422168"/>
          </a:solidFill>
          <a:ln w="12700">
            <a:solidFill>
              <a:srgbClr val="422168">
                <a:alpha val="0"/>
              </a:srgbClr>
            </a:solidFill>
            <a:prstDash val="solid"/>
          </a:ln>
        </p:spPr>
        <p:txBody>
          <a:bodyPr/>
          <a:p/>
        </p:txBody>
      </p:sp>
      <p:sp>
        <p:nvSpPr>
          <p:cNvPr id="4" name="Text 2"/>
          <p:cNvSpPr txBox="1"/>
          <p:nvPr/>
        </p:nvSpPr>
        <p:spPr>
          <a:xfrm>
            <a:off x="768096" y="5952744"/>
            <a:ext cx="10515600" cy="274320"/>
          </a:xfrm>
          <a:prstGeom prst="rect">
            <a:avLst/>
          </a:prstGeom>
          <a:noFill/>
          <a:ln/>
        </p:spPr>
        <p:txBody>
          <a:bodyPr wrap="square" lIns="0" tIns="0" rIns="0" bIns="0" rtlCol="0" anchor="ctr">
            <a:normAutofit/>
          </a:bodyPr>
          <a:lstStyle/>
          <a:p>
            <a:pPr algn="l" indent="0" marL="0">
              <a:buNone/>
            </a:pPr>
            <a:r>
              <a:rPr lang="en-US" sz="1150" b="1" spc="125" kern="0" dirty="0">
                <a:solidFill>
                  <a:srgbClr val="422168"/>
                </a:solidFill>
                <a:latin typeface="Arial" pitchFamily="34" charset="0"/>
                <a:ea typeface="Arial" pitchFamily="34" charset="-122"/>
                <a:cs typeface="Arial" pitchFamily="34" charset="-120"/>
              </a:rPr>
              <a:t>VII CONGRESO INTERDISCIPLINARIO DE INVESTIGACIÓN EN EDUCACIÓN</a:t>
            </a:r>
            <a:endParaRPr lang="en-US" sz="1150" dirty="0"/>
          </a:p>
        </p:txBody>
      </p:sp>
      <p:sp>
        <p:nvSpPr>
          <p:cNvPr id="5" name="Text 3"/>
          <p:cNvSpPr txBox="1"/>
          <p:nvPr/>
        </p:nvSpPr>
        <p:spPr>
          <a:xfrm>
            <a:off x="731520" y="1490472"/>
            <a:ext cx="10762488" cy="2350008"/>
          </a:xfrm>
          <a:prstGeom prst="rect">
            <a:avLst/>
          </a:prstGeom>
          <a:noFill/>
          <a:ln/>
        </p:spPr>
        <p:txBody>
          <a:bodyPr wrap="square" lIns="0" tIns="0" rIns="0" bIns="0" rtlCol="0" anchor="t">
            <a:normAutofit/>
          </a:bodyPr>
          <a:lstStyle/>
          <a:p>
            <a:pPr algn="l" indent="0" marL="0">
              <a:buNone/>
            </a:pPr>
            <a:r>
              <a:rPr lang="en-US" sz="3700" dirty="0">
                <a:solidFill>
                  <a:srgbClr val="292530"/>
                </a:solidFill>
                <a:latin typeface="Georgia" pitchFamily="34" charset="0"/>
                <a:ea typeface="Georgia" pitchFamily="34" charset="-122"/>
                <a:cs typeface="Georgia" pitchFamily="34" charset="-120"/>
              </a:rPr>
              <a:t>Trayectorias segmentadas</a:t>
            </a:r>
            <a:endParaRPr lang="en-US" sz="3700" dirty="0"/>
          </a:p>
          <a:p>
            <a:pPr algn="l" indent="0" marL="0">
              <a:buNone/>
            </a:pPr>
            <a:r>
              <a:rPr lang="en-US" sz="3700" dirty="0">
                <a:solidFill>
                  <a:srgbClr val="292530"/>
                </a:solidFill>
                <a:latin typeface="Georgia" pitchFamily="34" charset="0"/>
                <a:ea typeface="Georgia" pitchFamily="34" charset="-122"/>
                <a:cs typeface="Georgia" pitchFamily="34" charset="-120"/>
              </a:rPr>
              <a:t>de egresados técnico-profesionales</a:t>
            </a:r>
            <a:endParaRPr lang="en-US" sz="3700" dirty="0"/>
          </a:p>
          <a:p>
            <a:pPr algn="l" indent="0" marL="0">
              <a:buNone/>
            </a:pPr>
            <a:r>
              <a:rPr lang="en-US" sz="3700" dirty="0">
                <a:solidFill>
                  <a:srgbClr val="292530"/>
                </a:solidFill>
                <a:latin typeface="Georgia" pitchFamily="34" charset="0"/>
                <a:ea typeface="Georgia" pitchFamily="34" charset="-122"/>
                <a:cs typeface="Georgia" pitchFamily="34" charset="-120"/>
              </a:rPr>
              <a:t>hacia la educación superior chilena</a:t>
            </a:r>
            <a:endParaRPr lang="en-US" sz="3700" dirty="0"/>
          </a:p>
        </p:txBody>
      </p:sp>
      <p:sp>
        <p:nvSpPr>
          <p:cNvPr id="7" name="Shape 5"/>
          <p:cNvSpPr/>
          <p:nvPr/>
        </p:nvSpPr>
        <p:spPr>
          <a:xfrm>
            <a:off x="758952" y="4837176"/>
            <a:ext cx="10597896" cy="0"/>
          </a:xfrm>
          <a:prstGeom prst="line">
            <a:avLst/>
          </a:prstGeom>
          <a:noFill/>
          <a:ln w="12700">
            <a:solidFill>
              <a:srgbClr val="422168"/>
            </a:solidFill>
            <a:prstDash val="solid"/>
          </a:ln>
        </p:spPr>
        <p:txBody>
          <a:bodyPr/>
          <a:p/>
        </p:txBody>
      </p:sp>
      <p:sp>
        <p:nvSpPr>
          <p:cNvPr id="8" name="Text 6"/>
          <p:cNvSpPr txBox="1"/>
          <p:nvPr/>
        </p:nvSpPr>
        <p:spPr>
          <a:xfrm>
            <a:off x="768096" y="5111496"/>
            <a:ext cx="6400800" cy="356616"/>
          </a:xfrm>
          <a:prstGeom prst="rect">
            <a:avLst/>
          </a:prstGeom>
          <a:noFill/>
          <a:ln/>
        </p:spPr>
        <p:txBody>
          <a:bodyPr wrap="square" lIns="0" tIns="0" rIns="0" bIns="0" rtlCol="0" anchor="ctr">
            <a:normAutofit/>
          </a:bodyPr>
          <a:lstStyle/>
          <a:p>
            <a:pPr algn="l" indent="0" marL="0">
              <a:buNone/>
            </a:pPr>
            <a:r>
              <a:rPr lang="en-US" sz="2200" b="1" dirty="0">
                <a:solidFill>
                  <a:srgbClr val="422168"/>
                </a:solidFill>
                <a:latin typeface="Arial" pitchFamily="34" charset="0"/>
                <a:ea typeface="Arial" pitchFamily="34" charset="-122"/>
                <a:cs typeface="Arial" pitchFamily="34" charset="-120"/>
              </a:rPr>
              <a:t>Katherine Aravena Herrera</a:t>
            </a:r>
            <a:endParaRPr lang="en-US" sz="2200" dirty="0"/>
          </a:p>
        </p:txBody>
      </p:sp>
      <p:sp>
        <p:nvSpPr>
          <p:cNvPr id="9" name="Text 7"/>
          <p:cNvSpPr txBox="1"/>
          <p:nvPr/>
        </p:nvSpPr>
        <p:spPr>
          <a:xfrm>
            <a:off x="768096" y="5504688"/>
            <a:ext cx="5486400" cy="292608"/>
          </a:xfrm>
          <a:prstGeom prst="rect">
            <a:avLst/>
          </a:prstGeom>
          <a:noFill/>
          <a:ln/>
        </p:spPr>
        <p:txBody>
          <a:bodyPr wrap="square" lIns="0" tIns="0" rIns="0" bIns="0" rtlCol="0" anchor="ctr">
            <a:normAutofit/>
          </a:bodyPr>
          <a:lstStyle/>
          <a:p>
            <a:pPr algn="l" indent="0" marL="0">
              <a:buNone/>
            </a:pPr>
            <a:r>
              <a:rPr lang="en-US" sz="1540" dirty="0">
                <a:solidFill>
                  <a:srgbClr val="625D69"/>
                </a:solidFill>
                <a:latin typeface="Arial" pitchFamily="34" charset="0"/>
                <a:ea typeface="Arial" pitchFamily="34" charset="-122"/>
                <a:cs typeface="Arial" pitchFamily="34" charset="-120"/>
              </a:rPr>
              <a:t>Universidad de Chile</a:t>
            </a:r>
            <a:endParaRPr lang="en-US" sz="1540" dirty="0"/>
          </a:p>
        </p:txBody>
      </p:sp>
      <p:sp>
        <p:nvSpPr>
          <p:cNvPr id="10" name="Text 8"/>
          <p:cNvSpPr txBox="1"/>
          <p:nvPr/>
        </p:nvSpPr>
        <p:spPr>
          <a:xfrm>
            <a:off x="768096" y="6336792"/>
            <a:ext cx="10515600" cy="201168"/>
          </a:xfrm>
          <a:prstGeom prst="rect">
            <a:avLst/>
          </a:prstGeom>
          <a:noFill/>
          <a:ln/>
        </p:spPr>
        <p:txBody>
          <a:bodyPr wrap="square" lIns="0" tIns="0" rIns="0" bIns="0" rtlCol="0" anchor="ctr">
            <a:normAutofit/>
          </a:bodyPr>
          <a:lstStyle/>
          <a:p>
            <a:pPr algn="l" indent="0" marL="0">
              <a:buNone/>
            </a:pPr>
            <a:r>
              <a:rPr lang="en-US" sz="1170" dirty="0">
                <a:solidFill>
                  <a:srgbClr val="625D69"/>
                </a:solidFill>
                <a:latin typeface="Arial" pitchFamily="34" charset="0"/>
                <a:ea typeface="Arial" pitchFamily="34" charset="-122"/>
                <a:cs typeface="Arial" pitchFamily="34" charset="-120"/>
              </a:rPr>
              <a:t>29 de octubre de 2026   ·   Mesa 11C   ·   Educación Técnico-Profesional y Trabajo</a:t>
            </a:r>
            <a:endParaRPr lang="en-US" sz="117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67512" y="283464"/>
            <a:ext cx="10762488" cy="0"/>
          </a:xfrm>
          <a:prstGeom prst="line">
            <a:avLst/>
          </a:prstGeom>
          <a:ln w="12700">
            <a:solidFill>
              <a:srgbClr val="D9CCE7"/>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67512" y="283464"/>
            <a:ext cx="1856232" cy="0"/>
          </a:xfrm>
          <a:prstGeom prst="line">
            <a:avLst/>
          </a:prstGeom>
          <a:ln w="25400">
            <a:solidFill>
              <a:srgbClr val="7953A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67512" y="384048"/>
            <a:ext cx="10515600" cy="256032"/>
          </a:xfrm>
          <a:prstGeom prst="rect">
            <a:avLst/>
          </a:prstGeom>
          <a:noFill/>
        </p:spPr>
        <p:txBody>
          <a:bodyPr wrap="square" lIns="9144" rIns="9144" tIns="0" bIns="0" anchor="ctr">
            <a:spAutoFit/>
          </a:bodyPr>
          <a:lstStyle/>
          <a:p>
            <a:pPr algn="l">
              <a:spcBef>
                <a:spcPts val="0"/>
              </a:spcBef>
              <a:spcAft>
                <a:spcPts val="0"/>
              </a:spcAft>
            </a:pPr>
            <a:r>
              <a:rPr sz="1050" b="1" i="0">
                <a:solidFill>
                  <a:srgbClr val="7953A6"/>
                </a:solidFill>
                <a:latin typeface="Aptos"/>
              </a:rPr>
              <a:t>01 / CONTEXTO EDUCATIVO</a:t>
            </a:r>
          </a:p>
        </p:txBody>
      </p:sp>
      <p:sp>
        <p:nvSpPr>
          <p:cNvPr id="5" name="TextBox 4"/>
          <p:cNvSpPr txBox="1"/>
          <p:nvPr/>
        </p:nvSpPr>
        <p:spPr>
          <a:xfrm>
            <a:off x="667512" y="786384"/>
            <a:ext cx="10817352" cy="969264"/>
          </a:xfrm>
          <a:prstGeom prst="rect">
            <a:avLst/>
          </a:prstGeom>
          <a:noFill/>
        </p:spPr>
        <p:txBody>
          <a:bodyPr wrap="square" lIns="9144" rIns="9144" tIns="0" bIns="0" anchor="ctr">
            <a:spAutoFit/>
          </a:bodyPr>
          <a:lstStyle/>
          <a:p>
            <a:pPr algn="l">
              <a:spcBef>
                <a:spcPts val="0"/>
              </a:spcBef>
              <a:spcAft>
                <a:spcPts val="0"/>
              </a:spcAft>
            </a:pPr>
            <a:r>
              <a:rPr sz="2880" b="0" i="0">
                <a:solidFill>
                  <a:srgbClr val="342D3A"/>
                </a:solidFill>
                <a:latin typeface="Georgia"/>
              </a:rPr>
              <a:t>En Chile, la transición conecta dos niveles diferenciados</a:t>
            </a:r>
          </a:p>
        </p:txBody>
      </p:sp>
      <p:sp>
        <p:nvSpPr>
          <p:cNvPr id="6" name="TextBox 5"/>
          <p:cNvSpPr txBox="1"/>
          <p:nvPr/>
        </p:nvSpPr>
        <p:spPr>
          <a:xfrm>
            <a:off x="3931920" y="1874519"/>
            <a:ext cx="4325112" cy="292608"/>
          </a:xfrm>
          <a:prstGeom prst="rect">
            <a:avLst/>
          </a:prstGeom>
          <a:noFill/>
        </p:spPr>
        <p:txBody>
          <a:bodyPr wrap="square" lIns="0" rIns="0" tIns="0" bIns="0" anchor="ctr">
            <a:spAutoFit/>
          </a:bodyPr>
          <a:lstStyle/>
          <a:p>
            <a:pPr algn="ctr">
              <a:spcBef>
                <a:spcPts val="0"/>
              </a:spcBef>
              <a:spcAft>
                <a:spcPts val="0"/>
              </a:spcAft>
            </a:pPr>
            <a:r>
              <a:rPr sz="1320" b="1" i="0">
                <a:solidFill>
                  <a:srgbClr val="7953A6"/>
                </a:solidFill>
                <a:latin typeface="Aptos"/>
              </a:rPr>
              <a:t>EDUCACIÓN MEDIA</a:t>
            </a:r>
          </a:p>
        </p:txBody>
      </p:sp>
      <p:cxnSp>
        <p:nvCxnSpPr>
          <p:cNvPr id="7" name="Connector 6"/>
          <p:cNvCxnSpPr/>
          <p:nvPr/>
        </p:nvCxnSpPr>
        <p:spPr>
          <a:xfrm>
            <a:off x="941832" y="2231136"/>
            <a:ext cx="10305288" cy="0"/>
          </a:xfrm>
          <a:prstGeom prst="line">
            <a:avLst/>
          </a:prstGeom>
          <a:ln w="10160">
            <a:solidFill>
              <a:srgbClr val="D7C9E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86968" y="2395728"/>
            <a:ext cx="4946904" cy="1188720"/>
          </a:xfrm>
          <a:prstGeom prst="roundRect">
            <a:avLst>
              <a:gd name="adj" fmla="val 14000"/>
            </a:avLst>
          </a:prstGeom>
          <a:solidFill>
            <a:srgbClr val="F7F3FA"/>
          </a:solidFill>
          <a:ln w="12065">
            <a:solidFill>
              <a:srgbClr val="D7C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55080" y="2395728"/>
            <a:ext cx="4946904" cy="1188720"/>
          </a:xfrm>
          <a:prstGeom prst="roundRect">
            <a:avLst>
              <a:gd name="adj" fmla="val 14000"/>
            </a:avLst>
          </a:prstGeom>
          <a:solidFill>
            <a:srgbClr val="F7F3FA"/>
          </a:solidFill>
          <a:ln w="12065">
            <a:solidFill>
              <a:srgbClr val="D7C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578608"/>
            <a:ext cx="4553712" cy="374904"/>
          </a:xfrm>
          <a:prstGeom prst="rect">
            <a:avLst/>
          </a:prstGeom>
          <a:noFill/>
        </p:spPr>
        <p:txBody>
          <a:bodyPr wrap="square" lIns="0" rIns="0" tIns="0" bIns="0" anchor="ctr">
            <a:spAutoFit/>
          </a:bodyPr>
          <a:lstStyle/>
          <a:p>
            <a:pPr algn="ctr">
              <a:spcBef>
                <a:spcPts val="0"/>
              </a:spcBef>
              <a:spcAft>
                <a:spcPts val="0"/>
              </a:spcAft>
            </a:pPr>
            <a:r>
              <a:rPr sz="2140" b="1" i="0">
                <a:solidFill>
                  <a:srgbClr val="422168"/>
                </a:solidFill>
                <a:latin typeface="Aptos"/>
              </a:rPr>
              <a:t>Humanístico-científica (HC)</a:t>
            </a:r>
          </a:p>
        </p:txBody>
      </p:sp>
      <p:sp>
        <p:nvSpPr>
          <p:cNvPr id="11" name="TextBox 10"/>
          <p:cNvSpPr txBox="1"/>
          <p:nvPr/>
        </p:nvSpPr>
        <p:spPr>
          <a:xfrm>
            <a:off x="1078992" y="2990088"/>
            <a:ext cx="4553712" cy="356616"/>
          </a:xfrm>
          <a:prstGeom prst="rect">
            <a:avLst/>
          </a:prstGeom>
          <a:noFill/>
        </p:spPr>
        <p:txBody>
          <a:bodyPr wrap="square" lIns="0" rIns="0" tIns="0" bIns="0" anchor="ctr">
            <a:spAutoFit/>
          </a:bodyPr>
          <a:lstStyle/>
          <a:p>
            <a:pPr algn="ctr">
              <a:spcBef>
                <a:spcPts val="0"/>
              </a:spcBef>
              <a:spcAft>
                <a:spcPts val="0"/>
              </a:spcAft>
            </a:pPr>
            <a:r>
              <a:rPr sz="1650" b="0" i="0">
                <a:solidFill>
                  <a:srgbClr val="77707E"/>
                </a:solidFill>
                <a:latin typeface="Aptos"/>
              </a:rPr>
              <a:t>Formación académica general</a:t>
            </a:r>
          </a:p>
        </p:txBody>
      </p:sp>
      <p:sp>
        <p:nvSpPr>
          <p:cNvPr id="12" name="TextBox 11"/>
          <p:cNvSpPr txBox="1"/>
          <p:nvPr/>
        </p:nvSpPr>
        <p:spPr>
          <a:xfrm>
            <a:off x="6547104" y="2578608"/>
            <a:ext cx="4553712" cy="374904"/>
          </a:xfrm>
          <a:prstGeom prst="rect">
            <a:avLst/>
          </a:prstGeom>
          <a:noFill/>
        </p:spPr>
        <p:txBody>
          <a:bodyPr wrap="square" lIns="0" rIns="0" tIns="0" bIns="0" anchor="ctr">
            <a:spAutoFit/>
          </a:bodyPr>
          <a:lstStyle/>
          <a:p>
            <a:pPr algn="ctr">
              <a:spcBef>
                <a:spcPts val="0"/>
              </a:spcBef>
              <a:spcAft>
                <a:spcPts val="0"/>
              </a:spcAft>
            </a:pPr>
            <a:r>
              <a:rPr sz="2140" b="1" i="0">
                <a:solidFill>
                  <a:srgbClr val="422168"/>
                </a:solidFill>
                <a:latin typeface="Aptos"/>
              </a:rPr>
              <a:t>Técnico-profesional (TP)</a:t>
            </a:r>
          </a:p>
        </p:txBody>
      </p:sp>
      <p:sp>
        <p:nvSpPr>
          <p:cNvPr id="13" name="TextBox 12"/>
          <p:cNvSpPr txBox="1"/>
          <p:nvPr/>
        </p:nvSpPr>
        <p:spPr>
          <a:xfrm>
            <a:off x="6547104" y="2990088"/>
            <a:ext cx="4553712" cy="356616"/>
          </a:xfrm>
          <a:prstGeom prst="rect">
            <a:avLst/>
          </a:prstGeom>
          <a:noFill/>
        </p:spPr>
        <p:txBody>
          <a:bodyPr wrap="square" lIns="0" rIns="0" tIns="0" bIns="0" anchor="ctr">
            <a:spAutoFit/>
          </a:bodyPr>
          <a:lstStyle/>
          <a:p>
            <a:pPr algn="ctr">
              <a:spcBef>
                <a:spcPts val="0"/>
              </a:spcBef>
              <a:spcAft>
                <a:spcPts val="0"/>
              </a:spcAft>
            </a:pPr>
            <a:r>
              <a:rPr sz="1650" b="0" i="0">
                <a:solidFill>
                  <a:srgbClr val="77707E"/>
                </a:solidFill>
                <a:latin typeface="Aptos"/>
              </a:rPr>
              <a:t>Formación general y especialidades</a:t>
            </a:r>
          </a:p>
        </p:txBody>
      </p:sp>
      <p:cxnSp>
        <p:nvCxnSpPr>
          <p:cNvPr id="14" name="Connector 13"/>
          <p:cNvCxnSpPr/>
          <p:nvPr/>
        </p:nvCxnSpPr>
        <p:spPr>
          <a:xfrm>
            <a:off x="6099048" y="3593592"/>
            <a:ext cx="0" cy="201168"/>
          </a:xfrm>
          <a:prstGeom prst="line">
            <a:avLst/>
          </a:prstGeom>
          <a:ln w="19050">
            <a:solidFill>
              <a:srgbClr val="7953A6"/>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685032" y="3794760"/>
            <a:ext cx="4828032" cy="566928"/>
          </a:xfrm>
          <a:prstGeom prst="roundRect">
            <a:avLst>
              <a:gd name="adj" fmla="val 14000"/>
            </a:avLst>
          </a:prstGeom>
          <a:solidFill>
            <a:srgbClr val="E9E2F2"/>
          </a:solidFill>
          <a:ln w="8890">
            <a:solidFill>
              <a:srgbClr val="E9E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94760" y="3886200"/>
            <a:ext cx="4608576" cy="384048"/>
          </a:xfrm>
          <a:prstGeom prst="rect">
            <a:avLst/>
          </a:prstGeom>
          <a:noFill/>
        </p:spPr>
        <p:txBody>
          <a:bodyPr wrap="square" lIns="0" rIns="0" tIns="0" bIns="0" anchor="ctr">
            <a:spAutoFit/>
          </a:bodyPr>
          <a:lstStyle/>
          <a:p>
            <a:pPr algn="ctr">
              <a:spcBef>
                <a:spcPts val="0"/>
              </a:spcBef>
              <a:spcAft>
                <a:spcPts val="0"/>
              </a:spcAft>
            </a:pPr>
            <a:r>
              <a:rPr sz="1960" b="1" i="0">
                <a:solidFill>
                  <a:srgbClr val="422168"/>
                </a:solidFill>
                <a:latin typeface="Aptos"/>
              </a:rPr>
              <a:t>Transición postsecundaria</a:t>
            </a:r>
          </a:p>
        </p:txBody>
      </p:sp>
      <p:cxnSp>
        <p:nvCxnSpPr>
          <p:cNvPr id="17" name="Connector 16"/>
          <p:cNvCxnSpPr/>
          <p:nvPr/>
        </p:nvCxnSpPr>
        <p:spPr>
          <a:xfrm>
            <a:off x="6099048" y="4361688"/>
            <a:ext cx="0" cy="182880"/>
          </a:xfrm>
          <a:prstGeom prst="line">
            <a:avLst/>
          </a:prstGeom>
          <a:ln w="19050">
            <a:solidFill>
              <a:srgbClr val="7953A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050791" y="4599432"/>
            <a:ext cx="4096512" cy="329184"/>
          </a:xfrm>
          <a:prstGeom prst="rect">
            <a:avLst/>
          </a:prstGeom>
          <a:noFill/>
        </p:spPr>
        <p:txBody>
          <a:bodyPr wrap="square" lIns="0" rIns="0" tIns="0" bIns="0" anchor="ctr">
            <a:spAutoFit/>
          </a:bodyPr>
          <a:lstStyle/>
          <a:p>
            <a:pPr algn="ctr">
              <a:spcBef>
                <a:spcPts val="0"/>
              </a:spcBef>
              <a:spcAft>
                <a:spcPts val="0"/>
              </a:spcAft>
            </a:pPr>
            <a:r>
              <a:rPr sz="1320" b="1" i="0">
                <a:solidFill>
                  <a:srgbClr val="7953A6"/>
                </a:solidFill>
                <a:latin typeface="Aptos"/>
              </a:rPr>
              <a:t>EDUCACIÓN SUPERIOR</a:t>
            </a:r>
          </a:p>
        </p:txBody>
      </p:sp>
      <p:sp>
        <p:nvSpPr>
          <p:cNvPr id="19" name="Rounded Rectangle 18"/>
          <p:cNvSpPr/>
          <p:nvPr/>
        </p:nvSpPr>
        <p:spPr>
          <a:xfrm>
            <a:off x="886968" y="5065776"/>
            <a:ext cx="3328416" cy="1088136"/>
          </a:xfrm>
          <a:prstGeom prst="roundRect">
            <a:avLst>
              <a:gd name="adj" fmla="val 14000"/>
            </a:avLst>
          </a:prstGeom>
          <a:solidFill>
            <a:srgbClr val="F7F3FA"/>
          </a:solidFill>
          <a:ln w="12065">
            <a:solidFill>
              <a:srgbClr val="D7C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3" y="5257800"/>
            <a:ext cx="3072384" cy="356616"/>
          </a:xfrm>
          <a:prstGeom prst="rect">
            <a:avLst/>
          </a:prstGeom>
          <a:noFill/>
        </p:spPr>
        <p:txBody>
          <a:bodyPr wrap="square" lIns="0" rIns="0" tIns="0" bIns="0" anchor="ctr">
            <a:spAutoFit/>
          </a:bodyPr>
          <a:lstStyle/>
          <a:p>
            <a:pPr algn="ctr">
              <a:spcBef>
                <a:spcPts val="0"/>
              </a:spcBef>
              <a:spcAft>
                <a:spcPts val="0"/>
              </a:spcAft>
            </a:pPr>
            <a:r>
              <a:rPr sz="2120" b="1" i="0">
                <a:solidFill>
                  <a:srgbClr val="422168"/>
                </a:solidFill>
                <a:latin typeface="Aptos"/>
              </a:rPr>
              <a:t>Universidad</a:t>
            </a:r>
          </a:p>
        </p:txBody>
      </p:sp>
      <p:sp>
        <p:nvSpPr>
          <p:cNvPr id="21" name="TextBox 20"/>
          <p:cNvSpPr txBox="1"/>
          <p:nvPr/>
        </p:nvSpPr>
        <p:spPr>
          <a:xfrm>
            <a:off x="1014983" y="5660136"/>
            <a:ext cx="3072384" cy="256032"/>
          </a:xfrm>
          <a:prstGeom prst="rect">
            <a:avLst/>
          </a:prstGeom>
          <a:noFill/>
        </p:spPr>
        <p:txBody>
          <a:bodyPr wrap="square" lIns="0" rIns="0" tIns="0" bIns="0" anchor="ctr">
            <a:spAutoFit/>
          </a:bodyPr>
          <a:lstStyle/>
          <a:p>
            <a:pPr algn="ctr">
              <a:spcBef>
                <a:spcPts val="0"/>
              </a:spcBef>
              <a:spcAft>
                <a:spcPts val="0"/>
              </a:spcAft>
            </a:pPr>
            <a:r>
              <a:rPr sz="1530" b="0" i="0">
                <a:solidFill>
                  <a:srgbClr val="77707E"/>
                </a:solidFill>
                <a:latin typeface="Aptos"/>
              </a:rPr>
              <a:t>Sector universitario</a:t>
            </a:r>
          </a:p>
        </p:txBody>
      </p:sp>
      <p:sp>
        <p:nvSpPr>
          <p:cNvPr id="22" name="Rounded Rectangle 21"/>
          <p:cNvSpPr/>
          <p:nvPr/>
        </p:nvSpPr>
        <p:spPr>
          <a:xfrm>
            <a:off x="4425696" y="5065776"/>
            <a:ext cx="3328416" cy="1088136"/>
          </a:xfrm>
          <a:prstGeom prst="roundRect">
            <a:avLst>
              <a:gd name="adj" fmla="val 14000"/>
            </a:avLst>
          </a:prstGeom>
          <a:solidFill>
            <a:srgbClr val="F7F3FA"/>
          </a:solidFill>
          <a:ln w="12065">
            <a:solidFill>
              <a:srgbClr val="D7C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3712" y="5257800"/>
            <a:ext cx="3072384" cy="356616"/>
          </a:xfrm>
          <a:prstGeom prst="rect">
            <a:avLst/>
          </a:prstGeom>
          <a:noFill/>
        </p:spPr>
        <p:txBody>
          <a:bodyPr wrap="square" lIns="0" rIns="0" tIns="0" bIns="0" anchor="ctr">
            <a:spAutoFit/>
          </a:bodyPr>
          <a:lstStyle/>
          <a:p>
            <a:pPr algn="ctr">
              <a:spcBef>
                <a:spcPts val="0"/>
              </a:spcBef>
              <a:spcAft>
                <a:spcPts val="0"/>
              </a:spcAft>
            </a:pPr>
            <a:r>
              <a:rPr sz="2300" b="1" i="0">
                <a:solidFill>
                  <a:srgbClr val="422168"/>
                </a:solidFill>
                <a:latin typeface="Aptos"/>
              </a:rPr>
              <a:t>IP</a:t>
            </a:r>
          </a:p>
        </p:txBody>
      </p:sp>
      <p:sp>
        <p:nvSpPr>
          <p:cNvPr id="24" name="TextBox 23"/>
          <p:cNvSpPr txBox="1"/>
          <p:nvPr/>
        </p:nvSpPr>
        <p:spPr>
          <a:xfrm>
            <a:off x="4553712" y="5660136"/>
            <a:ext cx="3072384" cy="256032"/>
          </a:xfrm>
          <a:prstGeom prst="rect">
            <a:avLst/>
          </a:prstGeom>
          <a:noFill/>
        </p:spPr>
        <p:txBody>
          <a:bodyPr wrap="square" lIns="0" rIns="0" tIns="0" bIns="0" anchor="ctr">
            <a:spAutoFit/>
          </a:bodyPr>
          <a:lstStyle/>
          <a:p>
            <a:pPr algn="ctr">
              <a:spcBef>
                <a:spcPts val="0"/>
              </a:spcBef>
              <a:spcAft>
                <a:spcPts val="0"/>
              </a:spcAft>
            </a:pPr>
            <a:r>
              <a:rPr sz="1530" b="0" i="0">
                <a:solidFill>
                  <a:srgbClr val="77707E"/>
                </a:solidFill>
                <a:latin typeface="Aptos"/>
              </a:rPr>
              <a:t>Instituto profesional</a:t>
            </a:r>
          </a:p>
        </p:txBody>
      </p:sp>
      <p:sp>
        <p:nvSpPr>
          <p:cNvPr id="25" name="Rounded Rectangle 24"/>
          <p:cNvSpPr/>
          <p:nvPr/>
        </p:nvSpPr>
        <p:spPr>
          <a:xfrm>
            <a:off x="7973568" y="5065776"/>
            <a:ext cx="3328416" cy="1088136"/>
          </a:xfrm>
          <a:prstGeom prst="roundRect">
            <a:avLst>
              <a:gd name="adj" fmla="val 14000"/>
            </a:avLst>
          </a:prstGeom>
          <a:solidFill>
            <a:srgbClr val="F7F3FA"/>
          </a:solidFill>
          <a:ln w="12065">
            <a:solidFill>
              <a:srgbClr val="D7C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01584" y="5257800"/>
            <a:ext cx="3072384" cy="356616"/>
          </a:xfrm>
          <a:prstGeom prst="rect">
            <a:avLst/>
          </a:prstGeom>
          <a:noFill/>
        </p:spPr>
        <p:txBody>
          <a:bodyPr wrap="square" lIns="0" rIns="0" tIns="0" bIns="0" anchor="ctr">
            <a:spAutoFit/>
          </a:bodyPr>
          <a:lstStyle/>
          <a:p>
            <a:pPr algn="ctr">
              <a:spcBef>
                <a:spcPts val="0"/>
              </a:spcBef>
              <a:spcAft>
                <a:spcPts val="0"/>
              </a:spcAft>
            </a:pPr>
            <a:r>
              <a:rPr sz="2300" b="1" i="0">
                <a:solidFill>
                  <a:srgbClr val="422168"/>
                </a:solidFill>
                <a:latin typeface="Aptos"/>
              </a:rPr>
              <a:t>CFT</a:t>
            </a:r>
          </a:p>
        </p:txBody>
      </p:sp>
      <p:sp>
        <p:nvSpPr>
          <p:cNvPr id="27" name="TextBox 26"/>
          <p:cNvSpPr txBox="1"/>
          <p:nvPr/>
        </p:nvSpPr>
        <p:spPr>
          <a:xfrm>
            <a:off x="8101584" y="5660136"/>
            <a:ext cx="3072384" cy="256032"/>
          </a:xfrm>
          <a:prstGeom prst="rect">
            <a:avLst/>
          </a:prstGeom>
          <a:noFill/>
        </p:spPr>
        <p:txBody>
          <a:bodyPr wrap="square" lIns="0" rIns="0" tIns="0" bIns="0" anchor="ctr">
            <a:spAutoFit/>
          </a:bodyPr>
          <a:lstStyle/>
          <a:p>
            <a:pPr algn="ctr">
              <a:spcBef>
                <a:spcPts val="0"/>
              </a:spcBef>
              <a:spcAft>
                <a:spcPts val="0"/>
              </a:spcAft>
            </a:pPr>
            <a:r>
              <a:rPr sz="1530" b="0" i="0">
                <a:solidFill>
                  <a:srgbClr val="77707E"/>
                </a:solidFill>
                <a:latin typeface="Aptos"/>
              </a:rPr>
              <a:t>Centro de formación técnica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cxnSp>
        <p:nvCxnSpPr>
          <p:cNvPr id="2" name="Connector 1"/>
          <p:cNvCxnSpPr/>
          <p:nvPr/>
        </p:nvCxnSpPr>
        <p:spPr>
          <a:xfrm>
            <a:off x="667512" y="283464"/>
            <a:ext cx="10762488" cy="0"/>
          </a:xfrm>
          <a:prstGeom prst="line">
            <a:avLst/>
          </a:prstGeom>
          <a:ln w="12700">
            <a:solidFill>
              <a:srgbClr val="D9CCE7"/>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67512" y="283464"/>
            <a:ext cx="1856232" cy="0"/>
          </a:xfrm>
          <a:prstGeom prst="line">
            <a:avLst/>
          </a:prstGeom>
          <a:ln w="25400">
            <a:solidFill>
              <a:srgbClr val="7953A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67512" y="384048"/>
            <a:ext cx="10515600" cy="256032"/>
          </a:xfrm>
          <a:prstGeom prst="rect">
            <a:avLst/>
          </a:prstGeom>
          <a:noFill/>
        </p:spPr>
        <p:txBody>
          <a:bodyPr wrap="square" lIns="9144" rIns="9144" tIns="0" bIns="0" anchor="ctr">
            <a:spAutoFit/>
          </a:bodyPr>
          <a:lstStyle/>
          <a:p>
            <a:pPr algn="l">
              <a:spcBef>
                <a:spcPts val="0"/>
              </a:spcBef>
              <a:spcAft>
                <a:spcPts val="0"/>
              </a:spcAft>
            </a:pPr>
            <a:r>
              <a:rPr sz="1050" b="1" i="0">
                <a:solidFill>
                  <a:srgbClr val="7953A6"/>
                </a:solidFill>
                <a:latin typeface="Aptos"/>
              </a:rPr>
              <a:t>02 / PROBLEMA DE INVESTIGACIÓN</a:t>
            </a:r>
          </a:p>
        </p:txBody>
      </p:sp>
      <p:sp>
        <p:nvSpPr>
          <p:cNvPr id="5" name="TextBox 4"/>
          <p:cNvSpPr txBox="1"/>
          <p:nvPr/>
        </p:nvSpPr>
        <p:spPr>
          <a:xfrm>
            <a:off x="667512" y="786384"/>
            <a:ext cx="10817352" cy="969264"/>
          </a:xfrm>
          <a:prstGeom prst="rect">
            <a:avLst/>
          </a:prstGeom>
          <a:noFill/>
        </p:spPr>
        <p:txBody>
          <a:bodyPr wrap="square" lIns="9144" rIns="9144" tIns="0" bIns="0" anchor="ctr">
            <a:spAutoFit/>
          </a:bodyPr>
          <a:lstStyle/>
          <a:p>
            <a:pPr algn="l">
              <a:spcBef>
                <a:spcPts val="0"/>
              </a:spcBef>
              <a:spcAft>
                <a:spcPts val="0"/>
              </a:spcAft>
            </a:pPr>
            <a:r>
              <a:rPr sz="2930" b="0" i="0">
                <a:solidFill>
                  <a:srgbClr val="292530"/>
                </a:solidFill>
                <a:latin typeface="Georgia"/>
              </a:rPr>
              <a:t>La matrícula total no muestra cómo se distribuyen los destinos</a:t>
            </a:r>
          </a:p>
        </p:txBody>
      </p:sp>
      <p:sp>
        <p:nvSpPr>
          <p:cNvPr id="6" name="Rounded Rectangle 5"/>
          <p:cNvSpPr/>
          <p:nvPr/>
        </p:nvSpPr>
        <p:spPr>
          <a:xfrm>
            <a:off x="3154680" y="1847088"/>
            <a:ext cx="5897880" cy="566928"/>
          </a:xfrm>
          <a:prstGeom prst="roundRect">
            <a:avLst/>
          </a:prstGeom>
          <a:solidFill>
            <a:srgbClr val="E9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91840" y="1956816"/>
            <a:ext cx="5623560" cy="356616"/>
          </a:xfrm>
          <a:prstGeom prst="rect">
            <a:avLst/>
          </a:prstGeom>
          <a:noFill/>
        </p:spPr>
        <p:txBody>
          <a:bodyPr wrap="square" lIns="9144" rIns="9144" tIns="0" bIns="0" anchor="ctr">
            <a:spAutoFit/>
          </a:bodyPr>
          <a:lstStyle/>
          <a:p>
            <a:pPr algn="ctr">
              <a:spcBef>
                <a:spcPts val="0"/>
              </a:spcBef>
              <a:spcAft>
                <a:spcPts val="0"/>
              </a:spcAft>
            </a:pPr>
            <a:r>
              <a:rPr sz="1839" b="1" i="0">
                <a:solidFill>
                  <a:srgbClr val="422168"/>
                </a:solidFill>
                <a:latin typeface="Aptos"/>
              </a:rPr>
              <a:t>EPISODIOS DE EGRESO HC / TP</a:t>
            </a:r>
          </a:p>
        </p:txBody>
      </p:sp>
      <p:cxnSp>
        <p:nvCxnSpPr>
          <p:cNvPr id="8" name="Connector 7"/>
          <p:cNvCxnSpPr/>
          <p:nvPr/>
        </p:nvCxnSpPr>
        <p:spPr>
          <a:xfrm>
            <a:off x="6099048" y="2414016"/>
            <a:ext cx="0" cy="329184"/>
          </a:xfrm>
          <a:prstGeom prst="line">
            <a:avLst/>
          </a:prstGeom>
          <a:ln w="20320">
            <a:solidFill>
              <a:srgbClr val="7953A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154680" y="2743200"/>
            <a:ext cx="5888736" cy="0"/>
          </a:xfrm>
          <a:prstGeom prst="line">
            <a:avLst/>
          </a:prstGeom>
          <a:ln w="20320">
            <a:solidFill>
              <a:srgbClr val="7953A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154680" y="2743200"/>
            <a:ext cx="0" cy="393192"/>
          </a:xfrm>
          <a:prstGeom prst="line">
            <a:avLst/>
          </a:prstGeom>
          <a:ln w="20320">
            <a:solidFill>
              <a:srgbClr val="7953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043416" y="2743200"/>
            <a:ext cx="0" cy="393192"/>
          </a:xfrm>
          <a:prstGeom prst="line">
            <a:avLst/>
          </a:prstGeom>
          <a:ln w="20320">
            <a:solidFill>
              <a:srgbClr val="7953A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59536" y="3209544"/>
            <a:ext cx="4992624" cy="2130552"/>
          </a:xfrm>
          <a:prstGeom prst="roundRect">
            <a:avLst/>
          </a:prstGeom>
          <a:solidFill>
            <a:srgbClr val="FFFFFF"/>
          </a:solidFill>
          <a:ln w="13970">
            <a:solidFill>
              <a:srgbClr val="D9C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45936" y="3209544"/>
            <a:ext cx="4992624" cy="2130552"/>
          </a:xfrm>
          <a:prstGeom prst="roundRect">
            <a:avLst/>
          </a:prstGeom>
          <a:solidFill>
            <a:srgbClr val="FFFFFF"/>
          </a:solidFill>
          <a:ln w="13970">
            <a:solidFill>
              <a:srgbClr val="D9C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3493008"/>
            <a:ext cx="4498848" cy="329184"/>
          </a:xfrm>
          <a:prstGeom prst="rect">
            <a:avLst/>
          </a:prstGeom>
          <a:noFill/>
        </p:spPr>
        <p:txBody>
          <a:bodyPr wrap="square" lIns="9144" rIns="9144" tIns="0" bIns="0" anchor="ctr">
            <a:spAutoFit/>
          </a:bodyPr>
          <a:lstStyle/>
          <a:p>
            <a:pPr algn="ctr">
              <a:spcBef>
                <a:spcPts val="0"/>
              </a:spcBef>
              <a:spcAft>
                <a:spcPts val="0"/>
              </a:spcAft>
            </a:pPr>
            <a:r>
              <a:rPr sz="1420" b="1" i="0">
                <a:solidFill>
                  <a:srgbClr val="7953A6"/>
                </a:solidFill>
                <a:latin typeface="Aptos"/>
              </a:rPr>
              <a:t>1 · MATRÍCULA OBSERVADA</a:t>
            </a:r>
          </a:p>
        </p:txBody>
      </p:sp>
      <p:sp>
        <p:nvSpPr>
          <p:cNvPr id="15" name="TextBox 14"/>
          <p:cNvSpPr txBox="1"/>
          <p:nvPr/>
        </p:nvSpPr>
        <p:spPr>
          <a:xfrm>
            <a:off x="1170432" y="4032504"/>
            <a:ext cx="4407408" cy="530352"/>
          </a:xfrm>
          <a:prstGeom prst="rect">
            <a:avLst/>
          </a:prstGeom>
          <a:noFill/>
        </p:spPr>
        <p:txBody>
          <a:bodyPr wrap="square" lIns="9144" rIns="9144" tIns="0" bIns="0" anchor="ctr">
            <a:spAutoFit/>
          </a:bodyPr>
          <a:lstStyle/>
          <a:p>
            <a:pPr algn="ctr">
              <a:spcBef>
                <a:spcPts val="0"/>
              </a:spcBef>
              <a:spcAft>
                <a:spcPts val="0"/>
              </a:spcAft>
            </a:pPr>
            <a:r>
              <a:rPr sz="2500" b="0" i="0">
                <a:solidFill>
                  <a:srgbClr val="292530"/>
                </a:solidFill>
                <a:latin typeface="Georgia"/>
              </a:rPr>
              <a:t>¿Se registra matrícula?</a:t>
            </a:r>
          </a:p>
        </p:txBody>
      </p:sp>
      <p:sp>
        <p:nvSpPr>
          <p:cNvPr id="16" name="TextBox 15"/>
          <p:cNvSpPr txBox="1"/>
          <p:nvPr/>
        </p:nvSpPr>
        <p:spPr>
          <a:xfrm>
            <a:off x="1298448" y="4736592"/>
            <a:ext cx="4160520" cy="365760"/>
          </a:xfrm>
          <a:prstGeom prst="rect">
            <a:avLst/>
          </a:prstGeom>
          <a:noFill/>
        </p:spPr>
        <p:txBody>
          <a:bodyPr wrap="square" lIns="9144" rIns="9144" tIns="0" bIns="0" anchor="ctr">
            <a:spAutoFit/>
          </a:bodyPr>
          <a:lstStyle/>
          <a:p>
            <a:pPr algn="ctr">
              <a:spcBef>
                <a:spcPts val="0"/>
              </a:spcBef>
              <a:spcAft>
                <a:spcPts val="0"/>
              </a:spcAft>
            </a:pPr>
            <a:r>
              <a:rPr sz="2320" b="1" i="0">
                <a:solidFill>
                  <a:srgbClr val="422168"/>
                </a:solidFill>
                <a:latin typeface="Aptos"/>
              </a:rPr>
              <a:t>Sí     /     No</a:t>
            </a:r>
          </a:p>
        </p:txBody>
      </p:sp>
      <p:sp>
        <p:nvSpPr>
          <p:cNvPr id="17" name="TextBox 16"/>
          <p:cNvSpPr txBox="1"/>
          <p:nvPr/>
        </p:nvSpPr>
        <p:spPr>
          <a:xfrm>
            <a:off x="6647688" y="3493008"/>
            <a:ext cx="4416552" cy="329184"/>
          </a:xfrm>
          <a:prstGeom prst="rect">
            <a:avLst/>
          </a:prstGeom>
          <a:noFill/>
        </p:spPr>
        <p:txBody>
          <a:bodyPr wrap="square" lIns="9144" rIns="9144" tIns="0" bIns="0" anchor="ctr">
            <a:spAutoFit/>
          </a:bodyPr>
          <a:lstStyle/>
          <a:p>
            <a:pPr algn="ctr">
              <a:spcBef>
                <a:spcPts val="0"/>
              </a:spcBef>
              <a:spcAft>
                <a:spcPts val="0"/>
              </a:spcAft>
            </a:pPr>
            <a:r>
              <a:rPr sz="1420" b="1" i="0">
                <a:solidFill>
                  <a:srgbClr val="7953A6"/>
                </a:solidFill>
                <a:latin typeface="Aptos"/>
              </a:rPr>
              <a:t>2 · PRIMER RESULTADO</a:t>
            </a:r>
          </a:p>
        </p:txBody>
      </p:sp>
      <p:sp>
        <p:nvSpPr>
          <p:cNvPr id="18" name="TextBox 17"/>
          <p:cNvSpPr txBox="1"/>
          <p:nvPr/>
        </p:nvSpPr>
        <p:spPr>
          <a:xfrm>
            <a:off x="6675120" y="4005072"/>
            <a:ext cx="4315968" cy="548640"/>
          </a:xfrm>
          <a:prstGeom prst="rect">
            <a:avLst/>
          </a:prstGeom>
          <a:noFill/>
        </p:spPr>
        <p:txBody>
          <a:bodyPr wrap="square" lIns="9144" rIns="9144" tIns="0" bIns="0" anchor="ctr">
            <a:spAutoFit/>
          </a:bodyPr>
          <a:lstStyle/>
          <a:p>
            <a:pPr algn="ctr">
              <a:spcBef>
                <a:spcPts val="0"/>
              </a:spcBef>
              <a:spcAft>
                <a:spcPts val="0"/>
              </a:spcAft>
            </a:pPr>
            <a:r>
              <a:rPr sz="2460" b="0" i="0">
                <a:solidFill>
                  <a:srgbClr val="292530"/>
                </a:solidFill>
                <a:latin typeface="Georgia"/>
              </a:rPr>
              <a:t>¿Cuál es el destino?</a:t>
            </a:r>
          </a:p>
        </p:txBody>
      </p:sp>
      <p:sp>
        <p:nvSpPr>
          <p:cNvPr id="19" name="TextBox 18"/>
          <p:cNvSpPr txBox="1"/>
          <p:nvPr/>
        </p:nvSpPr>
        <p:spPr>
          <a:xfrm>
            <a:off x="6629400" y="4654296"/>
            <a:ext cx="4425696" cy="539496"/>
          </a:xfrm>
          <a:prstGeom prst="rect">
            <a:avLst/>
          </a:prstGeom>
          <a:noFill/>
        </p:spPr>
        <p:txBody>
          <a:bodyPr wrap="square" lIns="9144" rIns="9144" tIns="0" bIns="0" anchor="ctr">
            <a:spAutoFit/>
          </a:bodyPr>
          <a:lstStyle/>
          <a:p>
            <a:pPr algn="ctr">
              <a:spcBef>
                <a:spcPts val="0"/>
              </a:spcBef>
              <a:spcAft>
                <a:spcPts val="0"/>
              </a:spcAft>
            </a:pPr>
            <a:r>
              <a:rPr sz="1680" b="1" i="0">
                <a:solidFill>
                  <a:srgbClr val="422168"/>
                </a:solidFill>
                <a:latin typeface="Aptos"/>
              </a:rPr>
              <a:t>Sin matrícula  ·  Universidad</a:t>
            </a:r>
          </a:p>
          <a:p>
            <a:pPr algn="ctr">
              <a:spcBef>
                <a:spcPts val="0"/>
              </a:spcBef>
              <a:spcAft>
                <a:spcPts val="0"/>
              </a:spcAft>
            </a:pPr>
            <a:r>
              <a:rPr sz="1680" b="1" i="0">
                <a:solidFill>
                  <a:srgbClr val="422168"/>
                </a:solidFill>
                <a:latin typeface="Aptos"/>
              </a:rPr>
              <a:t>IP  ·  CFT</a:t>
            </a:r>
          </a:p>
        </p:txBody>
      </p:sp>
      <p:sp>
        <p:nvSpPr>
          <p:cNvPr id="20" name="TextBox 19"/>
          <p:cNvSpPr txBox="1"/>
          <p:nvPr/>
        </p:nvSpPr>
        <p:spPr>
          <a:xfrm>
            <a:off x="1088136" y="5705856"/>
            <a:ext cx="10058400" cy="338328"/>
          </a:xfrm>
          <a:prstGeom prst="rect">
            <a:avLst/>
          </a:prstGeom>
          <a:noFill/>
        </p:spPr>
        <p:txBody>
          <a:bodyPr wrap="square" lIns="9144" rIns="9144" tIns="0" bIns="0" anchor="ctr">
            <a:spAutoFit/>
          </a:bodyPr>
          <a:lstStyle/>
          <a:p>
            <a:pPr algn="ctr">
              <a:spcBef>
                <a:spcPts val="0"/>
              </a:spcBef>
              <a:spcAft>
                <a:spcPts val="0"/>
              </a:spcAft>
            </a:pPr>
            <a:r>
              <a:rPr sz="1650" b="0" i="0">
                <a:solidFill>
                  <a:srgbClr val="625D69"/>
                </a:solidFill>
                <a:latin typeface="Aptos"/>
              </a:rPr>
              <a:t>Dos resultados complementarios sobre el mismo universo de episodios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67512" y="283464"/>
            <a:ext cx="10762488" cy="0"/>
          </a:xfrm>
          <a:prstGeom prst="line">
            <a:avLst/>
          </a:prstGeom>
          <a:ln w="12700">
            <a:solidFill>
              <a:srgbClr val="D9CCE7"/>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67512" y="283464"/>
            <a:ext cx="1856232" cy="0"/>
          </a:xfrm>
          <a:prstGeom prst="line">
            <a:avLst/>
          </a:prstGeom>
          <a:ln w="25400">
            <a:solidFill>
              <a:srgbClr val="7953A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67512" y="384048"/>
            <a:ext cx="10515600" cy="256032"/>
          </a:xfrm>
          <a:prstGeom prst="rect">
            <a:avLst/>
          </a:prstGeom>
          <a:noFill/>
        </p:spPr>
        <p:txBody>
          <a:bodyPr wrap="square" lIns="9144" rIns="9144" tIns="0" bIns="0" anchor="ctr">
            <a:spAutoFit/>
          </a:bodyPr>
          <a:lstStyle/>
          <a:p>
            <a:pPr algn="l">
              <a:spcBef>
                <a:spcPts val="0"/>
              </a:spcBef>
              <a:spcAft>
                <a:spcPts val="0"/>
              </a:spcAft>
            </a:pPr>
            <a:r>
              <a:rPr sz="1050" b="1" i="0">
                <a:solidFill>
                  <a:srgbClr val="7953A6"/>
                </a:solidFill>
                <a:latin typeface="Aptos"/>
              </a:rPr>
              <a:t>03 / TRANSICIÓN · SECUENCIA EDUCATIVA</a:t>
            </a:r>
          </a:p>
        </p:txBody>
      </p:sp>
      <p:sp>
        <p:nvSpPr>
          <p:cNvPr id="5" name="TextBox 4"/>
          <p:cNvSpPr txBox="1"/>
          <p:nvPr/>
        </p:nvSpPr>
        <p:spPr>
          <a:xfrm>
            <a:off x="667512" y="768096"/>
            <a:ext cx="10881360" cy="905256"/>
          </a:xfrm>
          <a:prstGeom prst="rect">
            <a:avLst/>
          </a:prstGeom>
          <a:noFill/>
        </p:spPr>
        <p:txBody>
          <a:bodyPr wrap="square" lIns="0" rIns="0" tIns="0" bIns="0" anchor="ctr">
            <a:spAutoFit/>
          </a:bodyPr>
          <a:lstStyle/>
          <a:p>
            <a:pPr algn="l">
              <a:lnSpc>
                <a:spcPct val="107000"/>
              </a:lnSpc>
              <a:spcBef>
                <a:spcPts val="0"/>
              </a:spcBef>
              <a:spcAft>
                <a:spcPts val="0"/>
              </a:spcAft>
            </a:pPr>
            <a:r>
              <a:rPr sz="3050" b="0">
                <a:solidFill>
                  <a:srgbClr val="292530"/>
                </a:solidFill>
                <a:latin typeface="Georgia"/>
              </a:rPr>
              <a:t>El egreso es un momento de una trayectoria más amplia</a:t>
            </a:r>
          </a:p>
        </p:txBody>
      </p:sp>
      <p:sp>
        <p:nvSpPr>
          <p:cNvPr id="6" name="TextBox 5"/>
          <p:cNvSpPr txBox="1"/>
          <p:nvPr/>
        </p:nvSpPr>
        <p:spPr>
          <a:xfrm>
            <a:off x="1014984" y="1874519"/>
            <a:ext cx="10149840" cy="347472"/>
          </a:xfrm>
          <a:prstGeom prst="rect">
            <a:avLst/>
          </a:prstGeom>
          <a:noFill/>
        </p:spPr>
        <p:txBody>
          <a:bodyPr wrap="square" lIns="0" rIns="0" tIns="0" bIns="0" anchor="ctr">
            <a:spAutoFit/>
          </a:bodyPr>
          <a:lstStyle/>
          <a:p>
            <a:pPr algn="ctr">
              <a:lnSpc>
                <a:spcPct val="107000"/>
              </a:lnSpc>
              <a:spcBef>
                <a:spcPts val="0"/>
              </a:spcBef>
              <a:spcAft>
                <a:spcPts val="0"/>
              </a:spcAft>
            </a:pPr>
            <a:r>
              <a:rPr sz="1510" b="1">
                <a:solidFill>
                  <a:srgbClr val="7953A6"/>
                </a:solidFill>
                <a:latin typeface="Aptos"/>
              </a:rPr>
              <a:t>UNA TRANSICIÓN SE OBSERVA ENTRE ETAPAS</a:t>
            </a:r>
          </a:p>
        </p:txBody>
      </p:sp>
      <p:cxnSp>
        <p:nvCxnSpPr>
          <p:cNvPr id="7" name="Connector 6"/>
          <p:cNvCxnSpPr/>
          <p:nvPr/>
        </p:nvCxnSpPr>
        <p:spPr>
          <a:xfrm>
            <a:off x="2130552" y="3191256"/>
            <a:ext cx="7918704" cy="0"/>
          </a:xfrm>
          <a:prstGeom prst="line">
            <a:avLst/>
          </a:prstGeom>
          <a:ln w="27940">
            <a:solidFill>
              <a:srgbClr val="7953A6"/>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2016252" y="3076956"/>
            <a:ext cx="228600" cy="228600"/>
          </a:xfrm>
          <a:prstGeom prst="ellipse">
            <a:avLst/>
          </a:prstGeom>
          <a:solidFill>
            <a:srgbClr val="795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975604" y="3076956"/>
            <a:ext cx="228600" cy="228600"/>
          </a:xfrm>
          <a:prstGeom prst="ellipse">
            <a:avLst/>
          </a:prstGeom>
          <a:solidFill>
            <a:srgbClr val="795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34956" y="3076956"/>
            <a:ext cx="228600" cy="228600"/>
          </a:xfrm>
          <a:prstGeom prst="ellipse">
            <a:avLst/>
          </a:prstGeom>
          <a:solidFill>
            <a:srgbClr val="795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3566160"/>
            <a:ext cx="2779776" cy="502920"/>
          </a:xfrm>
          <a:prstGeom prst="rect">
            <a:avLst/>
          </a:prstGeom>
          <a:noFill/>
        </p:spPr>
        <p:txBody>
          <a:bodyPr wrap="square" lIns="0" rIns="0" tIns="0" bIns="0" anchor="ctr">
            <a:spAutoFit/>
          </a:bodyPr>
          <a:lstStyle/>
          <a:p>
            <a:pPr algn="ctr">
              <a:lnSpc>
                <a:spcPct val="107000"/>
              </a:lnSpc>
              <a:spcBef>
                <a:spcPts val="0"/>
              </a:spcBef>
              <a:spcAft>
                <a:spcPts val="0"/>
              </a:spcAft>
            </a:pPr>
            <a:r>
              <a:rPr sz="2500" b="0">
                <a:solidFill>
                  <a:srgbClr val="292530"/>
                </a:solidFill>
                <a:latin typeface="Georgia"/>
              </a:rPr>
              <a:t>Antes del egreso</a:t>
            </a:r>
          </a:p>
        </p:txBody>
      </p:sp>
      <p:sp>
        <p:nvSpPr>
          <p:cNvPr id="12" name="TextBox 11"/>
          <p:cNvSpPr txBox="1"/>
          <p:nvPr/>
        </p:nvSpPr>
        <p:spPr>
          <a:xfrm>
            <a:off x="4215384" y="3566160"/>
            <a:ext cx="3749039" cy="804672"/>
          </a:xfrm>
          <a:prstGeom prst="rect">
            <a:avLst/>
          </a:prstGeom>
          <a:noFill/>
        </p:spPr>
        <p:txBody>
          <a:bodyPr wrap="square" lIns="0" rIns="0" tIns="0" bIns="0" anchor="ctr">
            <a:spAutoFit/>
          </a:bodyPr>
          <a:lstStyle/>
          <a:p>
            <a:pPr algn="ctr">
              <a:lnSpc>
                <a:spcPct val="107000"/>
              </a:lnSpc>
              <a:spcBef>
                <a:spcPts val="0"/>
              </a:spcBef>
              <a:spcAft>
                <a:spcPts val="0"/>
              </a:spcAft>
            </a:pPr>
            <a:r>
              <a:rPr sz="2400" b="0">
                <a:solidFill>
                  <a:srgbClr val="292530"/>
                </a:solidFill>
                <a:latin typeface="Georgia"/>
              </a:rPr>
              <a:t>Egreso de educación media</a:t>
            </a:r>
          </a:p>
        </p:txBody>
      </p:sp>
      <p:sp>
        <p:nvSpPr>
          <p:cNvPr id="13" name="TextBox 12"/>
          <p:cNvSpPr txBox="1"/>
          <p:nvPr/>
        </p:nvSpPr>
        <p:spPr>
          <a:xfrm>
            <a:off x="8522208" y="3566160"/>
            <a:ext cx="2880360" cy="502920"/>
          </a:xfrm>
          <a:prstGeom prst="rect">
            <a:avLst/>
          </a:prstGeom>
          <a:noFill/>
        </p:spPr>
        <p:txBody>
          <a:bodyPr wrap="square" lIns="0" rIns="0" tIns="0" bIns="0" anchor="ctr">
            <a:spAutoFit/>
          </a:bodyPr>
          <a:lstStyle/>
          <a:p>
            <a:pPr algn="ctr">
              <a:lnSpc>
                <a:spcPct val="107000"/>
              </a:lnSpc>
              <a:spcBef>
                <a:spcPts val="0"/>
              </a:spcBef>
              <a:spcAft>
                <a:spcPts val="0"/>
              </a:spcAft>
            </a:pPr>
            <a:r>
              <a:rPr sz="2430" b="0">
                <a:solidFill>
                  <a:srgbClr val="292530"/>
                </a:solidFill>
                <a:latin typeface="Georgia"/>
              </a:rPr>
              <a:t>Después del egreso</a:t>
            </a:r>
          </a:p>
        </p:txBody>
      </p:sp>
      <p:sp>
        <p:nvSpPr>
          <p:cNvPr id="14" name="TextBox 13"/>
          <p:cNvSpPr txBox="1"/>
          <p:nvPr/>
        </p:nvSpPr>
        <p:spPr>
          <a:xfrm>
            <a:off x="740664" y="4343400"/>
            <a:ext cx="2871216" cy="594360"/>
          </a:xfrm>
          <a:prstGeom prst="rect">
            <a:avLst/>
          </a:prstGeom>
          <a:noFill/>
        </p:spPr>
        <p:txBody>
          <a:bodyPr wrap="square" lIns="0" rIns="0" tIns="0" bIns="0" anchor="ctr">
            <a:spAutoFit/>
          </a:bodyPr>
          <a:lstStyle/>
          <a:p>
            <a:pPr algn="ctr">
              <a:lnSpc>
                <a:spcPct val="107000"/>
              </a:lnSpc>
              <a:spcBef>
                <a:spcPts val="0"/>
              </a:spcBef>
              <a:spcAft>
                <a:spcPts val="0"/>
              </a:spcAft>
            </a:pPr>
            <a:r>
              <a:rPr sz="1600" b="0">
                <a:solidFill>
                  <a:srgbClr val="625D69"/>
                </a:solidFill>
                <a:latin typeface="Aptos"/>
              </a:rPr>
              <a:t>Condiciones y experiencias previas</a:t>
            </a:r>
          </a:p>
        </p:txBody>
      </p:sp>
      <p:sp>
        <p:nvSpPr>
          <p:cNvPr id="15" name="TextBox 14"/>
          <p:cNvSpPr txBox="1"/>
          <p:nvPr/>
        </p:nvSpPr>
        <p:spPr>
          <a:xfrm>
            <a:off x="4617720" y="4343400"/>
            <a:ext cx="2944368" cy="457200"/>
          </a:xfrm>
          <a:prstGeom prst="rect">
            <a:avLst/>
          </a:prstGeom>
          <a:noFill/>
        </p:spPr>
        <p:txBody>
          <a:bodyPr wrap="square" lIns="0" rIns="0" tIns="0" bIns="0" anchor="ctr">
            <a:spAutoFit/>
          </a:bodyPr>
          <a:lstStyle/>
          <a:p>
            <a:pPr algn="ctr">
              <a:lnSpc>
                <a:spcPct val="107000"/>
              </a:lnSpc>
              <a:spcBef>
                <a:spcPts val="0"/>
              </a:spcBef>
              <a:spcAft>
                <a:spcPts val="0"/>
              </a:spcAft>
            </a:pPr>
            <a:r>
              <a:rPr sz="1600" b="0">
                <a:solidFill>
                  <a:srgbClr val="625D69"/>
                </a:solidFill>
                <a:latin typeface="Aptos"/>
              </a:rPr>
              <a:t>Modalidad HC / TP</a:t>
            </a:r>
          </a:p>
        </p:txBody>
      </p:sp>
      <p:sp>
        <p:nvSpPr>
          <p:cNvPr id="16" name="TextBox 15"/>
          <p:cNvSpPr txBox="1"/>
          <p:nvPr/>
        </p:nvSpPr>
        <p:spPr>
          <a:xfrm>
            <a:off x="8513064" y="4343400"/>
            <a:ext cx="2935224" cy="457200"/>
          </a:xfrm>
          <a:prstGeom prst="rect">
            <a:avLst/>
          </a:prstGeom>
          <a:noFill/>
        </p:spPr>
        <p:txBody>
          <a:bodyPr wrap="square" lIns="0" rIns="0" tIns="0" bIns="0" anchor="ctr">
            <a:spAutoFit/>
          </a:bodyPr>
          <a:lstStyle/>
          <a:p>
            <a:pPr algn="ctr">
              <a:lnSpc>
                <a:spcPct val="107000"/>
              </a:lnSpc>
              <a:spcBef>
                <a:spcPts val="0"/>
              </a:spcBef>
              <a:spcAft>
                <a:spcPts val="0"/>
              </a:spcAft>
            </a:pPr>
            <a:r>
              <a:rPr sz="1600" b="0">
                <a:solidFill>
                  <a:srgbClr val="625D69"/>
                </a:solidFill>
                <a:latin typeface="Aptos"/>
              </a:rPr>
              <a:t>Matrícula hasta t+2</a:t>
            </a:r>
          </a:p>
        </p:txBody>
      </p:sp>
      <p:sp>
        <p:nvSpPr>
          <p:cNvPr id="17" name="Rounded Rectangle 16"/>
          <p:cNvSpPr/>
          <p:nvPr/>
        </p:nvSpPr>
        <p:spPr>
          <a:xfrm>
            <a:off x="2194560" y="5312664"/>
            <a:ext cx="7790688" cy="603504"/>
          </a:xfrm>
          <a:prstGeom prst="roundRect">
            <a:avLst>
              <a:gd name="adj" fmla="val 9000"/>
            </a:avLst>
          </a:prstGeom>
          <a:solidFill>
            <a:srgbClr val="F3E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04872" y="5413248"/>
            <a:ext cx="7360920" cy="393192"/>
          </a:xfrm>
          <a:prstGeom prst="rect">
            <a:avLst/>
          </a:prstGeom>
          <a:noFill/>
        </p:spPr>
        <p:txBody>
          <a:bodyPr wrap="square" lIns="0" rIns="0" tIns="0" bIns="0" anchor="ctr">
            <a:spAutoFit/>
          </a:bodyPr>
          <a:lstStyle/>
          <a:p>
            <a:pPr algn="ctr">
              <a:lnSpc>
                <a:spcPct val="107000"/>
              </a:lnSpc>
              <a:spcBef>
                <a:spcPts val="0"/>
              </a:spcBef>
              <a:spcAft>
                <a:spcPts val="0"/>
              </a:spcAft>
            </a:pPr>
            <a:r>
              <a:rPr sz="1700" b="1">
                <a:solidFill>
                  <a:srgbClr val="422168"/>
                </a:solidFill>
                <a:latin typeface="Aptos"/>
              </a:rPr>
              <a:t>Observamos el inicio de la transición, no toda la trayectoria</a:t>
            </a:r>
          </a:p>
        </p:txBody>
      </p:sp>
      <p:cxnSp>
        <p:nvCxnSpPr>
          <p:cNvPr id="19" name="Connector 18"/>
          <p:cNvCxnSpPr/>
          <p:nvPr/>
        </p:nvCxnSpPr>
        <p:spPr>
          <a:xfrm>
            <a:off x="667512" y="6400800"/>
            <a:ext cx="10808208" cy="0"/>
          </a:xfrm>
          <a:prstGeom prst="line">
            <a:avLst/>
          </a:prstGeom>
          <a:ln w="8890">
            <a:solidFill>
              <a:srgbClr val="D9CBE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5800" y="6460236"/>
            <a:ext cx="10881360" cy="233172"/>
          </a:xfrm>
          <a:prstGeom prst="rect">
            <a:avLst/>
          </a:prstGeom>
          <a:noFill/>
        </p:spPr>
        <p:txBody>
          <a:bodyPr wrap="square" lIns="0" rIns="0" tIns="0" bIns="0" anchor="ctr">
            <a:spAutoFit/>
          </a:bodyPr>
          <a:lstStyle/>
          <a:p>
            <a:pPr algn="l">
              <a:lnSpc>
                <a:spcPct val="107000"/>
              </a:lnSpc>
              <a:spcBef>
                <a:spcPts val="0"/>
              </a:spcBef>
              <a:spcAft>
                <a:spcPts val="0"/>
              </a:spcAft>
            </a:pPr>
            <a:r>
              <a:rPr sz="900" b="0">
                <a:solidFill>
                  <a:srgbClr val="847A8A"/>
                </a:solidFill>
                <a:latin typeface="Aptos"/>
              </a:rPr>
              <a:t>El tramo observado comprende los dos años posteriores al egreso; no representa trayectorias completas.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67512" y="283464"/>
            <a:ext cx="10808208" cy="0"/>
          </a:xfrm>
          <a:prstGeom prst="line">
            <a:avLst/>
          </a:prstGeom>
          <a:ln w="11430">
            <a:solidFill>
              <a:srgbClr val="E3DDEA"/>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667512" y="283464"/>
            <a:ext cx="2029968" cy="0"/>
          </a:xfrm>
          <a:prstGeom prst="line">
            <a:avLst/>
          </a:prstGeom>
          <a:ln w="19050">
            <a:solidFill>
              <a:srgbClr val="7953A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67512" y="384048"/>
            <a:ext cx="10561320" cy="228600"/>
          </a:xfrm>
          <a:prstGeom prst="rect">
            <a:avLst/>
          </a:prstGeom>
          <a:noFill/>
        </p:spPr>
        <p:txBody>
          <a:bodyPr wrap="square" lIns="0" rIns="0" tIns="0" bIns="0" anchor="ctr">
            <a:spAutoFit/>
          </a:bodyPr>
          <a:lstStyle/>
          <a:p>
            <a:pPr>
              <a:spcBef>
                <a:spcPts val="0"/>
              </a:spcBef>
              <a:spcAft>
                <a:spcPts val="0"/>
              </a:spcAft>
            </a:pPr>
            <a:r>
              <a:rPr sz="1050" b="1" i="0">
                <a:solidFill>
                  <a:srgbClr val="7953A6"/>
                </a:solidFill>
                <a:latin typeface="Aptos"/>
              </a:rPr>
              <a:t>04 / MARCO TEÓRICO · TRANSICIONES Y DESTINOS</a:t>
            </a:r>
          </a:p>
        </p:txBody>
      </p:sp>
      <p:sp>
        <p:nvSpPr>
          <p:cNvPr id="6" name="TextBox 5"/>
          <p:cNvSpPr txBox="1"/>
          <p:nvPr/>
        </p:nvSpPr>
        <p:spPr>
          <a:xfrm>
            <a:off x="667512" y="804672"/>
            <a:ext cx="10789920" cy="850392"/>
          </a:xfrm>
          <a:prstGeom prst="rect">
            <a:avLst/>
          </a:prstGeom>
          <a:noFill/>
        </p:spPr>
        <p:txBody>
          <a:bodyPr wrap="square" lIns="0" rIns="0" tIns="0" bIns="0" anchor="ctr">
            <a:spAutoFit/>
          </a:bodyPr>
          <a:lstStyle/>
          <a:p>
            <a:pPr>
              <a:spcBef>
                <a:spcPts val="0"/>
              </a:spcBef>
              <a:spcAft>
                <a:spcPts val="0"/>
              </a:spcAft>
            </a:pPr>
            <a:r>
              <a:rPr sz="2860" b="0" i="0">
                <a:solidFill>
                  <a:srgbClr val="342D40"/>
                </a:solidFill>
                <a:latin typeface="Georgia"/>
              </a:rPr>
              <a:t>Las trayectorias previas importan; el destino también diferencia</a:t>
            </a:r>
          </a:p>
        </p:txBody>
      </p:sp>
      <p:sp>
        <p:nvSpPr>
          <p:cNvPr id="7" name="Rectangle 6"/>
          <p:cNvSpPr/>
          <p:nvPr/>
        </p:nvSpPr>
        <p:spPr>
          <a:xfrm>
            <a:off x="932688" y="1975104"/>
            <a:ext cx="10305288" cy="676656"/>
          </a:xfrm>
          <a:prstGeom prst="rect">
            <a:avLst/>
          </a:prstGeom>
          <a:solidFill>
            <a:srgbClr val="F7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075688"/>
            <a:ext cx="9756648" cy="228600"/>
          </a:xfrm>
          <a:prstGeom prst="rect">
            <a:avLst/>
          </a:prstGeom>
          <a:noFill/>
        </p:spPr>
        <p:txBody>
          <a:bodyPr wrap="square" lIns="0" rIns="0" tIns="0" bIns="0" anchor="ctr">
            <a:spAutoFit/>
          </a:bodyPr>
          <a:lstStyle/>
          <a:p>
            <a:pPr algn="ctr">
              <a:spcBef>
                <a:spcPts val="0"/>
              </a:spcBef>
              <a:spcAft>
                <a:spcPts val="0"/>
              </a:spcAft>
            </a:pPr>
            <a:r>
              <a:rPr sz="1400" b="1" i="0">
                <a:solidFill>
                  <a:srgbClr val="7953A6"/>
                </a:solidFill>
                <a:latin typeface="Aptos"/>
              </a:rPr>
              <a:t>CONTEXTO CHILENO · DESIGUALDADES Y SEGREGACIÓN DOCUMENTADAS</a:t>
            </a:r>
          </a:p>
        </p:txBody>
      </p:sp>
      <p:sp>
        <p:nvSpPr>
          <p:cNvPr id="9" name="TextBox 8"/>
          <p:cNvSpPr txBox="1"/>
          <p:nvPr/>
        </p:nvSpPr>
        <p:spPr>
          <a:xfrm>
            <a:off x="1179576" y="2359152"/>
            <a:ext cx="9765792" cy="201168"/>
          </a:xfrm>
          <a:prstGeom prst="rect">
            <a:avLst/>
          </a:prstGeom>
          <a:noFill/>
        </p:spPr>
        <p:txBody>
          <a:bodyPr wrap="square" lIns="0" rIns="0" tIns="0" bIns="0" anchor="ctr">
            <a:spAutoFit/>
          </a:bodyPr>
          <a:lstStyle/>
          <a:p>
            <a:pPr algn="ctr">
              <a:spcBef>
                <a:spcPts val="0"/>
              </a:spcBef>
              <a:spcAft>
                <a:spcPts val="0"/>
              </a:spcAft>
            </a:pPr>
            <a:r>
              <a:rPr sz="1160" b="0" i="0">
                <a:solidFill>
                  <a:srgbClr val="787481"/>
                </a:solidFill>
                <a:latin typeface="Aptos"/>
              </a:rPr>
              <a:t>No son mecanismos estimados por este estudio</a:t>
            </a:r>
          </a:p>
        </p:txBody>
      </p:sp>
      <p:cxnSp>
        <p:nvCxnSpPr>
          <p:cNvPr id="10" name="Connector 9"/>
          <p:cNvCxnSpPr/>
          <p:nvPr/>
        </p:nvCxnSpPr>
        <p:spPr>
          <a:xfrm>
            <a:off x="6089904" y="2980944"/>
            <a:ext cx="0" cy="2075688"/>
          </a:xfrm>
          <a:prstGeom prst="line">
            <a:avLst/>
          </a:prstGeom>
          <a:ln w="12700">
            <a:solidFill>
              <a:srgbClr val="DED7E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96696" y="3072384"/>
            <a:ext cx="4791456" cy="356616"/>
          </a:xfrm>
          <a:prstGeom prst="rect">
            <a:avLst/>
          </a:prstGeom>
          <a:noFill/>
        </p:spPr>
        <p:txBody>
          <a:bodyPr wrap="square" lIns="0" rIns="0" tIns="0" bIns="0" anchor="ctr">
            <a:spAutoFit/>
          </a:bodyPr>
          <a:lstStyle/>
          <a:p>
            <a:pPr>
              <a:spcBef>
                <a:spcPts val="0"/>
              </a:spcBef>
              <a:spcAft>
                <a:spcPts val="0"/>
              </a:spcAft>
            </a:pPr>
            <a:r>
              <a:rPr sz="1610" b="1" i="0">
                <a:solidFill>
                  <a:srgbClr val="422168"/>
                </a:solidFill>
                <a:latin typeface="Aptos"/>
              </a:rPr>
              <a:t>01  TRANSICIONES SUCESIVAS</a:t>
            </a:r>
          </a:p>
        </p:txBody>
      </p:sp>
      <p:sp>
        <p:nvSpPr>
          <p:cNvPr id="12" name="TextBox 11"/>
          <p:cNvSpPr txBox="1"/>
          <p:nvPr/>
        </p:nvSpPr>
        <p:spPr>
          <a:xfrm>
            <a:off x="1005840" y="3593592"/>
            <a:ext cx="4690872" cy="1243584"/>
          </a:xfrm>
          <a:prstGeom prst="rect">
            <a:avLst/>
          </a:prstGeom>
          <a:noFill/>
        </p:spPr>
        <p:txBody>
          <a:bodyPr wrap="square" lIns="0" rIns="0" tIns="0" bIns="0" anchor="ctr">
            <a:spAutoFit/>
          </a:bodyPr>
          <a:lstStyle/>
          <a:p>
            <a:pPr>
              <a:spcBef>
                <a:spcPts val="0"/>
              </a:spcBef>
              <a:spcAft>
                <a:spcPts val="0"/>
              </a:spcAft>
            </a:pPr>
            <a:r>
              <a:rPr sz="2240" b="0" i="0">
                <a:solidFill>
                  <a:srgbClr val="342D40"/>
                </a:solidFill>
                <a:latin typeface="Georgia"/>
              </a:rPr>
              <a:t>La modalidad es una posición</a:t>
            </a:r>
          </a:p>
          <a:p>
            <a:pPr>
              <a:spcBef>
                <a:spcPts val="0"/>
              </a:spcBef>
              <a:spcAft>
                <a:spcPts val="0"/>
              </a:spcAft>
            </a:pPr>
            <a:r>
              <a:rPr sz="2240" b="0" i="0">
                <a:solidFill>
                  <a:srgbClr val="342D40"/>
                </a:solidFill>
                <a:latin typeface="Georgia"/>
              </a:rPr>
              <a:t>escolar previa desde la que</a:t>
            </a:r>
          </a:p>
          <a:p>
            <a:pPr>
              <a:spcBef>
                <a:spcPts val="0"/>
              </a:spcBef>
              <a:spcAft>
                <a:spcPts val="0"/>
              </a:spcAft>
            </a:pPr>
            <a:r>
              <a:rPr sz="2240" b="0" i="0">
                <a:solidFill>
                  <a:srgbClr val="342D40"/>
                </a:solidFill>
                <a:latin typeface="Georgia"/>
              </a:rPr>
              <a:t>observamos la continuidad.</a:t>
            </a:r>
          </a:p>
        </p:txBody>
      </p:sp>
      <p:sp>
        <p:nvSpPr>
          <p:cNvPr id="13" name="TextBox 12"/>
          <p:cNvSpPr txBox="1"/>
          <p:nvPr/>
        </p:nvSpPr>
        <p:spPr>
          <a:xfrm>
            <a:off x="6455664" y="3072384"/>
            <a:ext cx="4736592" cy="356616"/>
          </a:xfrm>
          <a:prstGeom prst="rect">
            <a:avLst/>
          </a:prstGeom>
          <a:noFill/>
        </p:spPr>
        <p:txBody>
          <a:bodyPr wrap="square" lIns="0" rIns="0" tIns="0" bIns="0" anchor="ctr">
            <a:spAutoFit/>
          </a:bodyPr>
          <a:lstStyle/>
          <a:p>
            <a:pPr>
              <a:spcBef>
                <a:spcPts val="0"/>
              </a:spcBef>
              <a:spcAft>
                <a:spcPts val="0"/>
              </a:spcAft>
            </a:pPr>
            <a:r>
              <a:rPr sz="1610" b="1" i="0">
                <a:solidFill>
                  <a:srgbClr val="422168"/>
                </a:solidFill>
                <a:latin typeface="Aptos"/>
              </a:rPr>
              <a:t>02  ESTRATIFICACIÓN HORIZONTAL</a:t>
            </a:r>
          </a:p>
        </p:txBody>
      </p:sp>
      <p:sp>
        <p:nvSpPr>
          <p:cNvPr id="14" name="TextBox 13"/>
          <p:cNvSpPr txBox="1"/>
          <p:nvPr/>
        </p:nvSpPr>
        <p:spPr>
          <a:xfrm>
            <a:off x="6455664" y="3593592"/>
            <a:ext cx="4736592" cy="1243584"/>
          </a:xfrm>
          <a:prstGeom prst="rect">
            <a:avLst/>
          </a:prstGeom>
          <a:noFill/>
        </p:spPr>
        <p:txBody>
          <a:bodyPr wrap="square" lIns="0" rIns="0" tIns="0" bIns="0" anchor="ctr">
            <a:spAutoFit/>
          </a:bodyPr>
          <a:lstStyle/>
          <a:p>
            <a:pPr>
              <a:spcBef>
                <a:spcPts val="0"/>
              </a:spcBef>
              <a:spcAft>
                <a:spcPts val="0"/>
              </a:spcAft>
            </a:pPr>
            <a:r>
              <a:rPr sz="2240" b="0" i="0">
                <a:solidFill>
                  <a:srgbClr val="342D40"/>
                </a:solidFill>
                <a:latin typeface="Georgia"/>
              </a:rPr>
              <a:t>La matrícula puede comenzar</a:t>
            </a:r>
          </a:p>
          <a:p>
            <a:pPr>
              <a:spcBef>
                <a:spcPts val="0"/>
              </a:spcBef>
              <a:spcAft>
                <a:spcPts val="0"/>
              </a:spcAft>
            </a:pPr>
            <a:r>
              <a:rPr sz="2240" b="0" i="0">
                <a:solidFill>
                  <a:srgbClr val="342D40"/>
                </a:solidFill>
                <a:latin typeface="Georgia"/>
              </a:rPr>
              <a:t>en distintos sectores de</a:t>
            </a:r>
          </a:p>
          <a:p>
            <a:pPr>
              <a:spcBef>
                <a:spcPts val="0"/>
              </a:spcBef>
              <a:spcAft>
                <a:spcPts val="0"/>
              </a:spcAft>
            </a:pPr>
            <a:r>
              <a:rPr sz="2240" b="0" i="0">
                <a:solidFill>
                  <a:srgbClr val="342D40"/>
                </a:solidFill>
                <a:latin typeface="Georgia"/>
              </a:rPr>
              <a:t>educación superior.</a:t>
            </a:r>
          </a:p>
        </p:txBody>
      </p:sp>
      <p:sp>
        <p:nvSpPr>
          <p:cNvPr id="15" name="Rectangle 14"/>
          <p:cNvSpPr/>
          <p:nvPr/>
        </p:nvSpPr>
        <p:spPr>
          <a:xfrm>
            <a:off x="932688" y="5321808"/>
            <a:ext cx="10314432" cy="603504"/>
          </a:xfrm>
          <a:prstGeom prst="rect">
            <a:avLst/>
          </a:prstGeom>
          <a:solidFill>
            <a:srgbClr val="E9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5422392"/>
            <a:ext cx="9802368" cy="329184"/>
          </a:xfrm>
          <a:prstGeom prst="rect">
            <a:avLst/>
          </a:prstGeom>
          <a:noFill/>
        </p:spPr>
        <p:txBody>
          <a:bodyPr wrap="square" lIns="0" rIns="0" tIns="0" bIns="0" anchor="ctr">
            <a:spAutoFit/>
          </a:bodyPr>
          <a:lstStyle/>
          <a:p>
            <a:pPr algn="ctr">
              <a:spcBef>
                <a:spcPts val="0"/>
              </a:spcBef>
              <a:spcAft>
                <a:spcPts val="0"/>
              </a:spcAft>
            </a:pPr>
            <a:r>
              <a:rPr sz="1700" b="1" i="0">
                <a:solidFill>
                  <a:srgbClr val="422168"/>
                </a:solidFill>
                <a:latin typeface="Aptos"/>
              </a:rPr>
              <a:t>Por eso examinamos continuidad registrada y primer destino institucional.</a:t>
            </a:r>
          </a:p>
        </p:txBody>
      </p:sp>
      <p:cxnSp>
        <p:nvCxnSpPr>
          <p:cNvPr id="17" name="Connector 16"/>
          <p:cNvCxnSpPr/>
          <p:nvPr/>
        </p:nvCxnSpPr>
        <p:spPr>
          <a:xfrm>
            <a:off x="667512" y="6355080"/>
            <a:ext cx="10789920" cy="0"/>
          </a:xfrm>
          <a:prstGeom prst="line">
            <a:avLst/>
          </a:prstGeom>
          <a:ln w="11430">
            <a:solidFill>
              <a:srgbClr val="DED7E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6419088"/>
            <a:ext cx="10863072" cy="256032"/>
          </a:xfrm>
          <a:prstGeom prst="rect">
            <a:avLst/>
          </a:prstGeom>
          <a:noFill/>
        </p:spPr>
        <p:txBody>
          <a:bodyPr wrap="square" lIns="0" rIns="0" tIns="0" bIns="0" anchor="ctr">
            <a:spAutoFit/>
          </a:bodyPr>
          <a:lstStyle/>
          <a:p>
            <a:pPr>
              <a:spcBef>
                <a:spcPts val="0"/>
              </a:spcBef>
              <a:spcAft>
                <a:spcPts val="0"/>
              </a:spcAft>
            </a:pPr>
            <a:r>
              <a:rPr sz="900" b="0" i="0">
                <a:solidFill>
                  <a:srgbClr val="787481"/>
                </a:solidFill>
                <a:latin typeface="Aptos"/>
              </a:rPr>
              <a:t>Boudon (1974); Mare (1980); Gerber y Cheung (2008); Lucas (2001); Triventi (2013). Contexto: Kuzmanic et al. (2022, 2023).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67512" y="283464"/>
            <a:ext cx="10808208" cy="0"/>
          </a:xfrm>
          <a:prstGeom prst="line">
            <a:avLst/>
          </a:prstGeom>
          <a:ln w="11430">
            <a:solidFill>
              <a:srgbClr val="E3DDEA"/>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667512" y="283464"/>
            <a:ext cx="2029968" cy="0"/>
          </a:xfrm>
          <a:prstGeom prst="line">
            <a:avLst/>
          </a:prstGeom>
          <a:ln w="19050">
            <a:solidFill>
              <a:srgbClr val="7953A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67512" y="384048"/>
            <a:ext cx="10561320" cy="228600"/>
          </a:xfrm>
          <a:prstGeom prst="rect">
            <a:avLst/>
          </a:prstGeom>
          <a:noFill/>
        </p:spPr>
        <p:txBody>
          <a:bodyPr wrap="square" lIns="0" rIns="0" tIns="0" bIns="0" anchor="ctr">
            <a:spAutoFit/>
          </a:bodyPr>
          <a:lstStyle/>
          <a:p>
            <a:pPr>
              <a:spcBef>
                <a:spcPts val="0"/>
              </a:spcBef>
              <a:spcAft>
                <a:spcPts val="0"/>
              </a:spcAft>
            </a:pPr>
            <a:r>
              <a:rPr sz="1050" b="1" i="0">
                <a:solidFill>
                  <a:srgbClr val="7953A6"/>
                </a:solidFill>
                <a:latin typeface="Aptos"/>
              </a:rPr>
              <a:t>05 / ANTECEDENTES Y VACÍO DE INVESTIGACIÓN</a:t>
            </a:r>
          </a:p>
        </p:txBody>
      </p:sp>
      <p:sp>
        <p:nvSpPr>
          <p:cNvPr id="6" name="TextBox 5"/>
          <p:cNvSpPr txBox="1"/>
          <p:nvPr/>
        </p:nvSpPr>
        <p:spPr>
          <a:xfrm>
            <a:off x="667512" y="804672"/>
            <a:ext cx="10789920" cy="850392"/>
          </a:xfrm>
          <a:prstGeom prst="rect">
            <a:avLst/>
          </a:prstGeom>
          <a:noFill/>
        </p:spPr>
        <p:txBody>
          <a:bodyPr wrap="square" lIns="0" rIns="0" tIns="0" bIns="0" anchor="ctr">
            <a:spAutoFit/>
          </a:bodyPr>
          <a:lstStyle/>
          <a:p>
            <a:pPr>
              <a:spcBef>
                <a:spcPts val="0"/>
              </a:spcBef>
              <a:spcAft>
                <a:spcPts val="0"/>
              </a:spcAft>
            </a:pPr>
            <a:r>
              <a:rPr sz="2820" b="0" i="0">
                <a:solidFill>
                  <a:srgbClr val="342D40"/>
                </a:solidFill>
                <a:latin typeface="Georgia"/>
              </a:rPr>
              <a:t>Sabemos que existen desigualdades; falta precisar esta comparación</a:t>
            </a:r>
          </a:p>
        </p:txBody>
      </p:sp>
      <p:sp>
        <p:nvSpPr>
          <p:cNvPr id="7" name="TextBox 6"/>
          <p:cNvSpPr txBox="1"/>
          <p:nvPr/>
        </p:nvSpPr>
        <p:spPr>
          <a:xfrm>
            <a:off x="960120" y="2148840"/>
            <a:ext cx="4608576" cy="338328"/>
          </a:xfrm>
          <a:prstGeom prst="rect">
            <a:avLst/>
          </a:prstGeom>
          <a:noFill/>
        </p:spPr>
        <p:txBody>
          <a:bodyPr wrap="square" lIns="0" rIns="0" tIns="0" bIns="0" anchor="ctr">
            <a:spAutoFit/>
          </a:bodyPr>
          <a:lstStyle/>
          <a:p>
            <a:pPr>
              <a:spcBef>
                <a:spcPts val="0"/>
              </a:spcBef>
              <a:spcAft>
                <a:spcPts val="0"/>
              </a:spcAft>
            </a:pPr>
            <a:r>
              <a:rPr sz="1650" b="1" i="0">
                <a:solidFill>
                  <a:srgbClr val="7953A6"/>
                </a:solidFill>
                <a:latin typeface="Aptos"/>
              </a:rPr>
              <a:t>LA LITERATURA YA DOCUMENTA</a:t>
            </a:r>
          </a:p>
        </p:txBody>
      </p:sp>
      <p:sp>
        <p:nvSpPr>
          <p:cNvPr id="8" name="TextBox 7"/>
          <p:cNvSpPr txBox="1"/>
          <p:nvPr/>
        </p:nvSpPr>
        <p:spPr>
          <a:xfrm>
            <a:off x="969264" y="2761488"/>
            <a:ext cx="4754880" cy="1389888"/>
          </a:xfrm>
          <a:prstGeom prst="rect">
            <a:avLst/>
          </a:prstGeom>
          <a:noFill/>
        </p:spPr>
        <p:txBody>
          <a:bodyPr wrap="square" lIns="0" rIns="0" tIns="0" bIns="0" anchor="ctr">
            <a:spAutoFit/>
          </a:bodyPr>
          <a:lstStyle/>
          <a:p>
            <a:pPr>
              <a:spcBef>
                <a:spcPts val="0"/>
              </a:spcBef>
              <a:spcAft>
                <a:spcPts val="0"/>
              </a:spcAft>
            </a:pPr>
            <a:r>
              <a:rPr sz="2330" b="0" i="0">
                <a:solidFill>
                  <a:srgbClr val="342D40"/>
                </a:solidFill>
                <a:latin typeface="Georgia"/>
              </a:rPr>
              <a:t>Segregación, acceso y destinos</a:t>
            </a:r>
          </a:p>
          <a:p>
            <a:pPr>
              <a:spcBef>
                <a:spcPts val="0"/>
              </a:spcBef>
              <a:spcAft>
                <a:spcPts val="0"/>
              </a:spcAft>
            </a:pPr>
            <a:r>
              <a:rPr sz="2330" b="0" i="0">
                <a:solidFill>
                  <a:srgbClr val="342D40"/>
                </a:solidFill>
                <a:latin typeface="Georgia"/>
              </a:rPr>
              <a:t>según distintos grupos sociales</a:t>
            </a:r>
          </a:p>
          <a:p>
            <a:pPr>
              <a:spcBef>
                <a:spcPts val="0"/>
              </a:spcBef>
              <a:spcAft>
                <a:spcPts val="0"/>
              </a:spcAft>
            </a:pPr>
            <a:r>
              <a:rPr sz="2330" b="0" i="0">
                <a:solidFill>
                  <a:srgbClr val="342D40"/>
                </a:solidFill>
                <a:latin typeface="Georgia"/>
              </a:rPr>
              <a:t>y educativos.</a:t>
            </a:r>
          </a:p>
        </p:txBody>
      </p:sp>
      <p:cxnSp>
        <p:nvCxnSpPr>
          <p:cNvPr id="9" name="Connector 8"/>
          <p:cNvCxnSpPr/>
          <p:nvPr/>
        </p:nvCxnSpPr>
        <p:spPr>
          <a:xfrm>
            <a:off x="6126480" y="2057400"/>
            <a:ext cx="0" cy="2916936"/>
          </a:xfrm>
          <a:prstGeom prst="line">
            <a:avLst/>
          </a:prstGeom>
          <a:ln w="13970">
            <a:solidFill>
              <a:srgbClr val="DED7E7"/>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492240" y="2148840"/>
            <a:ext cx="4617720" cy="338328"/>
          </a:xfrm>
          <a:prstGeom prst="rect">
            <a:avLst/>
          </a:prstGeom>
          <a:noFill/>
        </p:spPr>
        <p:txBody>
          <a:bodyPr wrap="square" lIns="0" rIns="0" tIns="0" bIns="0" anchor="ctr">
            <a:spAutoFit/>
          </a:bodyPr>
          <a:lstStyle/>
          <a:p>
            <a:pPr>
              <a:spcBef>
                <a:spcPts val="0"/>
              </a:spcBef>
              <a:spcAft>
                <a:spcPts val="0"/>
              </a:spcAft>
            </a:pPr>
            <a:r>
              <a:rPr sz="1650" b="1" i="0">
                <a:solidFill>
                  <a:srgbClr val="7953A6"/>
                </a:solidFill>
                <a:latin typeface="Aptos"/>
              </a:rPr>
              <a:t>ESTE ESTUDIO DELIMITA</a:t>
            </a:r>
          </a:p>
        </p:txBody>
      </p:sp>
      <p:sp>
        <p:nvSpPr>
          <p:cNvPr id="11" name="TextBox 10"/>
          <p:cNvSpPr txBox="1"/>
          <p:nvPr/>
        </p:nvSpPr>
        <p:spPr>
          <a:xfrm>
            <a:off x="6483096" y="2761488"/>
            <a:ext cx="4764024" cy="1389888"/>
          </a:xfrm>
          <a:prstGeom prst="rect">
            <a:avLst/>
          </a:prstGeom>
          <a:noFill/>
        </p:spPr>
        <p:txBody>
          <a:bodyPr wrap="square" lIns="0" rIns="0" tIns="0" bIns="0" anchor="ctr">
            <a:spAutoFit/>
          </a:bodyPr>
          <a:lstStyle/>
          <a:p>
            <a:pPr>
              <a:spcBef>
                <a:spcPts val="0"/>
              </a:spcBef>
              <a:spcAft>
                <a:spcPts val="0"/>
              </a:spcAft>
            </a:pPr>
            <a:r>
              <a:rPr sz="2330" b="0" i="0">
                <a:solidFill>
                  <a:srgbClr val="342D40"/>
                </a:solidFill>
                <a:latin typeface="Georgia"/>
              </a:rPr>
              <a:t>La asociación de HC/TP con</a:t>
            </a:r>
          </a:p>
          <a:p>
            <a:pPr>
              <a:spcBef>
                <a:spcPts val="0"/>
              </a:spcBef>
              <a:spcAft>
                <a:spcPts val="0"/>
              </a:spcAft>
            </a:pPr>
            <a:r>
              <a:rPr sz="2330" b="0" i="0">
                <a:solidFill>
                  <a:srgbClr val="342D40"/>
                </a:solidFill>
                <a:latin typeface="Georgia"/>
              </a:rPr>
              <a:t>matrícula registrada y primer</a:t>
            </a:r>
          </a:p>
          <a:p>
            <a:pPr>
              <a:spcBef>
                <a:spcPts val="0"/>
              </a:spcBef>
              <a:spcAft>
                <a:spcPts val="0"/>
              </a:spcAft>
            </a:pPr>
            <a:r>
              <a:rPr sz="2330" b="0" i="0">
                <a:solidFill>
                  <a:srgbClr val="342D40"/>
                </a:solidFill>
                <a:latin typeface="Georgia"/>
              </a:rPr>
              <a:t>sector de destino.</a:t>
            </a:r>
          </a:p>
        </p:txBody>
      </p:sp>
      <p:sp>
        <p:nvSpPr>
          <p:cNvPr id="12" name="Rectangle 11"/>
          <p:cNvSpPr/>
          <p:nvPr/>
        </p:nvSpPr>
        <p:spPr>
          <a:xfrm>
            <a:off x="932688" y="4864608"/>
            <a:ext cx="10277856" cy="841248"/>
          </a:xfrm>
          <a:prstGeom prst="rect">
            <a:avLst/>
          </a:prstGeom>
          <a:solidFill>
            <a:srgbClr val="E9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98448" y="5056632"/>
            <a:ext cx="9546336" cy="411480"/>
          </a:xfrm>
          <a:prstGeom prst="rect">
            <a:avLst/>
          </a:prstGeom>
          <a:noFill/>
        </p:spPr>
        <p:txBody>
          <a:bodyPr wrap="square" lIns="0" rIns="0" tIns="0" bIns="0" anchor="ctr">
            <a:spAutoFit/>
          </a:bodyPr>
          <a:lstStyle/>
          <a:p>
            <a:pPr algn="ctr">
              <a:spcBef>
                <a:spcPts val="0"/>
              </a:spcBef>
              <a:spcAft>
                <a:spcPts val="0"/>
              </a:spcAft>
            </a:pPr>
            <a:r>
              <a:rPr sz="1750" b="1" i="0">
                <a:solidFill>
                  <a:srgbClr val="422168"/>
                </a:solidFill>
                <a:latin typeface="Aptos"/>
              </a:rPr>
              <a:t>APORTE · Comparación nacional descriptiva y ajustada de ambas dimensiones.</a:t>
            </a:r>
          </a:p>
        </p:txBody>
      </p:sp>
      <p:cxnSp>
        <p:nvCxnSpPr>
          <p:cNvPr id="14" name="Connector 13"/>
          <p:cNvCxnSpPr/>
          <p:nvPr/>
        </p:nvCxnSpPr>
        <p:spPr>
          <a:xfrm>
            <a:off x="667512" y="6355080"/>
            <a:ext cx="10789920" cy="0"/>
          </a:xfrm>
          <a:prstGeom prst="line">
            <a:avLst/>
          </a:prstGeom>
          <a:ln w="11430">
            <a:solidFill>
              <a:srgbClr val="DED7E7"/>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6419088"/>
            <a:ext cx="10863072" cy="256032"/>
          </a:xfrm>
          <a:prstGeom prst="rect">
            <a:avLst/>
          </a:prstGeom>
          <a:noFill/>
        </p:spPr>
        <p:txBody>
          <a:bodyPr wrap="square" lIns="0" rIns="0" tIns="0" bIns="0" anchor="ctr">
            <a:spAutoFit/>
          </a:bodyPr>
          <a:lstStyle/>
          <a:p>
            <a:pPr>
              <a:spcBef>
                <a:spcPts val="0"/>
              </a:spcBef>
              <a:spcAft>
                <a:spcPts val="0"/>
              </a:spcAft>
            </a:pPr>
            <a:r>
              <a:rPr sz="900" b="0" i="0">
                <a:solidFill>
                  <a:srgbClr val="787481"/>
                </a:solidFill>
                <a:latin typeface="Aptos"/>
              </a:rPr>
              <a:t>Kuzmanic et al. (2022, 2023) · Peralta Rojas (2024) · Zelada et al. (2025) · Alvarado-Urbina (2025)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67512" y="283464"/>
            <a:ext cx="10808208" cy="0"/>
          </a:xfrm>
          <a:prstGeom prst="line">
            <a:avLst/>
          </a:prstGeom>
          <a:ln w="11430">
            <a:solidFill>
              <a:srgbClr val="E3DDEA"/>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667512" y="283464"/>
            <a:ext cx="2029968" cy="0"/>
          </a:xfrm>
          <a:prstGeom prst="line">
            <a:avLst/>
          </a:prstGeom>
          <a:ln w="19050">
            <a:solidFill>
              <a:srgbClr val="7953A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67512" y="384048"/>
            <a:ext cx="10561320" cy="228600"/>
          </a:xfrm>
          <a:prstGeom prst="rect">
            <a:avLst/>
          </a:prstGeom>
          <a:noFill/>
        </p:spPr>
        <p:txBody>
          <a:bodyPr wrap="square" lIns="0" rIns="0" tIns="0" bIns="0" anchor="ctr">
            <a:spAutoFit/>
          </a:bodyPr>
          <a:lstStyle/>
          <a:p>
            <a:pPr>
              <a:spcBef>
                <a:spcPts val="0"/>
              </a:spcBef>
              <a:spcAft>
                <a:spcPts val="0"/>
              </a:spcAft>
            </a:pPr>
            <a:r>
              <a:rPr sz="1050" b="1" i="0">
                <a:solidFill>
                  <a:srgbClr val="7953A6"/>
                </a:solidFill>
                <a:latin typeface="Aptos"/>
              </a:rPr>
              <a:t>06 / OBJETIVO Y PREGUNTA DE INVESTIGACIÓN</a:t>
            </a:r>
          </a:p>
        </p:txBody>
      </p:sp>
      <p:sp>
        <p:nvSpPr>
          <p:cNvPr id="6" name="TextBox 5"/>
          <p:cNvSpPr txBox="1"/>
          <p:nvPr/>
        </p:nvSpPr>
        <p:spPr>
          <a:xfrm>
            <a:off x="667512" y="804672"/>
            <a:ext cx="10789920" cy="850392"/>
          </a:xfrm>
          <a:prstGeom prst="rect">
            <a:avLst/>
          </a:prstGeom>
          <a:noFill/>
        </p:spPr>
        <p:txBody>
          <a:bodyPr wrap="square" lIns="0" rIns="0" tIns="0" bIns="0" anchor="ctr">
            <a:spAutoFit/>
          </a:bodyPr>
          <a:lstStyle/>
          <a:p>
            <a:pPr>
              <a:spcBef>
                <a:spcPts val="0"/>
              </a:spcBef>
              <a:spcAft>
                <a:spcPts val="0"/>
              </a:spcAft>
            </a:pPr>
            <a:r>
              <a:rPr sz="2710" b="0" i="0">
                <a:solidFill>
                  <a:srgbClr val="342D40"/>
                </a:solidFill>
                <a:latin typeface="Georgia"/>
              </a:rPr>
              <a:t>Caracterizamos la continuidad y los primeros destinos según modalidad</a:t>
            </a:r>
          </a:p>
        </p:txBody>
      </p:sp>
      <p:sp>
        <p:nvSpPr>
          <p:cNvPr id="7" name="TextBox 6"/>
          <p:cNvSpPr txBox="1"/>
          <p:nvPr/>
        </p:nvSpPr>
        <p:spPr>
          <a:xfrm>
            <a:off x="1051560" y="1920240"/>
            <a:ext cx="9966960" cy="283464"/>
          </a:xfrm>
          <a:prstGeom prst="rect">
            <a:avLst/>
          </a:prstGeom>
          <a:noFill/>
        </p:spPr>
        <p:txBody>
          <a:bodyPr wrap="square" lIns="0" rIns="0" tIns="0" bIns="0" anchor="ctr">
            <a:spAutoFit/>
          </a:bodyPr>
          <a:lstStyle/>
          <a:p>
            <a:pPr>
              <a:spcBef>
                <a:spcPts val="0"/>
              </a:spcBef>
              <a:spcAft>
                <a:spcPts val="0"/>
              </a:spcAft>
            </a:pPr>
            <a:r>
              <a:rPr sz="1550" b="1" i="0">
                <a:solidFill>
                  <a:srgbClr val="7953A6"/>
                </a:solidFill>
                <a:latin typeface="Aptos"/>
              </a:rPr>
              <a:t>OBJETIVO DEL ESTUDIO</a:t>
            </a:r>
          </a:p>
        </p:txBody>
      </p:sp>
      <p:sp>
        <p:nvSpPr>
          <p:cNvPr id="8" name="TextBox 7"/>
          <p:cNvSpPr txBox="1"/>
          <p:nvPr/>
        </p:nvSpPr>
        <p:spPr>
          <a:xfrm>
            <a:off x="1042415" y="2304288"/>
            <a:ext cx="10076688" cy="987552"/>
          </a:xfrm>
          <a:prstGeom prst="rect">
            <a:avLst/>
          </a:prstGeom>
          <a:noFill/>
        </p:spPr>
        <p:txBody>
          <a:bodyPr wrap="square" lIns="0" rIns="0" tIns="0" bIns="0" anchor="ctr">
            <a:spAutoFit/>
          </a:bodyPr>
          <a:lstStyle/>
          <a:p>
            <a:pPr>
              <a:spcBef>
                <a:spcPts val="0"/>
              </a:spcBef>
              <a:spcAft>
                <a:spcPts val="0"/>
              </a:spcAft>
            </a:pPr>
            <a:r>
              <a:rPr sz="2220" b="0" i="0">
                <a:solidFill>
                  <a:srgbClr val="342D40"/>
                </a:solidFill>
                <a:latin typeface="Georgia"/>
              </a:rPr>
              <a:t>Caracterizar la asociación entre modalidad de egreso, matrícula de pregrado observada y primer destino institucional hasta dos años después del egreso.</a:t>
            </a:r>
          </a:p>
        </p:txBody>
      </p:sp>
      <p:cxnSp>
        <p:nvCxnSpPr>
          <p:cNvPr id="9" name="Connector 8"/>
          <p:cNvCxnSpPr/>
          <p:nvPr/>
        </p:nvCxnSpPr>
        <p:spPr>
          <a:xfrm>
            <a:off x="1042415" y="3538728"/>
            <a:ext cx="10067545" cy="0"/>
          </a:xfrm>
          <a:prstGeom prst="line">
            <a:avLst/>
          </a:prstGeom>
          <a:ln w="12700">
            <a:solidFill>
              <a:srgbClr val="DED7E7"/>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51560" y="3749039"/>
            <a:ext cx="9966960" cy="283464"/>
          </a:xfrm>
          <a:prstGeom prst="rect">
            <a:avLst/>
          </a:prstGeom>
          <a:noFill/>
        </p:spPr>
        <p:txBody>
          <a:bodyPr wrap="square" lIns="0" rIns="0" tIns="0" bIns="0" anchor="ctr">
            <a:spAutoFit/>
          </a:bodyPr>
          <a:lstStyle/>
          <a:p>
            <a:pPr>
              <a:spcBef>
                <a:spcPts val="0"/>
              </a:spcBef>
              <a:spcAft>
                <a:spcPts val="0"/>
              </a:spcAft>
            </a:pPr>
            <a:r>
              <a:rPr sz="1550" b="1" i="0">
                <a:solidFill>
                  <a:srgbClr val="7953A6"/>
                </a:solidFill>
                <a:latin typeface="Aptos"/>
              </a:rPr>
              <a:t>PREGUNTA DE INVESTIGACIÓN</a:t>
            </a:r>
          </a:p>
        </p:txBody>
      </p:sp>
      <p:sp>
        <p:nvSpPr>
          <p:cNvPr id="11" name="TextBox 10"/>
          <p:cNvSpPr txBox="1"/>
          <p:nvPr/>
        </p:nvSpPr>
        <p:spPr>
          <a:xfrm>
            <a:off x="1033271" y="4169663"/>
            <a:ext cx="10085832" cy="1243584"/>
          </a:xfrm>
          <a:prstGeom prst="rect">
            <a:avLst/>
          </a:prstGeom>
          <a:noFill/>
        </p:spPr>
        <p:txBody>
          <a:bodyPr wrap="square" lIns="0" rIns="0" tIns="0" bIns="0" anchor="ctr">
            <a:spAutoFit/>
          </a:bodyPr>
          <a:lstStyle/>
          <a:p>
            <a:pPr>
              <a:spcBef>
                <a:spcPts val="0"/>
              </a:spcBef>
              <a:spcAft>
                <a:spcPts val="0"/>
              </a:spcAft>
            </a:pPr>
            <a:r>
              <a:rPr sz="2220" b="0" i="0">
                <a:solidFill>
                  <a:srgbClr val="422168"/>
                </a:solidFill>
                <a:latin typeface="Georgia"/>
              </a:rPr>
              <a:t>¿cómo se asocia la modalidad de educación media —HC o TP— con la matrícula de pregrado observada y el primer destino institucional durante los dos años posteriores al egreso?</a:t>
            </a:r>
          </a:p>
        </p:txBody>
      </p:sp>
      <p:sp>
        <p:nvSpPr>
          <p:cNvPr id="12" name="Rectangle 11"/>
          <p:cNvSpPr/>
          <p:nvPr/>
        </p:nvSpPr>
        <p:spPr>
          <a:xfrm>
            <a:off x="1051560" y="5669280"/>
            <a:ext cx="10076688" cy="411480"/>
          </a:xfrm>
          <a:prstGeom prst="rect">
            <a:avLst/>
          </a:prstGeom>
          <a:solidFill>
            <a:srgbClr val="F7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71016" y="5724144"/>
            <a:ext cx="9683496" cy="274320"/>
          </a:xfrm>
          <a:prstGeom prst="rect">
            <a:avLst/>
          </a:prstGeom>
          <a:noFill/>
        </p:spPr>
        <p:txBody>
          <a:bodyPr wrap="square" lIns="0" rIns="0" tIns="0" bIns="0" anchor="ctr">
            <a:spAutoFit/>
          </a:bodyPr>
          <a:lstStyle/>
          <a:p>
            <a:pPr algn="ctr">
              <a:spcBef>
                <a:spcPts val="0"/>
              </a:spcBef>
              <a:spcAft>
                <a:spcPts val="0"/>
              </a:spcAft>
            </a:pPr>
            <a:r>
              <a:rPr sz="1310" b="0" i="0">
                <a:solidFill>
                  <a:srgbClr val="787481"/>
                </a:solidFill>
                <a:latin typeface="Aptos"/>
              </a:rPr>
              <a:t>Comparación asociacional de episodios de egreso  ·  Cohortes 2018–2023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cxnSp>
        <p:nvCxnSpPr>
          <p:cNvPr id="2" name="Connector 1"/>
          <p:cNvCxnSpPr/>
          <p:nvPr/>
        </p:nvCxnSpPr>
        <p:spPr>
          <a:xfrm>
            <a:off x="667512" y="283464"/>
            <a:ext cx="10844784" cy="0"/>
          </a:xfrm>
          <a:prstGeom prst="line">
            <a:avLst/>
          </a:prstGeom>
          <a:ln w="12700">
            <a:solidFill>
              <a:srgbClr val="422168"/>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67512" y="365760"/>
            <a:ext cx="10698480" cy="256032"/>
          </a:xfrm>
          <a:prstGeom prst="rect">
            <a:avLst/>
          </a:prstGeom>
          <a:noFill/>
        </p:spPr>
        <p:txBody>
          <a:bodyPr wrap="square" lIns="9144" rIns="9144" tIns="10972" bIns="0">
            <a:spAutoFit/>
          </a:bodyPr>
          <a:lstStyle/>
          <a:p>
            <a:pPr algn="l">
              <a:lnSpc>
                <a:spcPct val="108000"/>
              </a:lnSpc>
              <a:spcBef>
                <a:spcPts val="0"/>
              </a:spcBef>
              <a:spcAft>
                <a:spcPts val="0"/>
              </a:spcAft>
            </a:pPr>
            <a:r>
              <a:rPr sz="1070" b="1">
                <a:solidFill>
                  <a:srgbClr val="7953A6"/>
                </a:solidFill>
                <a:latin typeface="Arial"/>
              </a:rPr>
              <a:t>06 / METODOLOGÍA · DATOS</a:t>
            </a:r>
          </a:p>
        </p:txBody>
      </p:sp>
      <p:sp>
        <p:nvSpPr>
          <p:cNvPr id="4" name="TextBox 3"/>
          <p:cNvSpPr txBox="1"/>
          <p:nvPr/>
        </p:nvSpPr>
        <p:spPr>
          <a:xfrm>
            <a:off x="667512" y="731520"/>
            <a:ext cx="10835640" cy="914400"/>
          </a:xfrm>
          <a:prstGeom prst="rect">
            <a:avLst/>
          </a:prstGeom>
          <a:noFill/>
        </p:spPr>
        <p:txBody>
          <a:bodyPr wrap="square" lIns="9144" rIns="9144" tIns="10972" bIns="0">
            <a:spAutoFit/>
          </a:bodyPr>
          <a:lstStyle/>
          <a:p>
            <a:pPr algn="l">
              <a:lnSpc>
                <a:spcPct val="108000"/>
              </a:lnSpc>
              <a:spcBef>
                <a:spcPts val="0"/>
              </a:spcBef>
              <a:spcAft>
                <a:spcPts val="0"/>
              </a:spcAft>
            </a:pPr>
            <a:r>
              <a:rPr sz="3000" b="0">
                <a:solidFill>
                  <a:srgbClr val="2D2836"/>
                </a:solidFill>
                <a:latin typeface="Georgia"/>
              </a:rPr>
              <a:t>Vinculamos egresos escolares con matrícula superior</a:t>
            </a:r>
          </a:p>
        </p:txBody>
      </p:sp>
      <p:sp>
        <p:nvSpPr>
          <p:cNvPr id="5" name="Rectangle 4"/>
          <p:cNvSpPr/>
          <p:nvPr/>
        </p:nvSpPr>
        <p:spPr>
          <a:xfrm>
            <a:off x="832104" y="1828800"/>
            <a:ext cx="4279392" cy="1097280"/>
          </a:xfrm>
          <a:prstGeom prst="rect">
            <a:avLst/>
          </a:prstGeom>
          <a:solidFill>
            <a:srgbClr val="F8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86600" y="1828800"/>
            <a:ext cx="4279392" cy="1097280"/>
          </a:xfrm>
          <a:prstGeom prst="rect">
            <a:avLst/>
          </a:prstGeom>
          <a:solidFill>
            <a:srgbClr val="F8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56816"/>
            <a:ext cx="3758184" cy="402336"/>
          </a:xfrm>
          <a:prstGeom prst="rect">
            <a:avLst/>
          </a:prstGeom>
          <a:noFill/>
        </p:spPr>
        <p:txBody>
          <a:bodyPr wrap="square" lIns="9144" rIns="9144" tIns="10972" bIns="0">
            <a:spAutoFit/>
          </a:bodyPr>
          <a:lstStyle/>
          <a:p>
            <a:pPr algn="l">
              <a:lnSpc>
                <a:spcPct val="108000"/>
              </a:lnSpc>
              <a:spcBef>
                <a:spcPts val="0"/>
              </a:spcBef>
              <a:spcAft>
                <a:spcPts val="0"/>
              </a:spcAft>
            </a:pPr>
            <a:r>
              <a:rPr sz="2400" b="0">
                <a:solidFill>
                  <a:srgbClr val="422168"/>
                </a:solidFill>
                <a:latin typeface="Georgia"/>
              </a:rPr>
              <a:t>MINEDUC</a:t>
            </a:r>
          </a:p>
        </p:txBody>
      </p:sp>
      <p:sp>
        <p:nvSpPr>
          <p:cNvPr id="8" name="TextBox 7"/>
          <p:cNvSpPr txBox="1"/>
          <p:nvPr/>
        </p:nvSpPr>
        <p:spPr>
          <a:xfrm>
            <a:off x="1097280" y="2459736"/>
            <a:ext cx="3767328" cy="246888"/>
          </a:xfrm>
          <a:prstGeom prst="rect">
            <a:avLst/>
          </a:prstGeom>
          <a:noFill/>
        </p:spPr>
        <p:txBody>
          <a:bodyPr wrap="square" lIns="9144" rIns="9144" tIns="10972" bIns="0">
            <a:spAutoFit/>
          </a:bodyPr>
          <a:lstStyle/>
          <a:p>
            <a:pPr algn="l">
              <a:lnSpc>
                <a:spcPct val="108000"/>
              </a:lnSpc>
              <a:spcBef>
                <a:spcPts val="0"/>
              </a:spcBef>
              <a:spcAft>
                <a:spcPts val="0"/>
              </a:spcAft>
            </a:pPr>
            <a:r>
              <a:rPr sz="1670" b="0">
                <a:solidFill>
                  <a:srgbClr val="6F697B"/>
                </a:solidFill>
                <a:latin typeface="Arial"/>
              </a:rPr>
              <a:t>Egresos de educación media</a:t>
            </a:r>
          </a:p>
        </p:txBody>
      </p:sp>
      <p:sp>
        <p:nvSpPr>
          <p:cNvPr id="9" name="TextBox 8"/>
          <p:cNvSpPr txBox="1"/>
          <p:nvPr/>
        </p:nvSpPr>
        <p:spPr>
          <a:xfrm>
            <a:off x="7351775" y="1956816"/>
            <a:ext cx="3749039" cy="402336"/>
          </a:xfrm>
          <a:prstGeom prst="rect">
            <a:avLst/>
          </a:prstGeom>
          <a:noFill/>
        </p:spPr>
        <p:txBody>
          <a:bodyPr wrap="square" lIns="9144" rIns="9144" tIns="10972" bIns="0">
            <a:spAutoFit/>
          </a:bodyPr>
          <a:lstStyle/>
          <a:p>
            <a:pPr algn="l">
              <a:lnSpc>
                <a:spcPct val="108000"/>
              </a:lnSpc>
              <a:spcBef>
                <a:spcPts val="0"/>
              </a:spcBef>
              <a:spcAft>
                <a:spcPts val="0"/>
              </a:spcAft>
            </a:pPr>
            <a:r>
              <a:rPr sz="2400" b="0">
                <a:solidFill>
                  <a:srgbClr val="422168"/>
                </a:solidFill>
                <a:latin typeface="Georgia"/>
              </a:rPr>
              <a:t>SIES</a:t>
            </a:r>
          </a:p>
        </p:txBody>
      </p:sp>
      <p:sp>
        <p:nvSpPr>
          <p:cNvPr id="10" name="TextBox 9"/>
          <p:cNvSpPr txBox="1"/>
          <p:nvPr/>
        </p:nvSpPr>
        <p:spPr>
          <a:xfrm>
            <a:off x="7351775" y="2459736"/>
            <a:ext cx="3749039" cy="246888"/>
          </a:xfrm>
          <a:prstGeom prst="rect">
            <a:avLst/>
          </a:prstGeom>
          <a:noFill/>
        </p:spPr>
        <p:txBody>
          <a:bodyPr wrap="square" lIns="9144" rIns="9144" tIns="10972" bIns="0">
            <a:spAutoFit/>
          </a:bodyPr>
          <a:lstStyle/>
          <a:p>
            <a:pPr algn="l">
              <a:lnSpc>
                <a:spcPct val="108000"/>
              </a:lnSpc>
              <a:spcBef>
                <a:spcPts val="0"/>
              </a:spcBef>
              <a:spcAft>
                <a:spcPts val="0"/>
              </a:spcAft>
            </a:pPr>
            <a:r>
              <a:rPr sz="1670" b="0">
                <a:solidFill>
                  <a:srgbClr val="6F697B"/>
                </a:solidFill>
                <a:latin typeface="Arial"/>
              </a:rPr>
              <a:t>Matrícula de pregrado</a:t>
            </a:r>
          </a:p>
        </p:txBody>
      </p:sp>
      <p:cxnSp>
        <p:nvCxnSpPr>
          <p:cNvPr id="11" name="Connector 10"/>
          <p:cNvCxnSpPr/>
          <p:nvPr/>
        </p:nvCxnSpPr>
        <p:spPr>
          <a:xfrm>
            <a:off x="5129784" y="2377440"/>
            <a:ext cx="356616" cy="0"/>
          </a:xfrm>
          <a:prstGeom prst="line">
            <a:avLst/>
          </a:prstGeom>
          <a:ln w="17780">
            <a:solidFill>
              <a:srgbClr val="7953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675120" y="2377440"/>
            <a:ext cx="393192" cy="0"/>
          </a:xfrm>
          <a:prstGeom prst="line">
            <a:avLst/>
          </a:prstGeom>
          <a:ln w="17780">
            <a:solidFill>
              <a:srgbClr val="7953A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0" y="2212848"/>
            <a:ext cx="1197864" cy="338328"/>
          </a:xfrm>
          <a:prstGeom prst="rect">
            <a:avLst/>
          </a:prstGeom>
          <a:noFill/>
        </p:spPr>
        <p:txBody>
          <a:bodyPr wrap="square" lIns="9144" rIns="9144" tIns="10972" bIns="0">
            <a:spAutoFit/>
          </a:bodyPr>
          <a:lstStyle/>
          <a:p>
            <a:pPr algn="ctr">
              <a:lnSpc>
                <a:spcPct val="108000"/>
              </a:lnSpc>
              <a:spcBef>
                <a:spcPts val="0"/>
              </a:spcBef>
              <a:spcAft>
                <a:spcPts val="0"/>
              </a:spcAft>
            </a:pPr>
            <a:r>
              <a:rPr sz="1140" b="1">
                <a:solidFill>
                  <a:srgbClr val="7953A6"/>
                </a:solidFill>
                <a:latin typeface="Arial"/>
              </a:rPr>
              <a:t>VINCULACIÓN</a:t>
            </a:r>
          </a:p>
        </p:txBody>
      </p:sp>
      <p:sp>
        <p:nvSpPr>
          <p:cNvPr id="14" name="TextBox 13"/>
          <p:cNvSpPr txBox="1"/>
          <p:nvPr/>
        </p:nvSpPr>
        <p:spPr>
          <a:xfrm>
            <a:off x="914400" y="3209544"/>
            <a:ext cx="10378440" cy="758952"/>
          </a:xfrm>
          <a:prstGeom prst="rect">
            <a:avLst/>
          </a:prstGeom>
          <a:noFill/>
        </p:spPr>
        <p:txBody>
          <a:bodyPr wrap="square" lIns="9144" rIns="9144" tIns="10972" bIns="0">
            <a:spAutoFit/>
          </a:bodyPr>
          <a:lstStyle/>
          <a:p>
            <a:pPr algn="ctr">
              <a:lnSpc>
                <a:spcPct val="108000"/>
              </a:lnSpc>
              <a:spcBef>
                <a:spcPts val="0"/>
              </a:spcBef>
              <a:spcAft>
                <a:spcPts val="0"/>
              </a:spcAft>
            </a:pPr>
            <a:r>
              <a:rPr sz="5000" b="0">
                <a:solidFill>
                  <a:srgbClr val="422168"/>
                </a:solidFill>
                <a:latin typeface="Georgia"/>
              </a:rPr>
              <a:t>1.233.761</a:t>
            </a:r>
          </a:p>
        </p:txBody>
      </p:sp>
      <p:sp>
        <p:nvSpPr>
          <p:cNvPr id="15" name="TextBox 14"/>
          <p:cNvSpPr txBox="1"/>
          <p:nvPr/>
        </p:nvSpPr>
        <p:spPr>
          <a:xfrm>
            <a:off x="1828800" y="3968496"/>
            <a:ext cx="8540496" cy="347472"/>
          </a:xfrm>
          <a:prstGeom prst="rect">
            <a:avLst/>
          </a:prstGeom>
          <a:noFill/>
        </p:spPr>
        <p:txBody>
          <a:bodyPr wrap="square" lIns="9144" rIns="9144" tIns="10972" bIns="0">
            <a:spAutoFit/>
          </a:bodyPr>
          <a:lstStyle/>
          <a:p>
            <a:pPr algn="ctr">
              <a:lnSpc>
                <a:spcPct val="108000"/>
              </a:lnSpc>
              <a:spcBef>
                <a:spcPts val="0"/>
              </a:spcBef>
              <a:spcAft>
                <a:spcPts val="0"/>
              </a:spcAft>
            </a:pPr>
            <a:r>
              <a:rPr sz="1800" b="0">
                <a:solidFill>
                  <a:srgbClr val="6F697B"/>
                </a:solidFill>
                <a:latin typeface="Arial"/>
              </a:rPr>
              <a:t>episodios regulares de egreso · no personas únicas</a:t>
            </a:r>
          </a:p>
        </p:txBody>
      </p:sp>
      <p:cxnSp>
        <p:nvCxnSpPr>
          <p:cNvPr id="16" name="Connector 15"/>
          <p:cNvCxnSpPr/>
          <p:nvPr/>
        </p:nvCxnSpPr>
        <p:spPr>
          <a:xfrm>
            <a:off x="1234440" y="4526280"/>
            <a:ext cx="9720072" cy="0"/>
          </a:xfrm>
          <a:prstGeom prst="line">
            <a:avLst/>
          </a:prstGeom>
          <a:ln w="10160">
            <a:solidFill>
              <a:srgbClr val="DBD0E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883664" y="4672584"/>
            <a:ext cx="3767328" cy="420624"/>
          </a:xfrm>
          <a:prstGeom prst="rect">
            <a:avLst/>
          </a:prstGeom>
          <a:noFill/>
        </p:spPr>
        <p:txBody>
          <a:bodyPr wrap="square" lIns="9144" rIns="9144" tIns="10972" bIns="0">
            <a:spAutoFit/>
          </a:bodyPr>
          <a:lstStyle/>
          <a:p>
            <a:pPr algn="ctr">
              <a:lnSpc>
                <a:spcPct val="108000"/>
              </a:lnSpc>
              <a:spcBef>
                <a:spcPts val="0"/>
              </a:spcBef>
              <a:spcAft>
                <a:spcPts val="0"/>
              </a:spcAft>
            </a:pPr>
            <a:r>
              <a:rPr sz="2500" b="0">
                <a:solidFill>
                  <a:srgbClr val="2D2836"/>
                </a:solidFill>
                <a:latin typeface="Georgia"/>
              </a:rPr>
              <a:t>2018–2023</a:t>
            </a:r>
          </a:p>
        </p:txBody>
      </p:sp>
      <p:sp>
        <p:nvSpPr>
          <p:cNvPr id="18" name="TextBox 17"/>
          <p:cNvSpPr txBox="1"/>
          <p:nvPr/>
        </p:nvSpPr>
        <p:spPr>
          <a:xfrm>
            <a:off x="1883664" y="5084064"/>
            <a:ext cx="3767328" cy="292608"/>
          </a:xfrm>
          <a:prstGeom prst="rect">
            <a:avLst/>
          </a:prstGeom>
          <a:noFill/>
        </p:spPr>
        <p:txBody>
          <a:bodyPr wrap="square" lIns="9144" rIns="9144" tIns="10972" bIns="0">
            <a:spAutoFit/>
          </a:bodyPr>
          <a:lstStyle/>
          <a:p>
            <a:pPr algn="ctr">
              <a:lnSpc>
                <a:spcPct val="108000"/>
              </a:lnSpc>
              <a:spcBef>
                <a:spcPts val="0"/>
              </a:spcBef>
              <a:spcAft>
                <a:spcPts val="0"/>
              </a:spcAft>
            </a:pPr>
            <a:r>
              <a:rPr sz="1560" b="0">
                <a:solidFill>
                  <a:srgbClr val="6F697B"/>
                </a:solidFill>
                <a:latin typeface="Arial"/>
              </a:rPr>
              <a:t>Seis cohortes</a:t>
            </a:r>
          </a:p>
        </p:txBody>
      </p:sp>
      <p:sp>
        <p:nvSpPr>
          <p:cNvPr id="19" name="TextBox 18"/>
          <p:cNvSpPr txBox="1"/>
          <p:nvPr/>
        </p:nvSpPr>
        <p:spPr>
          <a:xfrm>
            <a:off x="6537960" y="4672584"/>
            <a:ext cx="3749039" cy="420624"/>
          </a:xfrm>
          <a:prstGeom prst="rect">
            <a:avLst/>
          </a:prstGeom>
          <a:noFill/>
        </p:spPr>
        <p:txBody>
          <a:bodyPr wrap="square" lIns="9144" rIns="9144" tIns="10972" bIns="0">
            <a:spAutoFit/>
          </a:bodyPr>
          <a:lstStyle/>
          <a:p>
            <a:pPr algn="ctr">
              <a:lnSpc>
                <a:spcPct val="108000"/>
              </a:lnSpc>
              <a:spcBef>
                <a:spcPts val="0"/>
              </a:spcBef>
              <a:spcAft>
                <a:spcPts val="0"/>
              </a:spcAft>
            </a:pPr>
            <a:r>
              <a:rPr sz="2500" b="0">
                <a:solidFill>
                  <a:srgbClr val="2D2836"/>
                </a:solidFill>
                <a:latin typeface="Georgia"/>
              </a:rPr>
              <a:t>3.074</a:t>
            </a:r>
          </a:p>
        </p:txBody>
      </p:sp>
      <p:sp>
        <p:nvSpPr>
          <p:cNvPr id="20" name="TextBox 19"/>
          <p:cNvSpPr txBox="1"/>
          <p:nvPr/>
        </p:nvSpPr>
        <p:spPr>
          <a:xfrm>
            <a:off x="6537960" y="5084064"/>
            <a:ext cx="3749039" cy="292608"/>
          </a:xfrm>
          <a:prstGeom prst="rect">
            <a:avLst/>
          </a:prstGeom>
          <a:noFill/>
        </p:spPr>
        <p:txBody>
          <a:bodyPr wrap="square" lIns="9144" rIns="9144" tIns="10972" bIns="0">
            <a:spAutoFit/>
          </a:bodyPr>
          <a:lstStyle/>
          <a:p>
            <a:pPr algn="ctr">
              <a:lnSpc>
                <a:spcPct val="108000"/>
              </a:lnSpc>
              <a:spcBef>
                <a:spcPts val="0"/>
              </a:spcBef>
              <a:spcAft>
                <a:spcPts val="0"/>
              </a:spcAft>
            </a:pPr>
            <a:r>
              <a:rPr sz="1560" b="0">
                <a:solidFill>
                  <a:srgbClr val="6F697B"/>
                </a:solidFill>
                <a:latin typeface="Arial"/>
              </a:rPr>
              <a:t>Establecimientos</a:t>
            </a:r>
          </a:p>
        </p:txBody>
      </p:sp>
      <p:sp>
        <p:nvSpPr>
          <p:cNvPr id="21" name="TextBox 20"/>
          <p:cNvSpPr txBox="1"/>
          <p:nvPr/>
        </p:nvSpPr>
        <p:spPr>
          <a:xfrm>
            <a:off x="1152144" y="5559552"/>
            <a:ext cx="4572000" cy="292608"/>
          </a:xfrm>
          <a:prstGeom prst="rect">
            <a:avLst/>
          </a:prstGeom>
          <a:noFill/>
        </p:spPr>
        <p:txBody>
          <a:bodyPr wrap="square" lIns="9144" rIns="9144" tIns="10972" bIns="0">
            <a:spAutoFit/>
          </a:bodyPr>
          <a:lstStyle/>
          <a:p>
            <a:pPr algn="l">
              <a:lnSpc>
                <a:spcPct val="108000"/>
              </a:lnSpc>
              <a:spcBef>
                <a:spcPts val="0"/>
              </a:spcBef>
              <a:spcAft>
                <a:spcPts val="0"/>
              </a:spcAft>
            </a:pPr>
            <a:r>
              <a:rPr sz="1750" b="1">
                <a:solidFill>
                  <a:srgbClr val="422168"/>
                </a:solidFill>
                <a:latin typeface="Arial"/>
              </a:rPr>
              <a:t>HC  ·  793.616</a:t>
            </a:r>
          </a:p>
        </p:txBody>
      </p:sp>
      <p:sp>
        <p:nvSpPr>
          <p:cNvPr id="22" name="TextBox 21"/>
          <p:cNvSpPr txBox="1"/>
          <p:nvPr/>
        </p:nvSpPr>
        <p:spPr>
          <a:xfrm>
            <a:off x="7406640" y="5559552"/>
            <a:ext cx="3566160" cy="292608"/>
          </a:xfrm>
          <a:prstGeom prst="rect">
            <a:avLst/>
          </a:prstGeom>
          <a:noFill/>
        </p:spPr>
        <p:txBody>
          <a:bodyPr wrap="square" lIns="9144" rIns="9144" tIns="10972" bIns="0">
            <a:spAutoFit/>
          </a:bodyPr>
          <a:lstStyle/>
          <a:p>
            <a:pPr algn="r">
              <a:lnSpc>
                <a:spcPct val="108000"/>
              </a:lnSpc>
              <a:spcBef>
                <a:spcPts val="0"/>
              </a:spcBef>
              <a:spcAft>
                <a:spcPts val="0"/>
              </a:spcAft>
            </a:pPr>
            <a:r>
              <a:rPr sz="1750" b="1">
                <a:solidFill>
                  <a:srgbClr val="7953A6"/>
                </a:solidFill>
                <a:latin typeface="Arial"/>
              </a:rPr>
              <a:t>TP  ·  440.145</a:t>
            </a:r>
          </a:p>
        </p:txBody>
      </p:sp>
      <p:sp>
        <p:nvSpPr>
          <p:cNvPr id="23" name="Rectangle 22"/>
          <p:cNvSpPr/>
          <p:nvPr/>
        </p:nvSpPr>
        <p:spPr>
          <a:xfrm>
            <a:off x="1152144" y="5943600"/>
            <a:ext cx="6352422" cy="164592"/>
          </a:xfrm>
          <a:prstGeom prst="rect">
            <a:avLst/>
          </a:prstGeom>
          <a:solidFill>
            <a:srgbClr val="422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04566" y="5943600"/>
            <a:ext cx="3523097" cy="164592"/>
          </a:xfrm>
          <a:prstGeom prst="rect">
            <a:avLst/>
          </a:prstGeom>
          <a:solidFill>
            <a:srgbClr val="AE8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43000" y="6373368"/>
            <a:ext cx="10104120" cy="192024"/>
          </a:xfrm>
          <a:prstGeom prst="rect">
            <a:avLst/>
          </a:prstGeom>
          <a:noFill/>
        </p:spPr>
        <p:txBody>
          <a:bodyPr wrap="square" lIns="9144" rIns="9144" tIns="10972" bIns="0">
            <a:spAutoFit/>
          </a:bodyPr>
          <a:lstStyle/>
          <a:p>
            <a:pPr algn="l">
              <a:lnSpc>
                <a:spcPct val="108000"/>
              </a:lnSpc>
              <a:spcBef>
                <a:spcPts val="0"/>
              </a:spcBef>
              <a:spcAft>
                <a:spcPts val="0"/>
              </a:spcAft>
            </a:pPr>
            <a:r>
              <a:rPr sz="1130" b="0">
                <a:solidFill>
                  <a:srgbClr val="6F697B"/>
                </a:solidFill>
                <a:latin typeface="Arial"/>
              </a:rPr>
              <a:t>Fuente: registros MINEDUC–SIES; elaboración propia.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cxnSp>
        <p:nvCxnSpPr>
          <p:cNvPr id="2" name="Connector 1"/>
          <p:cNvCxnSpPr/>
          <p:nvPr/>
        </p:nvCxnSpPr>
        <p:spPr>
          <a:xfrm>
            <a:off x="667512" y="283464"/>
            <a:ext cx="10844784" cy="0"/>
          </a:xfrm>
          <a:prstGeom prst="line">
            <a:avLst/>
          </a:prstGeom>
          <a:ln w="12700">
            <a:solidFill>
              <a:srgbClr val="422168"/>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67512" y="365760"/>
            <a:ext cx="10698480" cy="256032"/>
          </a:xfrm>
          <a:prstGeom prst="rect">
            <a:avLst/>
          </a:prstGeom>
          <a:noFill/>
        </p:spPr>
        <p:txBody>
          <a:bodyPr wrap="square" lIns="9144" rIns="9144" tIns="10972" bIns="0">
            <a:spAutoFit/>
          </a:bodyPr>
          <a:lstStyle/>
          <a:p>
            <a:pPr algn="l">
              <a:lnSpc>
                <a:spcPct val="108000"/>
              </a:lnSpc>
              <a:spcBef>
                <a:spcPts val="0"/>
              </a:spcBef>
              <a:spcAft>
                <a:spcPts val="0"/>
              </a:spcAft>
            </a:pPr>
            <a:r>
              <a:rPr sz="1070" b="1">
                <a:solidFill>
                  <a:srgbClr val="7953A6"/>
                </a:solidFill>
                <a:latin typeface="Arial"/>
              </a:rPr>
              <a:t>06 / METODOLOGÍA · VARIABLES</a:t>
            </a:r>
          </a:p>
        </p:txBody>
      </p:sp>
      <p:sp>
        <p:nvSpPr>
          <p:cNvPr id="4" name="TextBox 3"/>
          <p:cNvSpPr txBox="1"/>
          <p:nvPr/>
        </p:nvSpPr>
        <p:spPr>
          <a:xfrm>
            <a:off x="667512" y="731520"/>
            <a:ext cx="10835640" cy="914400"/>
          </a:xfrm>
          <a:prstGeom prst="rect">
            <a:avLst/>
          </a:prstGeom>
          <a:noFill/>
        </p:spPr>
        <p:txBody>
          <a:bodyPr wrap="square" lIns="9144" rIns="9144" tIns="10972" bIns="0">
            <a:spAutoFit/>
          </a:bodyPr>
          <a:lstStyle/>
          <a:p>
            <a:pPr algn="l">
              <a:lnSpc>
                <a:spcPct val="108000"/>
              </a:lnSpc>
              <a:spcBef>
                <a:spcPts val="0"/>
              </a:spcBef>
              <a:spcAft>
                <a:spcPts val="0"/>
              </a:spcAft>
            </a:pPr>
            <a:r>
              <a:rPr sz="3100" b="0">
                <a:solidFill>
                  <a:srgbClr val="2D2836"/>
                </a:solidFill>
                <a:latin typeface="Georgia"/>
              </a:rPr>
              <a:t>La transición se observa mediante dos resultados</a:t>
            </a:r>
          </a:p>
        </p:txBody>
      </p:sp>
      <p:sp>
        <p:nvSpPr>
          <p:cNvPr id="5" name="Rounded Rectangle 4"/>
          <p:cNvSpPr/>
          <p:nvPr/>
        </p:nvSpPr>
        <p:spPr>
          <a:xfrm>
            <a:off x="941832" y="1865376"/>
            <a:ext cx="10314432" cy="658368"/>
          </a:xfrm>
          <a:prstGeom prst="roundRect">
            <a:avLst>
              <a:gd name="adj" fmla="val 5500"/>
            </a:avLst>
          </a:prstGeom>
          <a:solidFill>
            <a:srgbClr val="F8F6FA"/>
          </a:solidFill>
          <a:ln w="10795">
            <a:solidFill>
              <a:srgbClr val="F8F6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16152" y="1993392"/>
            <a:ext cx="2377440" cy="393192"/>
          </a:xfrm>
          <a:prstGeom prst="rect">
            <a:avLst/>
          </a:prstGeom>
          <a:noFill/>
        </p:spPr>
        <p:txBody>
          <a:bodyPr wrap="square" lIns="9144" rIns="9144" tIns="0" bIns="0" anchor="ctr">
            <a:spAutoFit/>
          </a:bodyPr>
          <a:lstStyle/>
          <a:p>
            <a:pPr algn="ctr"/>
            <a:r>
              <a:rPr sz="1980" b="1">
                <a:solidFill>
                  <a:srgbClr val="422168"/>
                </a:solidFill>
                <a:latin typeface="Arial"/>
              </a:rPr>
              <a:t>EGRESO · t</a:t>
            </a:r>
          </a:p>
        </p:txBody>
      </p:sp>
      <p:cxnSp>
        <p:nvCxnSpPr>
          <p:cNvPr id="7" name="Connector 6"/>
          <p:cNvCxnSpPr/>
          <p:nvPr/>
        </p:nvCxnSpPr>
        <p:spPr>
          <a:xfrm>
            <a:off x="4224528" y="2203704"/>
            <a:ext cx="1508760" cy="0"/>
          </a:xfrm>
          <a:prstGeom prst="line">
            <a:avLst/>
          </a:prstGeom>
          <a:ln w="25400">
            <a:solidFill>
              <a:srgbClr val="7953A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144768" y="1975104"/>
            <a:ext cx="4745736" cy="411480"/>
          </a:xfrm>
          <a:prstGeom prst="rect">
            <a:avLst/>
          </a:prstGeom>
          <a:noFill/>
        </p:spPr>
        <p:txBody>
          <a:bodyPr wrap="square" lIns="9144" rIns="9144" tIns="0" bIns="0" anchor="ctr">
            <a:spAutoFit/>
          </a:bodyPr>
          <a:lstStyle/>
          <a:p>
            <a:pPr algn="ctr"/>
            <a:r>
              <a:rPr sz="1980" b="1">
                <a:solidFill>
                  <a:srgbClr val="422168"/>
                </a:solidFill>
                <a:latin typeface="Arial"/>
              </a:rPr>
              <a:t>OBSERVACIÓN · t+1 y t+2</a:t>
            </a:r>
          </a:p>
        </p:txBody>
      </p:sp>
      <p:sp>
        <p:nvSpPr>
          <p:cNvPr id="9" name="Rounded Rectangle 8"/>
          <p:cNvSpPr/>
          <p:nvPr/>
        </p:nvSpPr>
        <p:spPr>
          <a:xfrm>
            <a:off x="941832" y="2944368"/>
            <a:ext cx="4965192" cy="2606040"/>
          </a:xfrm>
          <a:prstGeom prst="roundRect">
            <a:avLst>
              <a:gd name="adj" fmla="val 5500"/>
            </a:avLst>
          </a:prstGeom>
          <a:solidFill>
            <a:srgbClr val="F8F6FA"/>
          </a:solidFill>
          <a:ln w="10160">
            <a:solidFill>
              <a:srgbClr val="DBC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09360" y="2944368"/>
            <a:ext cx="4965192" cy="2606040"/>
          </a:xfrm>
          <a:prstGeom prst="roundRect">
            <a:avLst>
              <a:gd name="adj" fmla="val 5500"/>
            </a:avLst>
          </a:prstGeom>
          <a:solidFill>
            <a:srgbClr val="F8F6FA"/>
          </a:solidFill>
          <a:ln w="10160">
            <a:solidFill>
              <a:srgbClr val="DBC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3191256"/>
            <a:ext cx="4453128" cy="365760"/>
          </a:xfrm>
          <a:prstGeom prst="rect">
            <a:avLst/>
          </a:prstGeom>
          <a:noFill/>
        </p:spPr>
        <p:txBody>
          <a:bodyPr wrap="square" lIns="9144" rIns="9144" tIns="0" bIns="0" anchor="ctr">
            <a:spAutoFit/>
          </a:bodyPr>
          <a:lstStyle/>
          <a:p>
            <a:pPr algn="ctr"/>
            <a:r>
              <a:rPr sz="1989" b="1">
                <a:solidFill>
                  <a:srgbClr val="7953A6"/>
                </a:solidFill>
                <a:latin typeface="Arial"/>
              </a:rPr>
              <a:t>MATRÍCULA DE PREGRADO</a:t>
            </a:r>
          </a:p>
        </p:txBody>
      </p:sp>
      <p:sp>
        <p:nvSpPr>
          <p:cNvPr id="12" name="TextBox 11"/>
          <p:cNvSpPr txBox="1"/>
          <p:nvPr/>
        </p:nvSpPr>
        <p:spPr>
          <a:xfrm>
            <a:off x="6492240" y="3191256"/>
            <a:ext cx="4590288" cy="365760"/>
          </a:xfrm>
          <a:prstGeom prst="rect">
            <a:avLst/>
          </a:prstGeom>
          <a:noFill/>
        </p:spPr>
        <p:txBody>
          <a:bodyPr wrap="square" lIns="9144" rIns="9144" tIns="0" bIns="0" anchor="ctr">
            <a:spAutoFit/>
          </a:bodyPr>
          <a:lstStyle/>
          <a:p>
            <a:pPr algn="ctr"/>
            <a:r>
              <a:rPr sz="1989" b="1">
                <a:solidFill>
                  <a:srgbClr val="422168"/>
                </a:solidFill>
                <a:latin typeface="Arial"/>
              </a:rPr>
              <a:t>PRIMER DESTINO OBSERVADO</a:t>
            </a:r>
          </a:p>
        </p:txBody>
      </p:sp>
      <p:cxnSp>
        <p:nvCxnSpPr>
          <p:cNvPr id="13" name="Connector 12"/>
          <p:cNvCxnSpPr/>
          <p:nvPr/>
        </p:nvCxnSpPr>
        <p:spPr>
          <a:xfrm>
            <a:off x="1490472" y="3730752"/>
            <a:ext cx="3858768" cy="0"/>
          </a:xfrm>
          <a:prstGeom prst="line">
            <a:avLst/>
          </a:prstGeom>
          <a:ln w="12700">
            <a:solidFill>
              <a:srgbClr val="DBCFE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784848" y="3730752"/>
            <a:ext cx="4023360" cy="0"/>
          </a:xfrm>
          <a:prstGeom prst="line">
            <a:avLst/>
          </a:prstGeom>
          <a:ln w="12700">
            <a:solidFill>
              <a:srgbClr val="DBCFE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353312" y="4288536"/>
            <a:ext cx="2011680" cy="512064"/>
          </a:xfrm>
          <a:prstGeom prst="rect">
            <a:avLst/>
          </a:prstGeom>
          <a:noFill/>
        </p:spPr>
        <p:txBody>
          <a:bodyPr wrap="square" lIns="9144" rIns="9144" tIns="0" bIns="0" anchor="ctr">
            <a:spAutoFit/>
          </a:bodyPr>
          <a:lstStyle/>
          <a:p>
            <a:pPr algn="ctr"/>
            <a:r>
              <a:rPr sz="2430" b="0">
                <a:solidFill>
                  <a:srgbClr val="342F3E"/>
                </a:solidFill>
                <a:latin typeface="Georgia"/>
              </a:rPr>
              <a:t>Sí</a:t>
            </a:r>
          </a:p>
        </p:txBody>
      </p:sp>
      <p:sp>
        <p:nvSpPr>
          <p:cNvPr id="16" name="TextBox 15"/>
          <p:cNvSpPr txBox="1"/>
          <p:nvPr/>
        </p:nvSpPr>
        <p:spPr>
          <a:xfrm>
            <a:off x="3456432" y="4288536"/>
            <a:ext cx="2011680" cy="512064"/>
          </a:xfrm>
          <a:prstGeom prst="rect">
            <a:avLst/>
          </a:prstGeom>
          <a:noFill/>
        </p:spPr>
        <p:txBody>
          <a:bodyPr wrap="square" lIns="9144" rIns="9144" tIns="0" bIns="0" anchor="ctr">
            <a:spAutoFit/>
          </a:bodyPr>
          <a:lstStyle/>
          <a:p>
            <a:pPr algn="ctr"/>
            <a:r>
              <a:rPr sz="2430" b="0">
                <a:solidFill>
                  <a:srgbClr val="342F3E"/>
                </a:solidFill>
                <a:latin typeface="Georgia"/>
              </a:rPr>
              <a:t>No</a:t>
            </a:r>
          </a:p>
        </p:txBody>
      </p:sp>
      <p:sp>
        <p:nvSpPr>
          <p:cNvPr id="17" name="TextBox 16"/>
          <p:cNvSpPr txBox="1"/>
          <p:nvPr/>
        </p:nvSpPr>
        <p:spPr>
          <a:xfrm>
            <a:off x="6519672" y="4032504"/>
            <a:ext cx="2276856" cy="448056"/>
          </a:xfrm>
          <a:prstGeom prst="rect">
            <a:avLst/>
          </a:prstGeom>
          <a:noFill/>
        </p:spPr>
        <p:txBody>
          <a:bodyPr wrap="square" lIns="9144" rIns="9144" tIns="0" bIns="0" anchor="ctr">
            <a:spAutoFit/>
          </a:bodyPr>
          <a:lstStyle/>
          <a:p>
            <a:pPr algn="ctr"/>
            <a:r>
              <a:rPr sz="2110" b="0">
                <a:solidFill>
                  <a:srgbClr val="422168"/>
                </a:solidFill>
                <a:latin typeface="Arial"/>
              </a:rPr>
              <a:t>Sin matrícula</a:t>
            </a:r>
          </a:p>
        </p:txBody>
      </p:sp>
      <p:sp>
        <p:nvSpPr>
          <p:cNvPr id="18" name="TextBox 17"/>
          <p:cNvSpPr txBox="1"/>
          <p:nvPr/>
        </p:nvSpPr>
        <p:spPr>
          <a:xfrm>
            <a:off x="8759952" y="4032504"/>
            <a:ext cx="2176272" cy="448056"/>
          </a:xfrm>
          <a:prstGeom prst="rect">
            <a:avLst/>
          </a:prstGeom>
          <a:noFill/>
        </p:spPr>
        <p:txBody>
          <a:bodyPr wrap="square" lIns="9144" rIns="9144" tIns="0" bIns="0" anchor="ctr">
            <a:spAutoFit/>
          </a:bodyPr>
          <a:lstStyle/>
          <a:p>
            <a:pPr algn="ctr"/>
            <a:r>
              <a:rPr sz="2110" b="0">
                <a:solidFill>
                  <a:srgbClr val="422168"/>
                </a:solidFill>
                <a:latin typeface="Arial"/>
              </a:rPr>
              <a:t>Universidad</a:t>
            </a:r>
          </a:p>
        </p:txBody>
      </p:sp>
      <p:sp>
        <p:nvSpPr>
          <p:cNvPr id="19" name="TextBox 18"/>
          <p:cNvSpPr txBox="1"/>
          <p:nvPr/>
        </p:nvSpPr>
        <p:spPr>
          <a:xfrm>
            <a:off x="6519672" y="4700016"/>
            <a:ext cx="2276856" cy="448056"/>
          </a:xfrm>
          <a:prstGeom prst="rect">
            <a:avLst/>
          </a:prstGeom>
          <a:noFill/>
        </p:spPr>
        <p:txBody>
          <a:bodyPr wrap="square" lIns="9144" rIns="9144" tIns="0" bIns="0" anchor="ctr">
            <a:spAutoFit/>
          </a:bodyPr>
          <a:lstStyle/>
          <a:p>
            <a:pPr algn="ctr"/>
            <a:r>
              <a:rPr sz="2110" b="0">
                <a:solidFill>
                  <a:srgbClr val="422168"/>
                </a:solidFill>
                <a:latin typeface="Arial"/>
              </a:rPr>
              <a:t>IP</a:t>
            </a:r>
          </a:p>
        </p:txBody>
      </p:sp>
      <p:sp>
        <p:nvSpPr>
          <p:cNvPr id="20" name="TextBox 19"/>
          <p:cNvSpPr txBox="1"/>
          <p:nvPr/>
        </p:nvSpPr>
        <p:spPr>
          <a:xfrm>
            <a:off x="8759952" y="4700016"/>
            <a:ext cx="2176272" cy="448056"/>
          </a:xfrm>
          <a:prstGeom prst="rect">
            <a:avLst/>
          </a:prstGeom>
          <a:noFill/>
        </p:spPr>
        <p:txBody>
          <a:bodyPr wrap="square" lIns="9144" rIns="9144" tIns="0" bIns="0" anchor="ctr">
            <a:spAutoFit/>
          </a:bodyPr>
          <a:lstStyle/>
          <a:p>
            <a:pPr algn="ctr"/>
            <a:r>
              <a:rPr sz="2110" b="0">
                <a:solidFill>
                  <a:srgbClr val="422168"/>
                </a:solidFill>
                <a:latin typeface="Arial"/>
              </a:rPr>
              <a:t>CFT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67512" y="283464"/>
            <a:ext cx="10844784" cy="0"/>
          </a:xfrm>
          <a:prstGeom prst="line">
            <a:avLst/>
          </a:prstGeom>
          <a:ln w="12700">
            <a:solidFill>
              <a:srgbClr val="422168"/>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67512" y="365760"/>
            <a:ext cx="10698480" cy="256032"/>
          </a:xfrm>
          <a:prstGeom prst="rect">
            <a:avLst/>
          </a:prstGeom>
          <a:noFill/>
        </p:spPr>
        <p:txBody>
          <a:bodyPr wrap="square" lIns="9144" rIns="9144" tIns="10972" bIns="0">
            <a:spAutoFit/>
          </a:bodyPr>
          <a:lstStyle/>
          <a:p>
            <a:pPr algn="l">
              <a:lnSpc>
                <a:spcPct val="108000"/>
              </a:lnSpc>
              <a:spcBef>
                <a:spcPts val="0"/>
              </a:spcBef>
              <a:spcAft>
                <a:spcPts val="0"/>
              </a:spcAft>
            </a:pPr>
            <a:r>
              <a:rPr sz="1070" b="1">
                <a:solidFill>
                  <a:srgbClr val="7953A6"/>
                </a:solidFill>
                <a:latin typeface="Arial"/>
              </a:rPr>
              <a:t>06 / METODOLOGÍA · MODELOS</a:t>
            </a:r>
          </a:p>
        </p:txBody>
      </p:sp>
      <p:sp>
        <p:nvSpPr>
          <p:cNvPr id="4" name="TextBox 3"/>
          <p:cNvSpPr txBox="1"/>
          <p:nvPr/>
        </p:nvSpPr>
        <p:spPr>
          <a:xfrm>
            <a:off x="667512" y="731520"/>
            <a:ext cx="10835640" cy="914400"/>
          </a:xfrm>
          <a:prstGeom prst="rect">
            <a:avLst/>
          </a:prstGeom>
          <a:noFill/>
        </p:spPr>
        <p:txBody>
          <a:bodyPr wrap="square" lIns="9144" rIns="9144" tIns="10972" bIns="0">
            <a:spAutoFit/>
          </a:bodyPr>
          <a:lstStyle/>
          <a:p>
            <a:pPr algn="l">
              <a:lnSpc>
                <a:spcPct val="108000"/>
              </a:lnSpc>
              <a:spcBef>
                <a:spcPts val="0"/>
              </a:spcBef>
              <a:spcAft>
                <a:spcPts val="0"/>
              </a:spcAft>
            </a:pPr>
            <a:r>
              <a:rPr sz="3100" b="0">
                <a:solidFill>
                  <a:srgbClr val="2D2836"/>
                </a:solidFill>
                <a:latin typeface="Georgia"/>
              </a:rPr>
              <a:t>Cada resultado se analiza con un modelo distinto</a:t>
            </a:r>
          </a:p>
        </p:txBody>
      </p:sp>
      <p:sp>
        <p:nvSpPr>
          <p:cNvPr id="5" name="Rounded Rectangle 4"/>
          <p:cNvSpPr/>
          <p:nvPr/>
        </p:nvSpPr>
        <p:spPr>
          <a:xfrm>
            <a:off x="923544" y="1874519"/>
            <a:ext cx="6190488" cy="3849624"/>
          </a:xfrm>
          <a:prstGeom prst="roundRect">
            <a:avLst>
              <a:gd name="adj" fmla="val 5500"/>
            </a:avLst>
          </a:prstGeom>
          <a:solidFill>
            <a:srgbClr val="F8F6FA"/>
          </a:solidFill>
          <a:ln w="11430">
            <a:solidFill>
              <a:srgbClr val="DBC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51775" y="1874519"/>
            <a:ext cx="3922776" cy="3849624"/>
          </a:xfrm>
          <a:prstGeom prst="roundRect">
            <a:avLst>
              <a:gd name="adj" fmla="val 5500"/>
            </a:avLst>
          </a:prstGeom>
          <a:solidFill>
            <a:srgbClr val="E9E2F2"/>
          </a:solidFill>
          <a:ln w="11430">
            <a:solidFill>
              <a:srgbClr val="DBC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2144" y="2112264"/>
            <a:ext cx="5724144" cy="347472"/>
          </a:xfrm>
          <a:prstGeom prst="rect">
            <a:avLst/>
          </a:prstGeom>
          <a:noFill/>
        </p:spPr>
        <p:txBody>
          <a:bodyPr wrap="square" lIns="18288" rIns="18288" tIns="0" bIns="0" anchor="ctr">
            <a:spAutoFit/>
          </a:bodyPr>
          <a:lstStyle/>
          <a:p>
            <a:pPr algn="l"/>
            <a:r>
              <a:rPr sz="1960" b="1">
                <a:solidFill>
                  <a:srgbClr val="422168"/>
                </a:solidFill>
                <a:latin typeface="Arial"/>
              </a:rPr>
              <a:t>01  ·  MATRÍCULA</a:t>
            </a:r>
          </a:p>
        </p:txBody>
      </p:sp>
      <p:sp>
        <p:nvSpPr>
          <p:cNvPr id="8" name="TextBox 7"/>
          <p:cNvSpPr txBox="1"/>
          <p:nvPr/>
        </p:nvSpPr>
        <p:spPr>
          <a:xfrm>
            <a:off x="1152144" y="2514600"/>
            <a:ext cx="5733288" cy="347472"/>
          </a:xfrm>
          <a:prstGeom prst="rect">
            <a:avLst/>
          </a:prstGeom>
          <a:noFill/>
        </p:spPr>
        <p:txBody>
          <a:bodyPr wrap="square" lIns="18288" rIns="18288" tIns="0" bIns="0" anchor="ctr">
            <a:spAutoFit/>
          </a:bodyPr>
          <a:lstStyle/>
          <a:p>
            <a:pPr algn="l"/>
            <a:r>
              <a:rPr sz="1720" b="0">
                <a:solidFill>
                  <a:srgbClr val="7953A6"/>
                </a:solidFill>
                <a:latin typeface="Arial"/>
              </a:rPr>
              <a:t>Regresión logística binaria</a:t>
            </a:r>
          </a:p>
        </p:txBody>
      </p:sp>
      <p:sp>
        <p:nvSpPr>
          <p:cNvPr id="9" name="Rectangle 8"/>
          <p:cNvSpPr/>
          <p:nvPr/>
        </p:nvSpPr>
        <p:spPr>
          <a:xfrm>
            <a:off x="1161288" y="3136392"/>
            <a:ext cx="5724144" cy="603504"/>
          </a:xfrm>
          <a:prstGeom prst="rect">
            <a:avLst/>
          </a:prstGeom>
          <a:solidFill>
            <a:srgbClr val="FFFFFF"/>
          </a:solidFill>
          <a:ln w="6985">
            <a:solidFill>
              <a:srgbClr val="DBC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62456" y="3232404"/>
            <a:ext cx="640080" cy="393192"/>
          </a:xfrm>
          <a:prstGeom prst="rect">
            <a:avLst/>
          </a:prstGeom>
          <a:noFill/>
        </p:spPr>
        <p:txBody>
          <a:bodyPr wrap="square" lIns="18288" rIns="18288" tIns="0" bIns="0" anchor="ctr">
            <a:spAutoFit/>
          </a:bodyPr>
          <a:lstStyle/>
          <a:p>
            <a:pPr algn="l"/>
            <a:r>
              <a:rPr sz="2200" b="1">
                <a:solidFill>
                  <a:srgbClr val="422168"/>
                </a:solidFill>
                <a:latin typeface="Arial"/>
              </a:rPr>
              <a:t>M1</a:t>
            </a:r>
          </a:p>
        </p:txBody>
      </p:sp>
      <p:sp>
        <p:nvSpPr>
          <p:cNvPr id="11" name="TextBox 10"/>
          <p:cNvSpPr txBox="1"/>
          <p:nvPr/>
        </p:nvSpPr>
        <p:spPr>
          <a:xfrm>
            <a:off x="2066543" y="3214116"/>
            <a:ext cx="4617720" cy="411480"/>
          </a:xfrm>
          <a:prstGeom prst="rect">
            <a:avLst/>
          </a:prstGeom>
          <a:noFill/>
        </p:spPr>
        <p:txBody>
          <a:bodyPr wrap="square" lIns="18288" rIns="18288" tIns="0" bIns="0" anchor="ctr">
            <a:spAutoFit/>
          </a:bodyPr>
          <a:lstStyle/>
          <a:p>
            <a:pPr algn="l"/>
            <a:r>
              <a:rPr sz="1830" b="0">
                <a:solidFill>
                  <a:srgbClr val="342F3E"/>
                </a:solidFill>
                <a:latin typeface="Arial"/>
              </a:rPr>
              <a:t>Modalidad HC/TP</a:t>
            </a:r>
          </a:p>
        </p:txBody>
      </p:sp>
      <p:sp>
        <p:nvSpPr>
          <p:cNvPr id="12" name="Rectangle 11"/>
          <p:cNvSpPr/>
          <p:nvPr/>
        </p:nvSpPr>
        <p:spPr>
          <a:xfrm>
            <a:off x="1161288" y="3867912"/>
            <a:ext cx="5724144" cy="603504"/>
          </a:xfrm>
          <a:prstGeom prst="rect">
            <a:avLst/>
          </a:prstGeom>
          <a:solidFill>
            <a:srgbClr val="FFFFFF"/>
          </a:solidFill>
          <a:ln w="6985">
            <a:solidFill>
              <a:srgbClr val="DBC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62456" y="3963924"/>
            <a:ext cx="640080" cy="393192"/>
          </a:xfrm>
          <a:prstGeom prst="rect">
            <a:avLst/>
          </a:prstGeom>
          <a:noFill/>
        </p:spPr>
        <p:txBody>
          <a:bodyPr wrap="square" lIns="18288" rIns="18288" tIns="0" bIns="0" anchor="ctr">
            <a:spAutoFit/>
          </a:bodyPr>
          <a:lstStyle/>
          <a:p>
            <a:pPr algn="l"/>
            <a:r>
              <a:rPr sz="2200" b="1">
                <a:solidFill>
                  <a:srgbClr val="422168"/>
                </a:solidFill>
                <a:latin typeface="Arial"/>
              </a:rPr>
              <a:t>M2</a:t>
            </a:r>
          </a:p>
        </p:txBody>
      </p:sp>
      <p:sp>
        <p:nvSpPr>
          <p:cNvPr id="14" name="TextBox 13"/>
          <p:cNvSpPr txBox="1"/>
          <p:nvPr/>
        </p:nvSpPr>
        <p:spPr>
          <a:xfrm>
            <a:off x="2066543" y="3945636"/>
            <a:ext cx="4617720" cy="411480"/>
          </a:xfrm>
          <a:prstGeom prst="rect">
            <a:avLst/>
          </a:prstGeom>
          <a:noFill/>
        </p:spPr>
        <p:txBody>
          <a:bodyPr wrap="square" lIns="18288" rIns="18288" tIns="0" bIns="0" anchor="ctr">
            <a:spAutoFit/>
          </a:bodyPr>
          <a:lstStyle/>
          <a:p>
            <a:pPr algn="l"/>
            <a:r>
              <a:rPr sz="1830" b="0">
                <a:solidFill>
                  <a:srgbClr val="342F3E"/>
                </a:solidFill>
                <a:latin typeface="Arial"/>
              </a:rPr>
              <a:t>+ Notas y cohorte</a:t>
            </a:r>
          </a:p>
        </p:txBody>
      </p:sp>
      <p:sp>
        <p:nvSpPr>
          <p:cNvPr id="15" name="Rectangle 14"/>
          <p:cNvSpPr/>
          <p:nvPr/>
        </p:nvSpPr>
        <p:spPr>
          <a:xfrm>
            <a:off x="1161288" y="4599432"/>
            <a:ext cx="5724144" cy="603504"/>
          </a:xfrm>
          <a:prstGeom prst="rect">
            <a:avLst/>
          </a:prstGeom>
          <a:solidFill>
            <a:srgbClr val="E9E2F2"/>
          </a:solidFill>
          <a:ln w="6985">
            <a:solidFill>
              <a:srgbClr val="E9E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62456" y="4695444"/>
            <a:ext cx="640080" cy="393192"/>
          </a:xfrm>
          <a:prstGeom prst="rect">
            <a:avLst/>
          </a:prstGeom>
          <a:noFill/>
        </p:spPr>
        <p:txBody>
          <a:bodyPr wrap="square" lIns="18288" rIns="18288" tIns="0" bIns="0" anchor="ctr">
            <a:spAutoFit/>
          </a:bodyPr>
          <a:lstStyle/>
          <a:p>
            <a:pPr algn="l"/>
            <a:r>
              <a:rPr sz="2200" b="1">
                <a:solidFill>
                  <a:srgbClr val="422168"/>
                </a:solidFill>
                <a:latin typeface="Arial"/>
              </a:rPr>
              <a:t>M3</a:t>
            </a:r>
          </a:p>
        </p:txBody>
      </p:sp>
      <p:sp>
        <p:nvSpPr>
          <p:cNvPr id="17" name="TextBox 16"/>
          <p:cNvSpPr txBox="1"/>
          <p:nvPr/>
        </p:nvSpPr>
        <p:spPr>
          <a:xfrm>
            <a:off x="2066543" y="4677156"/>
            <a:ext cx="4617720" cy="411480"/>
          </a:xfrm>
          <a:prstGeom prst="rect">
            <a:avLst/>
          </a:prstGeom>
          <a:noFill/>
        </p:spPr>
        <p:txBody>
          <a:bodyPr wrap="square" lIns="18288" rIns="18288" tIns="0" bIns="0" anchor="ctr">
            <a:spAutoFit/>
          </a:bodyPr>
          <a:lstStyle/>
          <a:p>
            <a:pPr algn="l"/>
            <a:r>
              <a:rPr sz="1830" b="1">
                <a:solidFill>
                  <a:srgbClr val="422168"/>
                </a:solidFill>
                <a:latin typeface="Arial"/>
              </a:rPr>
              <a:t>+ SEP, dependencia, ruralidad y región</a:t>
            </a:r>
          </a:p>
        </p:txBody>
      </p:sp>
      <p:sp>
        <p:nvSpPr>
          <p:cNvPr id="18" name="TextBox 17"/>
          <p:cNvSpPr txBox="1"/>
          <p:nvPr/>
        </p:nvSpPr>
        <p:spPr>
          <a:xfrm>
            <a:off x="7598664" y="2112264"/>
            <a:ext cx="3429000" cy="347472"/>
          </a:xfrm>
          <a:prstGeom prst="rect">
            <a:avLst/>
          </a:prstGeom>
          <a:noFill/>
        </p:spPr>
        <p:txBody>
          <a:bodyPr wrap="square" lIns="18288" rIns="18288" tIns="0" bIns="0" anchor="ctr">
            <a:spAutoFit/>
          </a:bodyPr>
          <a:lstStyle/>
          <a:p>
            <a:pPr algn="l"/>
            <a:r>
              <a:rPr sz="1939" b="1">
                <a:solidFill>
                  <a:srgbClr val="422168"/>
                </a:solidFill>
                <a:latin typeface="Arial"/>
              </a:rPr>
              <a:t>02  ·  PRIMER DESTINO</a:t>
            </a:r>
          </a:p>
        </p:txBody>
      </p:sp>
      <p:sp>
        <p:nvSpPr>
          <p:cNvPr id="19" name="TextBox 18"/>
          <p:cNvSpPr txBox="1"/>
          <p:nvPr/>
        </p:nvSpPr>
        <p:spPr>
          <a:xfrm>
            <a:off x="7598664" y="2514600"/>
            <a:ext cx="3410712" cy="384048"/>
          </a:xfrm>
          <a:prstGeom prst="rect">
            <a:avLst/>
          </a:prstGeom>
          <a:noFill/>
        </p:spPr>
        <p:txBody>
          <a:bodyPr wrap="square" lIns="18288" rIns="18288" tIns="0" bIns="0" anchor="ctr">
            <a:spAutoFit/>
          </a:bodyPr>
          <a:lstStyle/>
          <a:p>
            <a:pPr algn="l"/>
            <a:r>
              <a:rPr sz="1660" b="0">
                <a:solidFill>
                  <a:srgbClr val="7953A6"/>
                </a:solidFill>
                <a:latin typeface="Arial"/>
              </a:rPr>
              <a:t>Regresión logística multinomial</a:t>
            </a:r>
          </a:p>
        </p:txBody>
      </p:sp>
      <p:sp>
        <p:nvSpPr>
          <p:cNvPr id="20" name="Rectangle 19"/>
          <p:cNvSpPr/>
          <p:nvPr/>
        </p:nvSpPr>
        <p:spPr>
          <a:xfrm>
            <a:off x="7635240" y="3145536"/>
            <a:ext cx="3355848" cy="1335024"/>
          </a:xfrm>
          <a:prstGeom prst="rect">
            <a:avLst/>
          </a:prstGeom>
          <a:solidFill>
            <a:srgbClr val="FFFFFF"/>
          </a:solidFill>
          <a:ln w="8890">
            <a:solidFill>
              <a:srgbClr val="DBC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45552" y="3319272"/>
            <a:ext cx="2980944" cy="448056"/>
          </a:xfrm>
          <a:prstGeom prst="rect">
            <a:avLst/>
          </a:prstGeom>
          <a:noFill/>
        </p:spPr>
        <p:txBody>
          <a:bodyPr wrap="square" lIns="18288" rIns="18288" tIns="0" bIns="0" anchor="ctr">
            <a:spAutoFit/>
          </a:bodyPr>
          <a:lstStyle/>
          <a:p>
            <a:pPr algn="l"/>
            <a:r>
              <a:rPr sz="2200" b="1">
                <a:solidFill>
                  <a:srgbClr val="422168"/>
                </a:solidFill>
                <a:latin typeface="Arial"/>
              </a:rPr>
              <a:t>M3 · PRINCIPAL</a:t>
            </a:r>
          </a:p>
        </p:txBody>
      </p:sp>
      <p:sp>
        <p:nvSpPr>
          <p:cNvPr id="22" name="TextBox 21"/>
          <p:cNvSpPr txBox="1"/>
          <p:nvPr/>
        </p:nvSpPr>
        <p:spPr>
          <a:xfrm>
            <a:off x="7836408" y="3867912"/>
            <a:ext cx="2962656" cy="384048"/>
          </a:xfrm>
          <a:prstGeom prst="rect">
            <a:avLst/>
          </a:prstGeom>
          <a:noFill/>
        </p:spPr>
        <p:txBody>
          <a:bodyPr wrap="square" lIns="18288" rIns="18288" tIns="0" bIns="0" anchor="ctr">
            <a:spAutoFit/>
          </a:bodyPr>
          <a:lstStyle/>
          <a:p>
            <a:pPr algn="l"/>
            <a:r>
              <a:rPr sz="1730" b="0">
                <a:solidFill>
                  <a:srgbClr val="342F3E"/>
                </a:solidFill>
                <a:latin typeface="Arial"/>
              </a:rPr>
              <a:t>Mismo ajuste de covariables</a:t>
            </a:r>
          </a:p>
        </p:txBody>
      </p:sp>
      <p:sp>
        <p:nvSpPr>
          <p:cNvPr id="23" name="TextBox 22"/>
          <p:cNvSpPr txBox="1"/>
          <p:nvPr/>
        </p:nvSpPr>
        <p:spPr>
          <a:xfrm>
            <a:off x="7818120" y="4809744"/>
            <a:ext cx="2971800" cy="420624"/>
          </a:xfrm>
          <a:prstGeom prst="rect">
            <a:avLst/>
          </a:prstGeom>
          <a:noFill/>
        </p:spPr>
        <p:txBody>
          <a:bodyPr wrap="square" lIns="18288" rIns="18288" tIns="0" bIns="0" anchor="ctr">
            <a:spAutoFit/>
          </a:bodyPr>
          <a:lstStyle/>
          <a:p>
            <a:pPr algn="ctr"/>
            <a:r>
              <a:rPr sz="1800" b="1">
                <a:solidFill>
                  <a:srgbClr val="422168"/>
                </a:solidFill>
                <a:latin typeface="Arial"/>
              </a:rPr>
              <a:t>Estimado por separado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cxnSp>
        <p:nvCxnSpPr>
          <p:cNvPr id="2" name="Connector 1"/>
          <p:cNvCxnSpPr/>
          <p:nvPr/>
        </p:nvCxnSpPr>
        <p:spPr>
          <a:xfrm>
            <a:off x="667512" y="283464"/>
            <a:ext cx="10844784" cy="0"/>
          </a:xfrm>
          <a:prstGeom prst="line">
            <a:avLst/>
          </a:prstGeom>
          <a:ln w="12700">
            <a:solidFill>
              <a:srgbClr val="422168"/>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67512" y="365760"/>
            <a:ext cx="10698480" cy="256032"/>
          </a:xfrm>
          <a:prstGeom prst="rect">
            <a:avLst/>
          </a:prstGeom>
          <a:noFill/>
        </p:spPr>
        <p:txBody>
          <a:bodyPr wrap="square" lIns="9144" rIns="9144" tIns="10972" bIns="0">
            <a:spAutoFit/>
          </a:bodyPr>
          <a:lstStyle/>
          <a:p>
            <a:pPr algn="l">
              <a:lnSpc>
                <a:spcPct val="108000"/>
              </a:lnSpc>
              <a:spcBef>
                <a:spcPts val="0"/>
              </a:spcBef>
              <a:spcAft>
                <a:spcPts val="0"/>
              </a:spcAft>
            </a:pPr>
            <a:r>
              <a:rPr sz="1070" b="1">
                <a:solidFill>
                  <a:srgbClr val="7953A6"/>
                </a:solidFill>
                <a:latin typeface="Arial"/>
              </a:rPr>
              <a:t>06 / METODOLOGÍA · ESTRATEGIA ANALÍTICA</a:t>
            </a:r>
          </a:p>
        </p:txBody>
      </p:sp>
      <p:sp>
        <p:nvSpPr>
          <p:cNvPr id="4" name="TextBox 3"/>
          <p:cNvSpPr txBox="1"/>
          <p:nvPr/>
        </p:nvSpPr>
        <p:spPr>
          <a:xfrm>
            <a:off x="667512" y="731520"/>
            <a:ext cx="10835640" cy="914400"/>
          </a:xfrm>
          <a:prstGeom prst="rect">
            <a:avLst/>
          </a:prstGeom>
          <a:noFill/>
        </p:spPr>
        <p:txBody>
          <a:bodyPr wrap="square" lIns="9144" rIns="9144" tIns="10972" bIns="0">
            <a:spAutoFit/>
          </a:bodyPr>
          <a:lstStyle/>
          <a:p>
            <a:pPr algn="l">
              <a:lnSpc>
                <a:spcPct val="108000"/>
              </a:lnSpc>
              <a:spcBef>
                <a:spcPts val="0"/>
              </a:spcBef>
              <a:spcAft>
                <a:spcPts val="0"/>
              </a:spcAft>
            </a:pPr>
            <a:r>
              <a:rPr sz="3000" b="0">
                <a:solidFill>
                  <a:srgbClr val="2D2836"/>
                </a:solidFill>
                <a:latin typeface="Georgia"/>
              </a:rPr>
              <a:t>Calculamos probabilidades bajo HC y TP para compararlas</a:t>
            </a:r>
          </a:p>
        </p:txBody>
      </p:sp>
      <p:sp>
        <p:nvSpPr>
          <p:cNvPr id="5" name="Rounded Rectangle 4"/>
          <p:cNvSpPr/>
          <p:nvPr/>
        </p:nvSpPr>
        <p:spPr>
          <a:xfrm>
            <a:off x="914400" y="2340864"/>
            <a:ext cx="2258568" cy="2532888"/>
          </a:xfrm>
          <a:prstGeom prst="roundRect">
            <a:avLst>
              <a:gd name="adj" fmla="val 5500"/>
            </a:avLst>
          </a:prstGeom>
          <a:solidFill>
            <a:srgbClr val="F8F6FA"/>
          </a:solidFill>
          <a:ln w="11430">
            <a:solidFill>
              <a:srgbClr val="DBC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 y="2551176"/>
            <a:ext cx="1892807" cy="502920"/>
          </a:xfrm>
          <a:prstGeom prst="rect">
            <a:avLst/>
          </a:prstGeom>
          <a:noFill/>
        </p:spPr>
        <p:txBody>
          <a:bodyPr wrap="square" lIns="18288" rIns="18288" tIns="0" bIns="0" anchor="ctr">
            <a:spAutoFit/>
          </a:bodyPr>
          <a:lstStyle/>
          <a:p>
            <a:pPr algn="l"/>
            <a:r>
              <a:rPr sz="2600" b="0">
                <a:solidFill>
                  <a:srgbClr val="7953A6"/>
                </a:solidFill>
                <a:latin typeface="Georgia"/>
              </a:rPr>
              <a:t>01</a:t>
            </a:r>
          </a:p>
        </p:txBody>
      </p:sp>
      <p:sp>
        <p:nvSpPr>
          <p:cNvPr id="7" name="TextBox 6"/>
          <p:cNvSpPr txBox="1"/>
          <p:nvPr/>
        </p:nvSpPr>
        <p:spPr>
          <a:xfrm>
            <a:off x="1088136" y="3163824"/>
            <a:ext cx="1892807" cy="384048"/>
          </a:xfrm>
          <a:prstGeom prst="rect">
            <a:avLst/>
          </a:prstGeom>
          <a:noFill/>
        </p:spPr>
        <p:txBody>
          <a:bodyPr wrap="square" lIns="18288" rIns="18288" tIns="0" bIns="0" anchor="ctr">
            <a:spAutoFit/>
          </a:bodyPr>
          <a:lstStyle/>
          <a:p>
            <a:pPr algn="l"/>
            <a:r>
              <a:rPr sz="2039" b="1">
                <a:solidFill>
                  <a:srgbClr val="422168"/>
                </a:solidFill>
                <a:latin typeface="Arial"/>
              </a:rPr>
              <a:t>ESTIMAR</a:t>
            </a:r>
          </a:p>
        </p:txBody>
      </p:sp>
      <p:sp>
        <p:nvSpPr>
          <p:cNvPr id="8" name="TextBox 7"/>
          <p:cNvSpPr txBox="1"/>
          <p:nvPr/>
        </p:nvSpPr>
        <p:spPr>
          <a:xfrm>
            <a:off x="1078992" y="3813048"/>
            <a:ext cx="1920240" cy="539496"/>
          </a:xfrm>
          <a:prstGeom prst="rect">
            <a:avLst/>
          </a:prstGeom>
          <a:noFill/>
        </p:spPr>
        <p:txBody>
          <a:bodyPr wrap="square" lIns="18288" rIns="18288" tIns="0" bIns="0" anchor="ctr">
            <a:spAutoFit/>
          </a:bodyPr>
          <a:lstStyle/>
          <a:p>
            <a:pPr algn="ctr"/>
            <a:r>
              <a:rPr sz="1800" b="0">
                <a:solidFill>
                  <a:srgbClr val="342F3E"/>
                </a:solidFill>
                <a:latin typeface="Arial"/>
              </a:rPr>
              <a:t>Modelo ajustado</a:t>
            </a:r>
          </a:p>
        </p:txBody>
      </p:sp>
      <p:sp>
        <p:nvSpPr>
          <p:cNvPr id="9" name="TextBox 8"/>
          <p:cNvSpPr txBox="1"/>
          <p:nvPr/>
        </p:nvSpPr>
        <p:spPr>
          <a:xfrm>
            <a:off x="3191256" y="3319272"/>
            <a:ext cx="365760" cy="320040"/>
          </a:xfrm>
          <a:prstGeom prst="rect">
            <a:avLst/>
          </a:prstGeom>
          <a:noFill/>
        </p:spPr>
        <p:txBody>
          <a:bodyPr wrap="square" lIns="18288" rIns="18288" tIns="0" bIns="0" anchor="ctr">
            <a:spAutoFit/>
          </a:bodyPr>
          <a:lstStyle/>
          <a:p>
            <a:pPr algn="ctr"/>
            <a:r>
              <a:rPr sz="2200" b="0">
                <a:solidFill>
                  <a:srgbClr val="7953A6"/>
                </a:solidFill>
                <a:latin typeface="Arial"/>
              </a:rPr>
              <a:t>→</a:t>
            </a:r>
          </a:p>
        </p:txBody>
      </p:sp>
      <p:sp>
        <p:nvSpPr>
          <p:cNvPr id="10" name="Rounded Rectangle 9"/>
          <p:cNvSpPr/>
          <p:nvPr/>
        </p:nvSpPr>
        <p:spPr>
          <a:xfrm>
            <a:off x="3621024" y="2340864"/>
            <a:ext cx="2258568" cy="2532888"/>
          </a:xfrm>
          <a:prstGeom prst="roundRect">
            <a:avLst>
              <a:gd name="adj" fmla="val 5500"/>
            </a:avLst>
          </a:prstGeom>
          <a:solidFill>
            <a:srgbClr val="E9E2F2"/>
          </a:solidFill>
          <a:ln w="11430">
            <a:solidFill>
              <a:srgbClr val="DBC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94760" y="2551176"/>
            <a:ext cx="1892807" cy="502920"/>
          </a:xfrm>
          <a:prstGeom prst="rect">
            <a:avLst/>
          </a:prstGeom>
          <a:noFill/>
        </p:spPr>
        <p:txBody>
          <a:bodyPr wrap="square" lIns="18288" rIns="18288" tIns="0" bIns="0" anchor="ctr">
            <a:spAutoFit/>
          </a:bodyPr>
          <a:lstStyle/>
          <a:p>
            <a:pPr algn="l"/>
            <a:r>
              <a:rPr sz="2600" b="0">
                <a:solidFill>
                  <a:srgbClr val="7953A6"/>
                </a:solidFill>
                <a:latin typeface="Georgia"/>
              </a:rPr>
              <a:t>02</a:t>
            </a:r>
          </a:p>
        </p:txBody>
      </p:sp>
      <p:sp>
        <p:nvSpPr>
          <p:cNvPr id="12" name="TextBox 11"/>
          <p:cNvSpPr txBox="1"/>
          <p:nvPr/>
        </p:nvSpPr>
        <p:spPr>
          <a:xfrm>
            <a:off x="3794760" y="3163824"/>
            <a:ext cx="1892807" cy="384048"/>
          </a:xfrm>
          <a:prstGeom prst="rect">
            <a:avLst/>
          </a:prstGeom>
          <a:noFill/>
        </p:spPr>
        <p:txBody>
          <a:bodyPr wrap="square" lIns="18288" rIns="18288" tIns="0" bIns="0" anchor="ctr">
            <a:spAutoFit/>
          </a:bodyPr>
          <a:lstStyle/>
          <a:p>
            <a:pPr algn="l"/>
            <a:r>
              <a:rPr sz="2039" b="1">
                <a:solidFill>
                  <a:srgbClr val="422168"/>
                </a:solidFill>
                <a:latin typeface="Arial"/>
              </a:rPr>
              <a:t>PREDECIR</a:t>
            </a:r>
          </a:p>
        </p:txBody>
      </p:sp>
      <p:sp>
        <p:nvSpPr>
          <p:cNvPr id="13" name="Rounded Rectangle 12"/>
          <p:cNvSpPr/>
          <p:nvPr/>
        </p:nvSpPr>
        <p:spPr>
          <a:xfrm>
            <a:off x="3822191" y="3822191"/>
            <a:ext cx="841248" cy="512064"/>
          </a:xfrm>
          <a:prstGeom prst="roundRect">
            <a:avLst>
              <a:gd name="adj" fmla="val 5500"/>
            </a:avLst>
          </a:prstGeom>
          <a:solidFill>
            <a:srgbClr val="FFFFFF"/>
          </a:solidFill>
          <a:ln w="7620">
            <a:solidFill>
              <a:srgbClr val="DBC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800600" y="3822191"/>
            <a:ext cx="841248" cy="512064"/>
          </a:xfrm>
          <a:prstGeom prst="roundRect">
            <a:avLst>
              <a:gd name="adj" fmla="val 5500"/>
            </a:avLst>
          </a:prstGeom>
          <a:solidFill>
            <a:srgbClr val="FFFFFF"/>
          </a:solidFill>
          <a:ln w="7620">
            <a:solidFill>
              <a:srgbClr val="DBC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0" y="3886200"/>
            <a:ext cx="804672" cy="338328"/>
          </a:xfrm>
          <a:prstGeom prst="rect">
            <a:avLst/>
          </a:prstGeom>
          <a:noFill/>
        </p:spPr>
        <p:txBody>
          <a:bodyPr wrap="square" lIns="18288" rIns="18288" tIns="0" bIns="0" anchor="ctr">
            <a:spAutoFit/>
          </a:bodyPr>
          <a:lstStyle/>
          <a:p>
            <a:pPr algn="ctr"/>
            <a:r>
              <a:rPr sz="2000" b="1">
                <a:solidFill>
                  <a:srgbClr val="422168"/>
                </a:solidFill>
                <a:latin typeface="Arial"/>
              </a:rPr>
              <a:t>HC</a:t>
            </a:r>
          </a:p>
        </p:txBody>
      </p:sp>
      <p:sp>
        <p:nvSpPr>
          <p:cNvPr id="16" name="TextBox 15"/>
          <p:cNvSpPr txBox="1"/>
          <p:nvPr/>
        </p:nvSpPr>
        <p:spPr>
          <a:xfrm>
            <a:off x="4818888" y="3886200"/>
            <a:ext cx="804672" cy="338328"/>
          </a:xfrm>
          <a:prstGeom prst="rect">
            <a:avLst/>
          </a:prstGeom>
          <a:noFill/>
        </p:spPr>
        <p:txBody>
          <a:bodyPr wrap="square" lIns="18288" rIns="18288" tIns="0" bIns="0" anchor="ctr">
            <a:spAutoFit/>
          </a:bodyPr>
          <a:lstStyle/>
          <a:p>
            <a:pPr algn="ctr"/>
            <a:r>
              <a:rPr sz="2000" b="1">
                <a:solidFill>
                  <a:srgbClr val="422168"/>
                </a:solidFill>
                <a:latin typeface="Arial"/>
              </a:rPr>
              <a:t>TP</a:t>
            </a:r>
          </a:p>
        </p:txBody>
      </p:sp>
      <p:sp>
        <p:nvSpPr>
          <p:cNvPr id="17" name="TextBox 16"/>
          <p:cNvSpPr txBox="1"/>
          <p:nvPr/>
        </p:nvSpPr>
        <p:spPr>
          <a:xfrm>
            <a:off x="5897880" y="3319272"/>
            <a:ext cx="365760" cy="320040"/>
          </a:xfrm>
          <a:prstGeom prst="rect">
            <a:avLst/>
          </a:prstGeom>
          <a:noFill/>
        </p:spPr>
        <p:txBody>
          <a:bodyPr wrap="square" lIns="18288" rIns="18288" tIns="0" bIns="0" anchor="ctr">
            <a:spAutoFit/>
          </a:bodyPr>
          <a:lstStyle/>
          <a:p>
            <a:pPr algn="ctr"/>
            <a:r>
              <a:rPr sz="2200" b="0">
                <a:solidFill>
                  <a:srgbClr val="7953A6"/>
                </a:solidFill>
                <a:latin typeface="Arial"/>
              </a:rPr>
              <a:t>→</a:t>
            </a:r>
          </a:p>
        </p:txBody>
      </p:sp>
      <p:sp>
        <p:nvSpPr>
          <p:cNvPr id="18" name="Rounded Rectangle 17"/>
          <p:cNvSpPr/>
          <p:nvPr/>
        </p:nvSpPr>
        <p:spPr>
          <a:xfrm>
            <a:off x="6327648" y="2340864"/>
            <a:ext cx="2258568" cy="2532888"/>
          </a:xfrm>
          <a:prstGeom prst="roundRect">
            <a:avLst>
              <a:gd name="adj" fmla="val 5500"/>
            </a:avLst>
          </a:prstGeom>
          <a:solidFill>
            <a:srgbClr val="F8F6FA"/>
          </a:solidFill>
          <a:ln w="11430">
            <a:solidFill>
              <a:srgbClr val="DBC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01384" y="2551176"/>
            <a:ext cx="1892807" cy="502920"/>
          </a:xfrm>
          <a:prstGeom prst="rect">
            <a:avLst/>
          </a:prstGeom>
          <a:noFill/>
        </p:spPr>
        <p:txBody>
          <a:bodyPr wrap="square" lIns="18288" rIns="18288" tIns="0" bIns="0" anchor="ctr">
            <a:spAutoFit/>
          </a:bodyPr>
          <a:lstStyle/>
          <a:p>
            <a:pPr algn="l"/>
            <a:r>
              <a:rPr sz="2600" b="0">
                <a:solidFill>
                  <a:srgbClr val="7953A6"/>
                </a:solidFill>
                <a:latin typeface="Georgia"/>
              </a:rPr>
              <a:t>03</a:t>
            </a:r>
          </a:p>
        </p:txBody>
      </p:sp>
      <p:sp>
        <p:nvSpPr>
          <p:cNvPr id="20" name="TextBox 19"/>
          <p:cNvSpPr txBox="1"/>
          <p:nvPr/>
        </p:nvSpPr>
        <p:spPr>
          <a:xfrm>
            <a:off x="6501384" y="3163824"/>
            <a:ext cx="1892807" cy="384048"/>
          </a:xfrm>
          <a:prstGeom prst="rect">
            <a:avLst/>
          </a:prstGeom>
          <a:noFill/>
        </p:spPr>
        <p:txBody>
          <a:bodyPr wrap="square" lIns="18288" rIns="18288" tIns="0" bIns="0" anchor="ctr">
            <a:spAutoFit/>
          </a:bodyPr>
          <a:lstStyle/>
          <a:p>
            <a:pPr algn="l"/>
            <a:r>
              <a:rPr sz="2039" b="1">
                <a:solidFill>
                  <a:srgbClr val="422168"/>
                </a:solidFill>
                <a:latin typeface="Arial"/>
              </a:rPr>
              <a:t>PROMEDIAR</a:t>
            </a:r>
          </a:p>
        </p:txBody>
      </p:sp>
      <p:sp>
        <p:nvSpPr>
          <p:cNvPr id="21" name="TextBox 20"/>
          <p:cNvSpPr txBox="1"/>
          <p:nvPr/>
        </p:nvSpPr>
        <p:spPr>
          <a:xfrm>
            <a:off x="6492240" y="3776472"/>
            <a:ext cx="1920240" cy="749808"/>
          </a:xfrm>
          <a:prstGeom prst="rect">
            <a:avLst/>
          </a:prstGeom>
          <a:noFill/>
        </p:spPr>
        <p:txBody>
          <a:bodyPr wrap="square" lIns="18288" rIns="18288" tIns="0" bIns="0" anchor="ctr">
            <a:spAutoFit/>
          </a:bodyPr>
          <a:lstStyle/>
          <a:p>
            <a:pPr algn="ctr"/>
            <a:r>
              <a:rPr sz="1670" b="0">
                <a:solidFill>
                  <a:srgbClr val="342F3E"/>
                </a:solidFill>
                <a:latin typeface="Arial"/>
              </a:rPr>
              <a:t>Dos probabilidades
promedio</a:t>
            </a:r>
          </a:p>
        </p:txBody>
      </p:sp>
      <p:sp>
        <p:nvSpPr>
          <p:cNvPr id="22" name="TextBox 21"/>
          <p:cNvSpPr txBox="1"/>
          <p:nvPr/>
        </p:nvSpPr>
        <p:spPr>
          <a:xfrm>
            <a:off x="8604504" y="3319272"/>
            <a:ext cx="365760" cy="320040"/>
          </a:xfrm>
          <a:prstGeom prst="rect">
            <a:avLst/>
          </a:prstGeom>
          <a:noFill/>
        </p:spPr>
        <p:txBody>
          <a:bodyPr wrap="square" lIns="18288" rIns="18288" tIns="0" bIns="0" anchor="ctr">
            <a:spAutoFit/>
          </a:bodyPr>
          <a:lstStyle/>
          <a:p>
            <a:pPr algn="ctr"/>
            <a:r>
              <a:rPr sz="2200" b="0">
                <a:solidFill>
                  <a:srgbClr val="7953A6"/>
                </a:solidFill>
                <a:latin typeface="Arial"/>
              </a:rPr>
              <a:t>→</a:t>
            </a:r>
          </a:p>
        </p:txBody>
      </p:sp>
      <p:sp>
        <p:nvSpPr>
          <p:cNvPr id="23" name="Rounded Rectangle 22"/>
          <p:cNvSpPr/>
          <p:nvPr/>
        </p:nvSpPr>
        <p:spPr>
          <a:xfrm>
            <a:off x="9034272" y="2340864"/>
            <a:ext cx="2258568" cy="2532888"/>
          </a:xfrm>
          <a:prstGeom prst="roundRect">
            <a:avLst>
              <a:gd name="adj" fmla="val 5500"/>
            </a:avLst>
          </a:prstGeom>
          <a:solidFill>
            <a:srgbClr val="E9E2F2"/>
          </a:solidFill>
          <a:ln w="11430">
            <a:solidFill>
              <a:srgbClr val="DBC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08008" y="2551176"/>
            <a:ext cx="1892807" cy="502920"/>
          </a:xfrm>
          <a:prstGeom prst="rect">
            <a:avLst/>
          </a:prstGeom>
          <a:noFill/>
        </p:spPr>
        <p:txBody>
          <a:bodyPr wrap="square" lIns="18288" rIns="18288" tIns="0" bIns="0" anchor="ctr">
            <a:spAutoFit/>
          </a:bodyPr>
          <a:lstStyle/>
          <a:p>
            <a:pPr algn="l"/>
            <a:r>
              <a:rPr sz="2600" b="0">
                <a:solidFill>
                  <a:srgbClr val="422168"/>
                </a:solidFill>
                <a:latin typeface="Georgia"/>
              </a:rPr>
              <a:t>04</a:t>
            </a:r>
          </a:p>
        </p:txBody>
      </p:sp>
      <p:sp>
        <p:nvSpPr>
          <p:cNvPr id="25" name="TextBox 24"/>
          <p:cNvSpPr txBox="1"/>
          <p:nvPr/>
        </p:nvSpPr>
        <p:spPr>
          <a:xfrm>
            <a:off x="9208008" y="3163824"/>
            <a:ext cx="1892807" cy="384048"/>
          </a:xfrm>
          <a:prstGeom prst="rect">
            <a:avLst/>
          </a:prstGeom>
          <a:noFill/>
        </p:spPr>
        <p:txBody>
          <a:bodyPr wrap="square" lIns="18288" rIns="18288" tIns="0" bIns="0" anchor="ctr">
            <a:spAutoFit/>
          </a:bodyPr>
          <a:lstStyle/>
          <a:p>
            <a:pPr algn="l"/>
            <a:r>
              <a:rPr sz="2039" b="1">
                <a:solidFill>
                  <a:srgbClr val="422168"/>
                </a:solidFill>
                <a:latin typeface="Arial"/>
              </a:rPr>
              <a:t>COMPARAR</a:t>
            </a:r>
          </a:p>
        </p:txBody>
      </p:sp>
      <p:sp>
        <p:nvSpPr>
          <p:cNvPr id="26" name="TextBox 25"/>
          <p:cNvSpPr txBox="1"/>
          <p:nvPr/>
        </p:nvSpPr>
        <p:spPr>
          <a:xfrm>
            <a:off x="9180576" y="3776472"/>
            <a:ext cx="1947672" cy="438912"/>
          </a:xfrm>
          <a:prstGeom prst="rect">
            <a:avLst/>
          </a:prstGeom>
          <a:noFill/>
        </p:spPr>
        <p:txBody>
          <a:bodyPr wrap="square" lIns="18288" rIns="18288" tIns="0" bIns="0" anchor="ctr">
            <a:spAutoFit/>
          </a:bodyPr>
          <a:lstStyle/>
          <a:p>
            <a:pPr algn="ctr"/>
            <a:r>
              <a:rPr sz="2200" b="1">
                <a:solidFill>
                  <a:srgbClr val="422168"/>
                </a:solidFill>
                <a:latin typeface="Arial"/>
              </a:rPr>
              <a:t>TP−HC</a:t>
            </a:r>
          </a:p>
        </p:txBody>
      </p:sp>
      <p:sp>
        <p:nvSpPr>
          <p:cNvPr id="27" name="TextBox 26"/>
          <p:cNvSpPr txBox="1"/>
          <p:nvPr/>
        </p:nvSpPr>
        <p:spPr>
          <a:xfrm>
            <a:off x="9198864" y="4279392"/>
            <a:ext cx="1920240" cy="292608"/>
          </a:xfrm>
          <a:prstGeom prst="rect">
            <a:avLst/>
          </a:prstGeom>
          <a:noFill/>
        </p:spPr>
        <p:txBody>
          <a:bodyPr wrap="square" lIns="18288" rIns="18288" tIns="0" bIns="0" anchor="ctr">
            <a:spAutoFit/>
          </a:bodyPr>
          <a:lstStyle/>
          <a:p>
            <a:pPr algn="ctr"/>
            <a:r>
              <a:rPr sz="1540" b="0">
                <a:solidFill>
                  <a:srgbClr val="736E80"/>
                </a:solidFill>
                <a:latin typeface="Arial"/>
              </a:rPr>
              <a:t>puntos porcentuales</a:t>
            </a:r>
          </a:p>
        </p:txBody>
      </p:sp>
      <p:sp>
        <p:nvSpPr>
          <p:cNvPr id="28" name="Rounded Rectangle 27"/>
          <p:cNvSpPr/>
          <p:nvPr/>
        </p:nvSpPr>
        <p:spPr>
          <a:xfrm>
            <a:off x="2066543" y="5294376"/>
            <a:ext cx="8046720" cy="576072"/>
          </a:xfrm>
          <a:prstGeom prst="roundRect">
            <a:avLst>
              <a:gd name="adj" fmla="val 5500"/>
            </a:avLst>
          </a:prstGeom>
          <a:solidFill>
            <a:srgbClr val="E9E2F2"/>
          </a:solidFill>
          <a:ln w="8890">
            <a:solidFill>
              <a:srgbClr val="E9E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67712" y="5394960"/>
            <a:ext cx="7626096" cy="347472"/>
          </a:xfrm>
          <a:prstGeom prst="rect">
            <a:avLst/>
          </a:prstGeom>
          <a:noFill/>
        </p:spPr>
        <p:txBody>
          <a:bodyPr wrap="square" lIns="18288" rIns="18288" tIns="0" bIns="0" anchor="ctr">
            <a:spAutoFit/>
          </a:bodyPr>
          <a:lstStyle/>
          <a:p>
            <a:pPr algn="ctr"/>
            <a:r>
              <a:rPr sz="1720" b="1">
                <a:solidFill>
                  <a:srgbClr val="422168"/>
                </a:solidFill>
                <a:latin typeface="Arial"/>
              </a:rPr>
              <a:t>Comparación estandarizada · no efecto causal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cxnSp>
        <p:nvCxnSpPr>
          <p:cNvPr id="2" name="Connector 1"/>
          <p:cNvCxnSpPr/>
          <p:nvPr/>
        </p:nvCxnSpPr>
        <p:spPr>
          <a:xfrm>
            <a:off x="667512" y="283464"/>
            <a:ext cx="10844784" cy="0"/>
          </a:xfrm>
          <a:prstGeom prst="line">
            <a:avLst/>
          </a:prstGeom>
          <a:ln w="18415">
            <a:solidFill>
              <a:srgbClr val="422168"/>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67512" y="365760"/>
            <a:ext cx="10332720" cy="219456"/>
          </a:xfrm>
          <a:prstGeom prst="rect">
            <a:avLst/>
          </a:prstGeom>
          <a:noFill/>
        </p:spPr>
        <p:txBody>
          <a:bodyPr wrap="square" lIns="0" rIns="0" tIns="0" bIns="0" anchor="ctr">
            <a:spAutoFit/>
          </a:bodyPr>
          <a:lstStyle/>
          <a:p>
            <a:pPr algn="l">
              <a:spcBef>
                <a:spcPts val="0"/>
              </a:spcBef>
              <a:spcAft>
                <a:spcPts val="0"/>
              </a:spcAft>
            </a:pPr>
            <a:r>
              <a:rPr sz="1050" b="1" i="0">
                <a:solidFill>
                  <a:srgbClr val="7953A6"/>
                </a:solidFill>
                <a:latin typeface="Arial"/>
              </a:rPr>
              <a:t>07 / RESULTADOS · DESCRIPTIVOS</a:t>
            </a:r>
          </a:p>
        </p:txBody>
      </p:sp>
      <p:sp>
        <p:nvSpPr>
          <p:cNvPr id="4" name="TextBox 3"/>
          <p:cNvSpPr txBox="1"/>
          <p:nvPr/>
        </p:nvSpPr>
        <p:spPr>
          <a:xfrm>
            <a:off x="667512" y="713232"/>
            <a:ext cx="10972800" cy="1024128"/>
          </a:xfrm>
          <a:prstGeom prst="rect">
            <a:avLst/>
          </a:prstGeom>
          <a:noFill/>
        </p:spPr>
        <p:txBody>
          <a:bodyPr wrap="square" lIns="0" rIns="0" tIns="0" bIns="0" anchor="ctr">
            <a:spAutoFit/>
          </a:bodyPr>
          <a:lstStyle/>
          <a:p>
            <a:pPr algn="l">
              <a:spcBef>
                <a:spcPts val="0"/>
              </a:spcBef>
              <a:spcAft>
                <a:spcPts val="0"/>
              </a:spcAft>
            </a:pPr>
            <a:r>
              <a:rPr sz="2900" b="0" i="0">
                <a:solidFill>
                  <a:srgbClr val="292530"/>
                </a:solidFill>
                <a:latin typeface="Georgia"/>
              </a:rPr>
              <a:t>La matrícula observada es menor entre egresados TP</a:t>
            </a:r>
          </a:p>
        </p:txBody>
      </p:sp>
      <p:sp>
        <p:nvSpPr>
          <p:cNvPr id="5" name="TextBox 4"/>
          <p:cNvSpPr txBox="1"/>
          <p:nvPr/>
        </p:nvSpPr>
        <p:spPr>
          <a:xfrm>
            <a:off x="758952" y="1865376"/>
            <a:ext cx="10716768" cy="310896"/>
          </a:xfrm>
          <a:prstGeom prst="rect">
            <a:avLst/>
          </a:prstGeom>
          <a:noFill/>
        </p:spPr>
        <p:txBody>
          <a:bodyPr wrap="square" lIns="0" rIns="0" tIns="0" bIns="0" anchor="ctr">
            <a:spAutoFit/>
          </a:bodyPr>
          <a:lstStyle/>
          <a:p>
            <a:pPr algn="l">
              <a:spcBef>
                <a:spcPts val="0"/>
              </a:spcBef>
              <a:spcAft>
                <a:spcPts val="0"/>
              </a:spcAft>
            </a:pPr>
            <a:r>
              <a:rPr sz="1600" b="0" i="0">
                <a:solidFill>
                  <a:srgbClr val="625D69"/>
                </a:solidFill>
                <a:latin typeface="Arial"/>
              </a:rPr>
              <a:t>Matrícula de pregrado hasta t+2 · proporciones observadas, sin ajuste</a:t>
            </a:r>
          </a:p>
        </p:txBody>
      </p:sp>
      <p:cxnSp>
        <p:nvCxnSpPr>
          <p:cNvPr id="6" name="Connector 5"/>
          <p:cNvCxnSpPr/>
          <p:nvPr/>
        </p:nvCxnSpPr>
        <p:spPr>
          <a:xfrm>
            <a:off x="658368" y="6400800"/>
            <a:ext cx="10872216" cy="0"/>
          </a:xfrm>
          <a:prstGeom prst="line">
            <a:avLst/>
          </a:prstGeom>
          <a:ln w="10795">
            <a:solidFill>
              <a:srgbClr val="DDD8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473952"/>
            <a:ext cx="10012680" cy="173736"/>
          </a:xfrm>
          <a:prstGeom prst="rect">
            <a:avLst/>
          </a:prstGeom>
          <a:noFill/>
        </p:spPr>
        <p:txBody>
          <a:bodyPr wrap="square" lIns="0" rIns="0" tIns="0" bIns="0" anchor="ctr">
            <a:spAutoFit/>
          </a:bodyPr>
          <a:lstStyle/>
          <a:p>
            <a:pPr algn="l">
              <a:spcBef>
                <a:spcPts val="0"/>
              </a:spcBef>
              <a:spcAft>
                <a:spcPts val="0"/>
              </a:spcAft>
            </a:pPr>
            <a:r>
              <a:rPr sz="919" b="0" i="0">
                <a:solidFill>
                  <a:srgbClr val="625D69"/>
                </a:solidFill>
                <a:latin typeface="Arial"/>
              </a:rPr>
              <a:t>Fuente: MINEDUC–SIES; elaboración propia.</a:t>
            </a:r>
          </a:p>
        </p:txBody>
      </p:sp>
      <p:cxnSp>
        <p:nvCxnSpPr>
          <p:cNvPr id="8" name="Connector 7"/>
          <p:cNvCxnSpPr/>
          <p:nvPr/>
        </p:nvCxnSpPr>
        <p:spPr>
          <a:xfrm>
            <a:off x="2167128" y="2587752"/>
            <a:ext cx="0" cy="2084832"/>
          </a:xfrm>
          <a:prstGeom prst="line">
            <a:avLst/>
          </a:prstGeom>
          <a:ln w="8128">
            <a:solidFill>
              <a:srgbClr val="DDD8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801368" y="4709160"/>
            <a:ext cx="731520" cy="256032"/>
          </a:xfrm>
          <a:prstGeom prst="rect">
            <a:avLst/>
          </a:prstGeom>
          <a:noFill/>
        </p:spPr>
        <p:txBody>
          <a:bodyPr wrap="square" lIns="0" rIns="0" tIns="0" bIns="0" anchor="ctr">
            <a:spAutoFit/>
          </a:bodyPr>
          <a:lstStyle/>
          <a:p>
            <a:pPr algn="ctr">
              <a:spcBef>
                <a:spcPts val="0"/>
              </a:spcBef>
              <a:spcAft>
                <a:spcPts val="0"/>
              </a:spcAft>
            </a:pPr>
            <a:r>
              <a:rPr sz="1280" b="0" i="0">
                <a:solidFill>
                  <a:srgbClr val="625D69"/>
                </a:solidFill>
                <a:latin typeface="Arial"/>
              </a:rPr>
              <a:t>0 %</a:t>
            </a:r>
          </a:p>
        </p:txBody>
      </p:sp>
      <p:cxnSp>
        <p:nvCxnSpPr>
          <p:cNvPr id="10" name="Connector 9"/>
          <p:cNvCxnSpPr/>
          <p:nvPr/>
        </p:nvCxnSpPr>
        <p:spPr>
          <a:xfrm>
            <a:off x="3716121" y="2587752"/>
            <a:ext cx="0" cy="2084832"/>
          </a:xfrm>
          <a:prstGeom prst="line">
            <a:avLst/>
          </a:prstGeom>
          <a:ln w="8128">
            <a:solidFill>
              <a:srgbClr val="DDD8E5"/>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350361" y="4709160"/>
            <a:ext cx="731520" cy="256032"/>
          </a:xfrm>
          <a:prstGeom prst="rect">
            <a:avLst/>
          </a:prstGeom>
          <a:noFill/>
        </p:spPr>
        <p:txBody>
          <a:bodyPr wrap="square" lIns="0" rIns="0" tIns="0" bIns="0" anchor="ctr">
            <a:spAutoFit/>
          </a:bodyPr>
          <a:lstStyle/>
          <a:p>
            <a:pPr algn="ctr">
              <a:spcBef>
                <a:spcPts val="0"/>
              </a:spcBef>
              <a:spcAft>
                <a:spcPts val="0"/>
              </a:spcAft>
            </a:pPr>
            <a:r>
              <a:rPr sz="1280" b="0" i="0">
                <a:solidFill>
                  <a:srgbClr val="625D69"/>
                </a:solidFill>
                <a:latin typeface="Arial"/>
              </a:rPr>
              <a:t>20 %</a:t>
            </a:r>
          </a:p>
        </p:txBody>
      </p:sp>
      <p:cxnSp>
        <p:nvCxnSpPr>
          <p:cNvPr id="12" name="Connector 11"/>
          <p:cNvCxnSpPr/>
          <p:nvPr/>
        </p:nvCxnSpPr>
        <p:spPr>
          <a:xfrm>
            <a:off x="5265115" y="2587752"/>
            <a:ext cx="0" cy="2084832"/>
          </a:xfrm>
          <a:prstGeom prst="line">
            <a:avLst/>
          </a:prstGeom>
          <a:ln w="8128">
            <a:solidFill>
              <a:srgbClr val="DDD8E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899355" y="4709160"/>
            <a:ext cx="731520" cy="256032"/>
          </a:xfrm>
          <a:prstGeom prst="rect">
            <a:avLst/>
          </a:prstGeom>
          <a:noFill/>
        </p:spPr>
        <p:txBody>
          <a:bodyPr wrap="square" lIns="0" rIns="0" tIns="0" bIns="0" anchor="ctr">
            <a:spAutoFit/>
          </a:bodyPr>
          <a:lstStyle/>
          <a:p>
            <a:pPr algn="ctr">
              <a:spcBef>
                <a:spcPts val="0"/>
              </a:spcBef>
              <a:spcAft>
                <a:spcPts val="0"/>
              </a:spcAft>
            </a:pPr>
            <a:r>
              <a:rPr sz="1280" b="0" i="0">
                <a:solidFill>
                  <a:srgbClr val="625D69"/>
                </a:solidFill>
                <a:latin typeface="Arial"/>
              </a:rPr>
              <a:t>40 %</a:t>
            </a:r>
          </a:p>
        </p:txBody>
      </p:sp>
      <p:cxnSp>
        <p:nvCxnSpPr>
          <p:cNvPr id="14" name="Connector 13"/>
          <p:cNvCxnSpPr/>
          <p:nvPr/>
        </p:nvCxnSpPr>
        <p:spPr>
          <a:xfrm>
            <a:off x="6814108" y="2587752"/>
            <a:ext cx="0" cy="2084832"/>
          </a:xfrm>
          <a:prstGeom prst="line">
            <a:avLst/>
          </a:prstGeom>
          <a:ln w="8128">
            <a:solidFill>
              <a:srgbClr val="DDD8E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48348" y="4709160"/>
            <a:ext cx="731520" cy="256032"/>
          </a:xfrm>
          <a:prstGeom prst="rect">
            <a:avLst/>
          </a:prstGeom>
          <a:noFill/>
        </p:spPr>
        <p:txBody>
          <a:bodyPr wrap="square" lIns="0" rIns="0" tIns="0" bIns="0" anchor="ctr">
            <a:spAutoFit/>
          </a:bodyPr>
          <a:lstStyle/>
          <a:p>
            <a:pPr algn="ctr">
              <a:spcBef>
                <a:spcPts val="0"/>
              </a:spcBef>
              <a:spcAft>
                <a:spcPts val="0"/>
              </a:spcAft>
            </a:pPr>
            <a:r>
              <a:rPr sz="1280" b="0" i="0">
                <a:solidFill>
                  <a:srgbClr val="625D69"/>
                </a:solidFill>
                <a:latin typeface="Arial"/>
              </a:rPr>
              <a:t>60 %</a:t>
            </a:r>
          </a:p>
        </p:txBody>
      </p:sp>
      <p:cxnSp>
        <p:nvCxnSpPr>
          <p:cNvPr id="16" name="Connector 15"/>
          <p:cNvCxnSpPr/>
          <p:nvPr/>
        </p:nvCxnSpPr>
        <p:spPr>
          <a:xfrm>
            <a:off x="8363102" y="2587752"/>
            <a:ext cx="0" cy="2084832"/>
          </a:xfrm>
          <a:prstGeom prst="line">
            <a:avLst/>
          </a:prstGeom>
          <a:ln w="8128">
            <a:solidFill>
              <a:srgbClr val="DDD8E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997342" y="4709160"/>
            <a:ext cx="731520" cy="256032"/>
          </a:xfrm>
          <a:prstGeom prst="rect">
            <a:avLst/>
          </a:prstGeom>
          <a:noFill/>
        </p:spPr>
        <p:txBody>
          <a:bodyPr wrap="square" lIns="0" rIns="0" tIns="0" bIns="0" anchor="ctr">
            <a:spAutoFit/>
          </a:bodyPr>
          <a:lstStyle/>
          <a:p>
            <a:pPr algn="ctr">
              <a:spcBef>
                <a:spcPts val="0"/>
              </a:spcBef>
              <a:spcAft>
                <a:spcPts val="0"/>
              </a:spcAft>
            </a:pPr>
            <a:r>
              <a:rPr sz="1280" b="0" i="0">
                <a:solidFill>
                  <a:srgbClr val="625D69"/>
                </a:solidFill>
                <a:latin typeface="Arial"/>
              </a:rPr>
              <a:t>80 %</a:t>
            </a:r>
          </a:p>
        </p:txBody>
      </p:sp>
      <p:cxnSp>
        <p:nvCxnSpPr>
          <p:cNvPr id="18" name="Connector 17"/>
          <p:cNvCxnSpPr/>
          <p:nvPr/>
        </p:nvCxnSpPr>
        <p:spPr>
          <a:xfrm>
            <a:off x="9912096" y="2587752"/>
            <a:ext cx="0" cy="2084832"/>
          </a:xfrm>
          <a:prstGeom prst="line">
            <a:avLst/>
          </a:prstGeom>
          <a:ln w="8128">
            <a:solidFill>
              <a:srgbClr val="DDD8E5"/>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546336" y="4709160"/>
            <a:ext cx="731520" cy="256032"/>
          </a:xfrm>
          <a:prstGeom prst="rect">
            <a:avLst/>
          </a:prstGeom>
          <a:noFill/>
        </p:spPr>
        <p:txBody>
          <a:bodyPr wrap="square" lIns="0" rIns="0" tIns="0" bIns="0" anchor="ctr">
            <a:spAutoFit/>
          </a:bodyPr>
          <a:lstStyle/>
          <a:p>
            <a:pPr algn="ctr">
              <a:spcBef>
                <a:spcPts val="0"/>
              </a:spcBef>
              <a:spcAft>
                <a:spcPts val="0"/>
              </a:spcAft>
            </a:pPr>
            <a:r>
              <a:rPr sz="1280" b="0" i="0">
                <a:solidFill>
                  <a:srgbClr val="625D69"/>
                </a:solidFill>
                <a:latin typeface="Arial"/>
              </a:rPr>
              <a:t>100 %</a:t>
            </a:r>
          </a:p>
        </p:txBody>
      </p:sp>
      <p:sp>
        <p:nvSpPr>
          <p:cNvPr id="20" name="TextBox 19"/>
          <p:cNvSpPr txBox="1"/>
          <p:nvPr/>
        </p:nvSpPr>
        <p:spPr>
          <a:xfrm>
            <a:off x="914400" y="2898648"/>
            <a:ext cx="1005840" cy="475488"/>
          </a:xfrm>
          <a:prstGeom prst="rect">
            <a:avLst/>
          </a:prstGeom>
          <a:noFill/>
        </p:spPr>
        <p:txBody>
          <a:bodyPr wrap="square" lIns="0" rIns="0" tIns="0" bIns="0" anchor="ctr">
            <a:spAutoFit/>
          </a:bodyPr>
          <a:lstStyle/>
          <a:p>
            <a:pPr algn="l">
              <a:spcBef>
                <a:spcPts val="0"/>
              </a:spcBef>
              <a:spcAft>
                <a:spcPts val="0"/>
              </a:spcAft>
            </a:pPr>
            <a:r>
              <a:rPr sz="3100" b="0" i="0">
                <a:solidFill>
                  <a:srgbClr val="422168"/>
                </a:solidFill>
                <a:latin typeface="Georgia"/>
              </a:rPr>
              <a:t>HC</a:t>
            </a:r>
          </a:p>
        </p:txBody>
      </p:sp>
      <p:sp>
        <p:nvSpPr>
          <p:cNvPr id="21" name="Rectangle 20"/>
          <p:cNvSpPr/>
          <p:nvPr/>
        </p:nvSpPr>
        <p:spPr>
          <a:xfrm>
            <a:off x="2167128" y="2935224"/>
            <a:ext cx="6400441" cy="502920"/>
          </a:xfrm>
          <a:prstGeom prst="rect">
            <a:avLst/>
          </a:prstGeom>
          <a:solidFill>
            <a:srgbClr val="422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13873" y="3008376"/>
            <a:ext cx="1188720" cy="347472"/>
          </a:xfrm>
          <a:prstGeom prst="rect">
            <a:avLst/>
          </a:prstGeom>
          <a:noFill/>
        </p:spPr>
        <p:txBody>
          <a:bodyPr wrap="square" lIns="0" rIns="0" tIns="0" bIns="0" anchor="ctr">
            <a:spAutoFit/>
          </a:bodyPr>
          <a:lstStyle/>
          <a:p>
            <a:pPr algn="l">
              <a:spcBef>
                <a:spcPts val="0"/>
              </a:spcBef>
              <a:spcAft>
                <a:spcPts val="0"/>
              </a:spcAft>
            </a:pPr>
            <a:r>
              <a:rPr sz="2200" b="1" i="0">
                <a:solidFill>
                  <a:srgbClr val="422168"/>
                </a:solidFill>
                <a:latin typeface="Arial"/>
              </a:rPr>
              <a:t>82,64 %</a:t>
            </a:r>
          </a:p>
        </p:txBody>
      </p:sp>
      <p:sp>
        <p:nvSpPr>
          <p:cNvPr id="23" name="TextBox 22"/>
          <p:cNvSpPr txBox="1"/>
          <p:nvPr/>
        </p:nvSpPr>
        <p:spPr>
          <a:xfrm>
            <a:off x="914400" y="3986784"/>
            <a:ext cx="1005840" cy="475488"/>
          </a:xfrm>
          <a:prstGeom prst="rect">
            <a:avLst/>
          </a:prstGeom>
          <a:noFill/>
        </p:spPr>
        <p:txBody>
          <a:bodyPr wrap="square" lIns="0" rIns="0" tIns="0" bIns="0" anchor="ctr">
            <a:spAutoFit/>
          </a:bodyPr>
          <a:lstStyle/>
          <a:p>
            <a:pPr algn="l">
              <a:spcBef>
                <a:spcPts val="0"/>
              </a:spcBef>
              <a:spcAft>
                <a:spcPts val="0"/>
              </a:spcAft>
            </a:pPr>
            <a:r>
              <a:rPr sz="3100" b="0" i="0">
                <a:solidFill>
                  <a:srgbClr val="A35AA1"/>
                </a:solidFill>
                <a:latin typeface="Georgia"/>
              </a:rPr>
              <a:t>TP</a:t>
            </a:r>
          </a:p>
        </p:txBody>
      </p:sp>
      <p:sp>
        <p:nvSpPr>
          <p:cNvPr id="24" name="Rectangle 23"/>
          <p:cNvSpPr/>
          <p:nvPr/>
        </p:nvSpPr>
        <p:spPr>
          <a:xfrm>
            <a:off x="2167128" y="4023360"/>
            <a:ext cx="4661696" cy="502920"/>
          </a:xfrm>
          <a:prstGeom prst="rect">
            <a:avLst/>
          </a:prstGeom>
          <a:solidFill>
            <a:srgbClr val="A35A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75128" y="4096512"/>
            <a:ext cx="1188720" cy="347472"/>
          </a:xfrm>
          <a:prstGeom prst="rect">
            <a:avLst/>
          </a:prstGeom>
          <a:noFill/>
        </p:spPr>
        <p:txBody>
          <a:bodyPr wrap="square" lIns="0" rIns="0" tIns="0" bIns="0" anchor="ctr">
            <a:spAutoFit/>
          </a:bodyPr>
          <a:lstStyle/>
          <a:p>
            <a:pPr algn="l">
              <a:spcBef>
                <a:spcPts val="0"/>
              </a:spcBef>
              <a:spcAft>
                <a:spcPts val="0"/>
              </a:spcAft>
            </a:pPr>
            <a:r>
              <a:rPr sz="2200" b="1" i="0">
                <a:solidFill>
                  <a:srgbClr val="A35AA1"/>
                </a:solidFill>
                <a:latin typeface="Arial"/>
              </a:rPr>
              <a:t>60,19 %</a:t>
            </a:r>
          </a:p>
        </p:txBody>
      </p:sp>
      <p:cxnSp>
        <p:nvCxnSpPr>
          <p:cNvPr id="26" name="Connector 25"/>
          <p:cNvCxnSpPr/>
          <p:nvPr/>
        </p:nvCxnSpPr>
        <p:spPr>
          <a:xfrm>
            <a:off x="777240" y="5394960"/>
            <a:ext cx="10607040" cy="0"/>
          </a:xfrm>
          <a:prstGeom prst="line">
            <a:avLst/>
          </a:prstGeom>
          <a:ln w="10160">
            <a:solidFill>
              <a:srgbClr val="DDD8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96112" y="5605272"/>
            <a:ext cx="3703320" cy="347472"/>
          </a:xfrm>
          <a:prstGeom prst="rect">
            <a:avLst/>
          </a:prstGeom>
          <a:noFill/>
        </p:spPr>
        <p:txBody>
          <a:bodyPr wrap="square" lIns="0" rIns="0" tIns="0" bIns="0" anchor="ctr">
            <a:spAutoFit/>
          </a:bodyPr>
          <a:lstStyle/>
          <a:p>
            <a:pPr algn="l">
              <a:spcBef>
                <a:spcPts val="0"/>
              </a:spcBef>
              <a:spcAft>
                <a:spcPts val="0"/>
              </a:spcAft>
            </a:pPr>
            <a:r>
              <a:rPr sz="1650" b="0" i="0">
                <a:solidFill>
                  <a:srgbClr val="625D69"/>
                </a:solidFill>
                <a:latin typeface="Arial"/>
              </a:rPr>
              <a:t>Diferencia observada TP−HC</a:t>
            </a:r>
          </a:p>
        </p:txBody>
      </p:sp>
      <p:sp>
        <p:nvSpPr>
          <p:cNvPr id="28" name="TextBox 27"/>
          <p:cNvSpPr txBox="1"/>
          <p:nvPr/>
        </p:nvSpPr>
        <p:spPr>
          <a:xfrm>
            <a:off x="4736592" y="5458968"/>
            <a:ext cx="2999232" cy="658368"/>
          </a:xfrm>
          <a:prstGeom prst="rect">
            <a:avLst/>
          </a:prstGeom>
          <a:noFill/>
        </p:spPr>
        <p:txBody>
          <a:bodyPr wrap="square" lIns="0" rIns="0" tIns="0" bIns="0" anchor="ctr">
            <a:spAutoFit/>
          </a:bodyPr>
          <a:lstStyle/>
          <a:p>
            <a:pPr algn="ctr">
              <a:spcBef>
                <a:spcPts val="0"/>
              </a:spcBef>
              <a:spcAft>
                <a:spcPts val="0"/>
              </a:spcAft>
            </a:pPr>
            <a:r>
              <a:rPr sz="3450" b="0" i="0">
                <a:solidFill>
                  <a:srgbClr val="422168"/>
                </a:solidFill>
                <a:latin typeface="Georgia"/>
              </a:rPr>
              <a:t>−22,45 pp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cxnSp>
        <p:nvCxnSpPr>
          <p:cNvPr id="2" name="Connector 1"/>
          <p:cNvCxnSpPr/>
          <p:nvPr/>
        </p:nvCxnSpPr>
        <p:spPr>
          <a:xfrm>
            <a:off x="667512" y="283464"/>
            <a:ext cx="10844784" cy="0"/>
          </a:xfrm>
          <a:prstGeom prst="line">
            <a:avLst/>
          </a:prstGeom>
          <a:ln w="18415">
            <a:solidFill>
              <a:srgbClr val="422168"/>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67512" y="365760"/>
            <a:ext cx="10332720" cy="219456"/>
          </a:xfrm>
          <a:prstGeom prst="rect">
            <a:avLst/>
          </a:prstGeom>
          <a:noFill/>
        </p:spPr>
        <p:txBody>
          <a:bodyPr wrap="square" lIns="0" rIns="0" tIns="0" bIns="0" anchor="ctr">
            <a:spAutoFit/>
          </a:bodyPr>
          <a:lstStyle/>
          <a:p>
            <a:pPr algn="l">
              <a:spcBef>
                <a:spcPts val="0"/>
              </a:spcBef>
              <a:spcAft>
                <a:spcPts val="0"/>
              </a:spcAft>
            </a:pPr>
            <a:r>
              <a:rPr sz="1050" b="1" i="0">
                <a:solidFill>
                  <a:srgbClr val="7953A6"/>
                </a:solidFill>
                <a:latin typeface="Arial"/>
              </a:rPr>
              <a:t>07 / RESULTADOS · MATRÍCULA</a:t>
            </a:r>
          </a:p>
        </p:txBody>
      </p:sp>
      <p:sp>
        <p:nvSpPr>
          <p:cNvPr id="4" name="TextBox 3"/>
          <p:cNvSpPr txBox="1"/>
          <p:nvPr/>
        </p:nvSpPr>
        <p:spPr>
          <a:xfrm>
            <a:off x="667512" y="713232"/>
            <a:ext cx="10972800" cy="1024128"/>
          </a:xfrm>
          <a:prstGeom prst="rect">
            <a:avLst/>
          </a:prstGeom>
          <a:noFill/>
        </p:spPr>
        <p:txBody>
          <a:bodyPr wrap="square" lIns="0" rIns="0" tIns="0" bIns="0" anchor="ctr">
            <a:spAutoFit/>
          </a:bodyPr>
          <a:lstStyle/>
          <a:p>
            <a:pPr algn="l">
              <a:spcBef>
                <a:spcPts val="0"/>
              </a:spcBef>
              <a:spcAft>
                <a:spcPts val="0"/>
              </a:spcAft>
            </a:pPr>
            <a:r>
              <a:rPr sz="2760" b="0" i="0">
                <a:solidFill>
                  <a:srgbClr val="292530"/>
                </a:solidFill>
                <a:latin typeface="Georgia"/>
              </a:rPr>
              <a:t>El contraste ajustado de matrícula llega a −12,53 pp en M3</a:t>
            </a:r>
          </a:p>
        </p:txBody>
      </p:sp>
      <p:sp>
        <p:nvSpPr>
          <p:cNvPr id="5" name="TextBox 4"/>
          <p:cNvSpPr txBox="1"/>
          <p:nvPr/>
        </p:nvSpPr>
        <p:spPr>
          <a:xfrm>
            <a:off x="758952" y="1865376"/>
            <a:ext cx="10716768" cy="310896"/>
          </a:xfrm>
          <a:prstGeom prst="rect">
            <a:avLst/>
          </a:prstGeom>
          <a:noFill/>
        </p:spPr>
        <p:txBody>
          <a:bodyPr wrap="square" lIns="0" rIns="0" tIns="0" bIns="0" anchor="ctr">
            <a:spAutoFit/>
          </a:bodyPr>
          <a:lstStyle/>
          <a:p>
            <a:pPr algn="l">
              <a:spcBef>
                <a:spcPts val="0"/>
              </a:spcBef>
              <a:spcAft>
                <a:spcPts val="0"/>
              </a:spcAft>
            </a:pPr>
            <a:r>
              <a:rPr sz="1600" b="0" i="0">
                <a:solidFill>
                  <a:srgbClr val="625D69"/>
                </a:solidFill>
                <a:latin typeface="Arial"/>
              </a:rPr>
              <a:t>Logit binario · diferencias TP−HC (pp) · intervalos de confianza del 95 %</a:t>
            </a:r>
          </a:p>
        </p:txBody>
      </p:sp>
      <p:cxnSp>
        <p:nvCxnSpPr>
          <p:cNvPr id="6" name="Connector 5"/>
          <p:cNvCxnSpPr/>
          <p:nvPr/>
        </p:nvCxnSpPr>
        <p:spPr>
          <a:xfrm>
            <a:off x="658368" y="6400800"/>
            <a:ext cx="10872216" cy="0"/>
          </a:xfrm>
          <a:prstGeom prst="line">
            <a:avLst/>
          </a:prstGeom>
          <a:ln w="10795">
            <a:solidFill>
              <a:srgbClr val="DDD8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473952"/>
            <a:ext cx="10012680" cy="173736"/>
          </a:xfrm>
          <a:prstGeom prst="rect">
            <a:avLst/>
          </a:prstGeom>
          <a:noFill/>
        </p:spPr>
        <p:txBody>
          <a:bodyPr wrap="square" lIns="0" rIns="0" tIns="0" bIns="0" anchor="ctr">
            <a:spAutoFit/>
          </a:bodyPr>
          <a:lstStyle/>
          <a:p>
            <a:pPr algn="l">
              <a:spcBef>
                <a:spcPts val="0"/>
              </a:spcBef>
              <a:spcAft>
                <a:spcPts val="0"/>
              </a:spcAft>
            </a:pPr>
            <a:r>
              <a:rPr sz="919" b="0" i="0">
                <a:solidFill>
                  <a:srgbClr val="625D69"/>
                </a:solidFill>
                <a:latin typeface="Arial"/>
              </a:rPr>
              <a:t>Fuente: MINEDUC–SIES; elaboración propia.</a:t>
            </a:r>
          </a:p>
        </p:txBody>
      </p:sp>
      <p:sp>
        <p:nvSpPr>
          <p:cNvPr id="8" name="Rectangle 7"/>
          <p:cNvSpPr/>
          <p:nvPr/>
        </p:nvSpPr>
        <p:spPr>
          <a:xfrm>
            <a:off x="777240" y="4270248"/>
            <a:ext cx="10680192" cy="704088"/>
          </a:xfrm>
          <a:prstGeom prst="rect">
            <a:avLst/>
          </a:prstGeom>
          <a:solidFill>
            <a:srgbClr val="F3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5086773" y="2468880"/>
            <a:ext cx="0" cy="2542032"/>
          </a:xfrm>
          <a:prstGeom prst="line">
            <a:avLst/>
          </a:prstGeom>
          <a:ln w="7620">
            <a:solidFill>
              <a:srgbClr val="DDD8E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58173" y="5038344"/>
            <a:ext cx="466344" cy="246888"/>
          </a:xfrm>
          <a:prstGeom prst="rect">
            <a:avLst/>
          </a:prstGeom>
          <a:noFill/>
        </p:spPr>
        <p:txBody>
          <a:bodyPr wrap="square" lIns="0" rIns="0" tIns="0" bIns="0" anchor="ctr">
            <a:spAutoFit/>
          </a:bodyPr>
          <a:lstStyle/>
          <a:p>
            <a:pPr algn="ctr">
              <a:spcBef>
                <a:spcPts val="0"/>
              </a:spcBef>
              <a:spcAft>
                <a:spcPts val="0"/>
              </a:spcAft>
            </a:pPr>
            <a:r>
              <a:rPr sz="1290" b="0" i="0">
                <a:solidFill>
                  <a:srgbClr val="625D69"/>
                </a:solidFill>
                <a:latin typeface="Arial"/>
              </a:rPr>
              <a:t>−25</a:t>
            </a:r>
          </a:p>
        </p:txBody>
      </p:sp>
      <p:cxnSp>
        <p:nvCxnSpPr>
          <p:cNvPr id="11" name="Connector 10"/>
          <p:cNvCxnSpPr/>
          <p:nvPr/>
        </p:nvCxnSpPr>
        <p:spPr>
          <a:xfrm>
            <a:off x="6099386" y="2468880"/>
            <a:ext cx="0" cy="2542032"/>
          </a:xfrm>
          <a:prstGeom prst="line">
            <a:avLst/>
          </a:prstGeom>
          <a:ln w="7620">
            <a:solidFill>
              <a:srgbClr val="DDD8E5"/>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870786" y="5038344"/>
            <a:ext cx="466344" cy="246888"/>
          </a:xfrm>
          <a:prstGeom prst="rect">
            <a:avLst/>
          </a:prstGeom>
          <a:noFill/>
        </p:spPr>
        <p:txBody>
          <a:bodyPr wrap="square" lIns="0" rIns="0" tIns="0" bIns="0" anchor="ctr">
            <a:spAutoFit/>
          </a:bodyPr>
          <a:lstStyle/>
          <a:p>
            <a:pPr algn="ctr">
              <a:spcBef>
                <a:spcPts val="0"/>
              </a:spcBef>
              <a:spcAft>
                <a:spcPts val="0"/>
              </a:spcAft>
            </a:pPr>
            <a:r>
              <a:rPr sz="1290" b="0" i="0">
                <a:solidFill>
                  <a:srgbClr val="625D69"/>
                </a:solidFill>
                <a:latin typeface="Arial"/>
              </a:rPr>
              <a:t>−20</a:t>
            </a:r>
          </a:p>
        </p:txBody>
      </p:sp>
      <p:cxnSp>
        <p:nvCxnSpPr>
          <p:cNvPr id="13" name="Connector 12"/>
          <p:cNvCxnSpPr/>
          <p:nvPr/>
        </p:nvCxnSpPr>
        <p:spPr>
          <a:xfrm>
            <a:off x="7112000" y="2468880"/>
            <a:ext cx="0" cy="2542032"/>
          </a:xfrm>
          <a:prstGeom prst="line">
            <a:avLst/>
          </a:prstGeom>
          <a:ln w="7620">
            <a:solidFill>
              <a:srgbClr val="DDD8E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83400" y="5038344"/>
            <a:ext cx="466344" cy="246888"/>
          </a:xfrm>
          <a:prstGeom prst="rect">
            <a:avLst/>
          </a:prstGeom>
          <a:noFill/>
        </p:spPr>
        <p:txBody>
          <a:bodyPr wrap="square" lIns="0" rIns="0" tIns="0" bIns="0" anchor="ctr">
            <a:spAutoFit/>
          </a:bodyPr>
          <a:lstStyle/>
          <a:p>
            <a:pPr algn="ctr">
              <a:spcBef>
                <a:spcPts val="0"/>
              </a:spcBef>
              <a:spcAft>
                <a:spcPts val="0"/>
              </a:spcAft>
            </a:pPr>
            <a:r>
              <a:rPr sz="1290" b="0" i="0">
                <a:solidFill>
                  <a:srgbClr val="625D69"/>
                </a:solidFill>
                <a:latin typeface="Arial"/>
              </a:rPr>
              <a:t>−15</a:t>
            </a:r>
          </a:p>
        </p:txBody>
      </p:sp>
      <p:cxnSp>
        <p:nvCxnSpPr>
          <p:cNvPr id="15" name="Connector 14"/>
          <p:cNvCxnSpPr/>
          <p:nvPr/>
        </p:nvCxnSpPr>
        <p:spPr>
          <a:xfrm>
            <a:off x="8124613" y="2468880"/>
            <a:ext cx="0" cy="2542032"/>
          </a:xfrm>
          <a:prstGeom prst="line">
            <a:avLst/>
          </a:prstGeom>
          <a:ln w="7620">
            <a:solidFill>
              <a:srgbClr val="DDD8E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896013" y="5038344"/>
            <a:ext cx="466344" cy="246888"/>
          </a:xfrm>
          <a:prstGeom prst="rect">
            <a:avLst/>
          </a:prstGeom>
          <a:noFill/>
        </p:spPr>
        <p:txBody>
          <a:bodyPr wrap="square" lIns="0" rIns="0" tIns="0" bIns="0" anchor="ctr">
            <a:spAutoFit/>
          </a:bodyPr>
          <a:lstStyle/>
          <a:p>
            <a:pPr algn="ctr">
              <a:spcBef>
                <a:spcPts val="0"/>
              </a:spcBef>
              <a:spcAft>
                <a:spcPts val="0"/>
              </a:spcAft>
            </a:pPr>
            <a:r>
              <a:rPr sz="1290" b="0" i="0">
                <a:solidFill>
                  <a:srgbClr val="625D69"/>
                </a:solidFill>
                <a:latin typeface="Arial"/>
              </a:rPr>
              <a:t>−10</a:t>
            </a:r>
          </a:p>
        </p:txBody>
      </p:sp>
      <p:cxnSp>
        <p:nvCxnSpPr>
          <p:cNvPr id="17" name="Connector 16"/>
          <p:cNvCxnSpPr/>
          <p:nvPr/>
        </p:nvCxnSpPr>
        <p:spPr>
          <a:xfrm>
            <a:off x="9137226" y="2468880"/>
            <a:ext cx="0" cy="2542032"/>
          </a:xfrm>
          <a:prstGeom prst="line">
            <a:avLst/>
          </a:prstGeom>
          <a:ln w="7620">
            <a:solidFill>
              <a:srgbClr val="DDD8E5"/>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908626" y="5038344"/>
            <a:ext cx="466344" cy="246888"/>
          </a:xfrm>
          <a:prstGeom prst="rect">
            <a:avLst/>
          </a:prstGeom>
          <a:noFill/>
        </p:spPr>
        <p:txBody>
          <a:bodyPr wrap="square" lIns="0" rIns="0" tIns="0" bIns="0" anchor="ctr">
            <a:spAutoFit/>
          </a:bodyPr>
          <a:lstStyle/>
          <a:p>
            <a:pPr algn="ctr">
              <a:spcBef>
                <a:spcPts val="0"/>
              </a:spcBef>
              <a:spcAft>
                <a:spcPts val="0"/>
              </a:spcAft>
            </a:pPr>
            <a:r>
              <a:rPr sz="1290" b="0" i="0">
                <a:solidFill>
                  <a:srgbClr val="625D69"/>
                </a:solidFill>
                <a:latin typeface="Arial"/>
              </a:rPr>
              <a:t>−5</a:t>
            </a:r>
          </a:p>
        </p:txBody>
      </p:sp>
      <p:cxnSp>
        <p:nvCxnSpPr>
          <p:cNvPr id="19" name="Connector 18"/>
          <p:cNvCxnSpPr/>
          <p:nvPr/>
        </p:nvCxnSpPr>
        <p:spPr>
          <a:xfrm>
            <a:off x="10149840" y="2468880"/>
            <a:ext cx="0" cy="2542032"/>
          </a:xfrm>
          <a:prstGeom prst="line">
            <a:avLst/>
          </a:prstGeom>
          <a:ln w="13970">
            <a:solidFill>
              <a:srgbClr val="42216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921240" y="5038344"/>
            <a:ext cx="466344" cy="246888"/>
          </a:xfrm>
          <a:prstGeom prst="rect">
            <a:avLst/>
          </a:prstGeom>
          <a:noFill/>
        </p:spPr>
        <p:txBody>
          <a:bodyPr wrap="square" lIns="0" rIns="0" tIns="0" bIns="0" anchor="ctr">
            <a:spAutoFit/>
          </a:bodyPr>
          <a:lstStyle/>
          <a:p>
            <a:pPr algn="ctr">
              <a:spcBef>
                <a:spcPts val="0"/>
              </a:spcBef>
              <a:spcAft>
                <a:spcPts val="0"/>
              </a:spcAft>
            </a:pPr>
            <a:r>
              <a:rPr sz="1290" b="0" i="0">
                <a:solidFill>
                  <a:srgbClr val="625D69"/>
                </a:solidFill>
                <a:latin typeface="Arial"/>
              </a:rPr>
              <a:t>0</a:t>
            </a:r>
          </a:p>
        </p:txBody>
      </p:sp>
      <p:sp>
        <p:nvSpPr>
          <p:cNvPr id="21" name="TextBox 20"/>
          <p:cNvSpPr txBox="1"/>
          <p:nvPr/>
        </p:nvSpPr>
        <p:spPr>
          <a:xfrm>
            <a:off x="868680" y="2670048"/>
            <a:ext cx="576072" cy="384048"/>
          </a:xfrm>
          <a:prstGeom prst="rect">
            <a:avLst/>
          </a:prstGeom>
          <a:noFill/>
        </p:spPr>
        <p:txBody>
          <a:bodyPr wrap="square" lIns="0" rIns="0" tIns="0" bIns="0" anchor="ctr">
            <a:spAutoFit/>
          </a:bodyPr>
          <a:lstStyle/>
          <a:p>
            <a:pPr algn="l">
              <a:spcBef>
                <a:spcPts val="0"/>
              </a:spcBef>
              <a:spcAft>
                <a:spcPts val="0"/>
              </a:spcAft>
            </a:pPr>
            <a:r>
              <a:rPr sz="2100" b="1" i="0">
                <a:solidFill>
                  <a:srgbClr val="292530"/>
                </a:solidFill>
                <a:latin typeface="Arial"/>
              </a:rPr>
              <a:t>M1</a:t>
            </a:r>
          </a:p>
        </p:txBody>
      </p:sp>
      <p:sp>
        <p:nvSpPr>
          <p:cNvPr id="22" name="TextBox 21"/>
          <p:cNvSpPr txBox="1"/>
          <p:nvPr/>
        </p:nvSpPr>
        <p:spPr>
          <a:xfrm>
            <a:off x="1527048" y="2679192"/>
            <a:ext cx="2971800" cy="393192"/>
          </a:xfrm>
          <a:prstGeom prst="rect">
            <a:avLst/>
          </a:prstGeom>
          <a:noFill/>
        </p:spPr>
        <p:txBody>
          <a:bodyPr wrap="square" lIns="0" rIns="0" tIns="0" bIns="0" anchor="ctr">
            <a:spAutoFit/>
          </a:bodyPr>
          <a:lstStyle/>
          <a:p>
            <a:pPr algn="l">
              <a:spcBef>
                <a:spcPts val="0"/>
              </a:spcBef>
              <a:spcAft>
                <a:spcPts val="0"/>
              </a:spcAft>
            </a:pPr>
            <a:r>
              <a:rPr sz="1780" b="0" i="0">
                <a:solidFill>
                  <a:srgbClr val="292530"/>
                </a:solidFill>
                <a:latin typeface="Arial"/>
              </a:rPr>
              <a:t>Solo modalidad</a:t>
            </a:r>
          </a:p>
        </p:txBody>
      </p:sp>
      <p:cxnSp>
        <p:nvCxnSpPr>
          <p:cNvPr id="23" name="Connector 22"/>
          <p:cNvCxnSpPr/>
          <p:nvPr/>
        </p:nvCxnSpPr>
        <p:spPr>
          <a:xfrm>
            <a:off x="5402708" y="2852928"/>
            <a:ext cx="400995" cy="0"/>
          </a:xfrm>
          <a:prstGeom prst="line">
            <a:avLst/>
          </a:prstGeom>
          <a:ln w="22860">
            <a:solidFill>
              <a:srgbClr val="7953A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402708" y="2734056"/>
            <a:ext cx="0" cy="237744"/>
          </a:xfrm>
          <a:prstGeom prst="line">
            <a:avLst/>
          </a:prstGeom>
          <a:ln w="21590">
            <a:solidFill>
              <a:srgbClr val="7953A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03703" y="2734056"/>
            <a:ext cx="0" cy="237744"/>
          </a:xfrm>
          <a:prstGeom prst="line">
            <a:avLst/>
          </a:prstGeom>
          <a:ln w="21590">
            <a:solidFill>
              <a:srgbClr val="7953A6"/>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5531882" y="2781604"/>
            <a:ext cx="142646" cy="142646"/>
          </a:xfrm>
          <a:prstGeom prst="ellipse">
            <a:avLst/>
          </a:prstGeom>
          <a:solidFill>
            <a:srgbClr val="795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87000" y="2660904"/>
            <a:ext cx="1097280" cy="393192"/>
          </a:xfrm>
          <a:prstGeom prst="rect">
            <a:avLst/>
          </a:prstGeom>
          <a:noFill/>
        </p:spPr>
        <p:txBody>
          <a:bodyPr wrap="square" lIns="0" rIns="0" tIns="0" bIns="0" anchor="ctr">
            <a:spAutoFit/>
          </a:bodyPr>
          <a:lstStyle/>
          <a:p>
            <a:pPr algn="r">
              <a:spcBef>
                <a:spcPts val="0"/>
              </a:spcBef>
              <a:spcAft>
                <a:spcPts val="0"/>
              </a:spcAft>
            </a:pPr>
            <a:r>
              <a:rPr sz="1810" b="0" i="0">
                <a:solidFill>
                  <a:srgbClr val="625D69"/>
                </a:solidFill>
                <a:latin typeface="Arial"/>
              </a:rPr>
              <a:t>−22,45 pp</a:t>
            </a:r>
          </a:p>
        </p:txBody>
      </p:sp>
      <p:sp>
        <p:nvSpPr>
          <p:cNvPr id="28" name="TextBox 27"/>
          <p:cNvSpPr txBox="1"/>
          <p:nvPr/>
        </p:nvSpPr>
        <p:spPr>
          <a:xfrm>
            <a:off x="868680" y="3557015"/>
            <a:ext cx="576072" cy="384048"/>
          </a:xfrm>
          <a:prstGeom prst="rect">
            <a:avLst/>
          </a:prstGeom>
          <a:noFill/>
        </p:spPr>
        <p:txBody>
          <a:bodyPr wrap="square" lIns="0" rIns="0" tIns="0" bIns="0" anchor="ctr">
            <a:spAutoFit/>
          </a:bodyPr>
          <a:lstStyle/>
          <a:p>
            <a:pPr algn="l">
              <a:spcBef>
                <a:spcPts val="0"/>
              </a:spcBef>
              <a:spcAft>
                <a:spcPts val="0"/>
              </a:spcAft>
            </a:pPr>
            <a:r>
              <a:rPr sz="2100" b="1" i="0">
                <a:solidFill>
                  <a:srgbClr val="292530"/>
                </a:solidFill>
                <a:latin typeface="Arial"/>
              </a:rPr>
              <a:t>M2</a:t>
            </a:r>
          </a:p>
        </p:txBody>
      </p:sp>
      <p:sp>
        <p:nvSpPr>
          <p:cNvPr id="29" name="TextBox 28"/>
          <p:cNvSpPr txBox="1"/>
          <p:nvPr/>
        </p:nvSpPr>
        <p:spPr>
          <a:xfrm>
            <a:off x="1527048" y="3566160"/>
            <a:ext cx="2971800" cy="393192"/>
          </a:xfrm>
          <a:prstGeom prst="rect">
            <a:avLst/>
          </a:prstGeom>
          <a:noFill/>
        </p:spPr>
        <p:txBody>
          <a:bodyPr wrap="square" lIns="0" rIns="0" tIns="0" bIns="0" anchor="ctr">
            <a:spAutoFit/>
          </a:bodyPr>
          <a:lstStyle/>
          <a:p>
            <a:pPr algn="l">
              <a:spcBef>
                <a:spcPts val="0"/>
              </a:spcBef>
              <a:spcAft>
                <a:spcPts val="0"/>
              </a:spcAft>
            </a:pPr>
            <a:r>
              <a:rPr sz="1780" b="0" i="0">
                <a:solidFill>
                  <a:srgbClr val="292530"/>
                </a:solidFill>
                <a:latin typeface="Arial"/>
              </a:rPr>
              <a:t>+ Notas y cohorte</a:t>
            </a:r>
          </a:p>
        </p:txBody>
      </p:sp>
      <p:cxnSp>
        <p:nvCxnSpPr>
          <p:cNvPr id="30" name="Connector 29"/>
          <p:cNvCxnSpPr/>
          <p:nvPr/>
        </p:nvCxnSpPr>
        <p:spPr>
          <a:xfrm>
            <a:off x="6974284" y="3739896"/>
            <a:ext cx="342263" cy="0"/>
          </a:xfrm>
          <a:prstGeom prst="line">
            <a:avLst/>
          </a:prstGeom>
          <a:ln w="22860">
            <a:solidFill>
              <a:srgbClr val="7953A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974284" y="3621024"/>
            <a:ext cx="0" cy="237744"/>
          </a:xfrm>
          <a:prstGeom prst="line">
            <a:avLst/>
          </a:prstGeom>
          <a:ln w="21590">
            <a:solidFill>
              <a:srgbClr val="7953A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316547" y="3621024"/>
            <a:ext cx="0" cy="237744"/>
          </a:xfrm>
          <a:prstGeom prst="line">
            <a:avLst/>
          </a:prstGeom>
          <a:ln w="21590">
            <a:solidFill>
              <a:srgbClr val="7953A6"/>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7075105" y="3668572"/>
            <a:ext cx="142646" cy="142646"/>
          </a:xfrm>
          <a:prstGeom prst="ellipse">
            <a:avLst/>
          </a:prstGeom>
          <a:solidFill>
            <a:srgbClr val="795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87000" y="3547872"/>
            <a:ext cx="1097280" cy="393192"/>
          </a:xfrm>
          <a:prstGeom prst="rect">
            <a:avLst/>
          </a:prstGeom>
          <a:noFill/>
        </p:spPr>
        <p:txBody>
          <a:bodyPr wrap="square" lIns="0" rIns="0" tIns="0" bIns="0" anchor="ctr">
            <a:spAutoFit/>
          </a:bodyPr>
          <a:lstStyle/>
          <a:p>
            <a:pPr algn="r">
              <a:spcBef>
                <a:spcPts val="0"/>
              </a:spcBef>
              <a:spcAft>
                <a:spcPts val="0"/>
              </a:spcAft>
            </a:pPr>
            <a:r>
              <a:rPr sz="1810" b="0" i="0">
                <a:solidFill>
                  <a:srgbClr val="625D69"/>
                </a:solidFill>
                <a:latin typeface="Arial"/>
              </a:rPr>
              <a:t>−14,83 pp</a:t>
            </a:r>
          </a:p>
        </p:txBody>
      </p:sp>
      <p:sp>
        <p:nvSpPr>
          <p:cNvPr id="35" name="TextBox 34"/>
          <p:cNvSpPr txBox="1"/>
          <p:nvPr/>
        </p:nvSpPr>
        <p:spPr>
          <a:xfrm>
            <a:off x="868680" y="4443983"/>
            <a:ext cx="576072" cy="384048"/>
          </a:xfrm>
          <a:prstGeom prst="rect">
            <a:avLst/>
          </a:prstGeom>
          <a:noFill/>
        </p:spPr>
        <p:txBody>
          <a:bodyPr wrap="square" lIns="0" rIns="0" tIns="0" bIns="0" anchor="ctr">
            <a:spAutoFit/>
          </a:bodyPr>
          <a:lstStyle/>
          <a:p>
            <a:pPr algn="l">
              <a:spcBef>
                <a:spcPts val="0"/>
              </a:spcBef>
              <a:spcAft>
                <a:spcPts val="0"/>
              </a:spcAft>
            </a:pPr>
            <a:r>
              <a:rPr sz="2100" b="1" i="0">
                <a:solidFill>
                  <a:srgbClr val="422168"/>
                </a:solidFill>
                <a:latin typeface="Arial"/>
              </a:rPr>
              <a:t>M3</a:t>
            </a:r>
          </a:p>
        </p:txBody>
      </p:sp>
      <p:sp>
        <p:nvSpPr>
          <p:cNvPr id="36" name="TextBox 35"/>
          <p:cNvSpPr txBox="1"/>
          <p:nvPr/>
        </p:nvSpPr>
        <p:spPr>
          <a:xfrm>
            <a:off x="1527048" y="4453127"/>
            <a:ext cx="2971800" cy="393192"/>
          </a:xfrm>
          <a:prstGeom prst="rect">
            <a:avLst/>
          </a:prstGeom>
          <a:noFill/>
        </p:spPr>
        <p:txBody>
          <a:bodyPr wrap="square" lIns="0" rIns="0" tIns="0" bIns="0" anchor="ctr">
            <a:spAutoFit/>
          </a:bodyPr>
          <a:lstStyle/>
          <a:p>
            <a:pPr algn="l">
              <a:spcBef>
                <a:spcPts val="0"/>
              </a:spcBef>
              <a:spcAft>
                <a:spcPts val="0"/>
              </a:spcAft>
            </a:pPr>
            <a:r>
              <a:rPr sz="1780" b="1" i="0">
                <a:solidFill>
                  <a:srgbClr val="422168"/>
                </a:solidFill>
                <a:latin typeface="Arial"/>
              </a:rPr>
              <a:t>+ SEP, escuela y territorio</a:t>
            </a:r>
          </a:p>
        </p:txBody>
      </p:sp>
      <p:cxnSp>
        <p:nvCxnSpPr>
          <p:cNvPr id="37" name="Connector 36"/>
          <p:cNvCxnSpPr/>
          <p:nvPr/>
        </p:nvCxnSpPr>
        <p:spPr>
          <a:xfrm>
            <a:off x="7436036" y="4626864"/>
            <a:ext cx="350364" cy="0"/>
          </a:xfrm>
          <a:prstGeom prst="line">
            <a:avLst/>
          </a:prstGeom>
          <a:ln w="29209">
            <a:solidFill>
              <a:srgbClr val="42216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436036" y="4507992"/>
            <a:ext cx="0" cy="237744"/>
          </a:xfrm>
          <a:prstGeom prst="line">
            <a:avLst/>
          </a:prstGeom>
          <a:ln w="21590">
            <a:solidFill>
              <a:srgbClr val="42216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786400" y="4507992"/>
            <a:ext cx="0" cy="237744"/>
          </a:xfrm>
          <a:prstGeom prst="line">
            <a:avLst/>
          </a:prstGeom>
          <a:ln w="21590">
            <a:solidFill>
              <a:srgbClr val="422168"/>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7518962" y="4533595"/>
            <a:ext cx="186537" cy="186537"/>
          </a:xfrm>
          <a:prstGeom prst="ellipse">
            <a:avLst/>
          </a:prstGeom>
          <a:solidFill>
            <a:srgbClr val="422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87000" y="4434840"/>
            <a:ext cx="1097280" cy="393192"/>
          </a:xfrm>
          <a:prstGeom prst="rect">
            <a:avLst/>
          </a:prstGeom>
          <a:noFill/>
        </p:spPr>
        <p:txBody>
          <a:bodyPr wrap="square" lIns="0" rIns="0" tIns="0" bIns="0" anchor="ctr">
            <a:spAutoFit/>
          </a:bodyPr>
          <a:lstStyle/>
          <a:p>
            <a:pPr algn="r">
              <a:spcBef>
                <a:spcPts val="0"/>
              </a:spcBef>
              <a:spcAft>
                <a:spcPts val="0"/>
              </a:spcAft>
            </a:pPr>
            <a:r>
              <a:rPr sz="1810" b="1" i="0">
                <a:solidFill>
                  <a:srgbClr val="422168"/>
                </a:solidFill>
                <a:latin typeface="Arial"/>
              </a:rPr>
              <a:t>−12,53 pp</a:t>
            </a:r>
          </a:p>
        </p:txBody>
      </p:sp>
      <p:sp>
        <p:nvSpPr>
          <p:cNvPr id="42" name="Rectangle 41"/>
          <p:cNvSpPr/>
          <p:nvPr/>
        </p:nvSpPr>
        <p:spPr>
          <a:xfrm>
            <a:off x="813816" y="5541264"/>
            <a:ext cx="10607040" cy="502920"/>
          </a:xfrm>
          <a:prstGeom prst="rect">
            <a:avLst/>
          </a:prstGeom>
          <a:solidFill>
            <a:srgbClr val="F3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596128"/>
            <a:ext cx="10387584" cy="338328"/>
          </a:xfrm>
          <a:prstGeom prst="rect">
            <a:avLst/>
          </a:prstGeom>
          <a:noFill/>
        </p:spPr>
        <p:txBody>
          <a:bodyPr wrap="square" lIns="0" rIns="0" tIns="0" bIns="0" anchor="ctr">
            <a:spAutoFit/>
          </a:bodyPr>
          <a:lstStyle/>
          <a:p>
            <a:pPr algn="ctr">
              <a:spcBef>
                <a:spcPts val="0"/>
              </a:spcBef>
              <a:spcAft>
                <a:spcPts val="0"/>
              </a:spcAft>
            </a:pPr>
            <a:r>
              <a:rPr sz="1710" b="1" i="0">
                <a:solidFill>
                  <a:srgbClr val="422168"/>
                </a:solidFill>
                <a:latin typeface="Arial"/>
              </a:rPr>
              <a:t>M3 · Probabilidades ajustadas: HC 79,74 %  ·  TP 67,20 %  ·  IC 95 % [−13,40; −11,67]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cxnSp>
        <p:nvCxnSpPr>
          <p:cNvPr id="2" name="Connector 1"/>
          <p:cNvCxnSpPr/>
          <p:nvPr/>
        </p:nvCxnSpPr>
        <p:spPr>
          <a:xfrm>
            <a:off x="667512" y="283464"/>
            <a:ext cx="10844784" cy="0"/>
          </a:xfrm>
          <a:prstGeom prst="line">
            <a:avLst/>
          </a:prstGeom>
          <a:ln w="18415">
            <a:solidFill>
              <a:srgbClr val="422168"/>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67512" y="365760"/>
            <a:ext cx="10332720" cy="219456"/>
          </a:xfrm>
          <a:prstGeom prst="rect">
            <a:avLst/>
          </a:prstGeom>
          <a:noFill/>
        </p:spPr>
        <p:txBody>
          <a:bodyPr wrap="square" lIns="0" rIns="0" tIns="0" bIns="0" anchor="ctr">
            <a:spAutoFit/>
          </a:bodyPr>
          <a:lstStyle/>
          <a:p>
            <a:pPr algn="l">
              <a:spcBef>
                <a:spcPts val="0"/>
              </a:spcBef>
              <a:spcAft>
                <a:spcPts val="0"/>
              </a:spcAft>
            </a:pPr>
            <a:r>
              <a:rPr sz="1050" b="1" i="0">
                <a:solidFill>
                  <a:srgbClr val="7953A6"/>
                </a:solidFill>
                <a:latin typeface="Arial"/>
              </a:rPr>
              <a:t>07 / RESULTADOS · DESTINOS</a:t>
            </a:r>
          </a:p>
        </p:txBody>
      </p:sp>
      <p:sp>
        <p:nvSpPr>
          <p:cNvPr id="4" name="TextBox 3"/>
          <p:cNvSpPr txBox="1"/>
          <p:nvPr/>
        </p:nvSpPr>
        <p:spPr>
          <a:xfrm>
            <a:off x="667512" y="713232"/>
            <a:ext cx="10972800" cy="1024128"/>
          </a:xfrm>
          <a:prstGeom prst="rect">
            <a:avLst/>
          </a:prstGeom>
          <a:noFill/>
        </p:spPr>
        <p:txBody>
          <a:bodyPr wrap="square" lIns="0" rIns="0" tIns="0" bIns="0" anchor="ctr">
            <a:spAutoFit/>
          </a:bodyPr>
          <a:lstStyle/>
          <a:p>
            <a:pPr algn="l">
              <a:spcBef>
                <a:spcPts val="0"/>
              </a:spcBef>
              <a:spcAft>
                <a:spcPts val="0"/>
              </a:spcAft>
            </a:pPr>
            <a:r>
              <a:rPr sz="2880" b="0" i="0">
                <a:solidFill>
                  <a:srgbClr val="292530"/>
                </a:solidFill>
                <a:latin typeface="Georgia"/>
              </a:rPr>
              <a:t>La distribución ajustada difiere entre primeros destinos</a:t>
            </a:r>
          </a:p>
        </p:txBody>
      </p:sp>
      <p:sp>
        <p:nvSpPr>
          <p:cNvPr id="5" name="TextBox 4"/>
          <p:cNvSpPr txBox="1"/>
          <p:nvPr/>
        </p:nvSpPr>
        <p:spPr>
          <a:xfrm>
            <a:off x="758952" y="1865376"/>
            <a:ext cx="10716768" cy="310896"/>
          </a:xfrm>
          <a:prstGeom prst="rect">
            <a:avLst/>
          </a:prstGeom>
          <a:noFill/>
        </p:spPr>
        <p:txBody>
          <a:bodyPr wrap="square" lIns="0" rIns="0" tIns="0" bIns="0" anchor="ctr">
            <a:spAutoFit/>
          </a:bodyPr>
          <a:lstStyle/>
          <a:p>
            <a:pPr algn="l">
              <a:spcBef>
                <a:spcPts val="0"/>
              </a:spcBef>
              <a:spcAft>
                <a:spcPts val="0"/>
              </a:spcAft>
            </a:pPr>
            <a:r>
              <a:rPr sz="1600" b="0" i="0">
                <a:solidFill>
                  <a:srgbClr val="625D69"/>
                </a:solidFill>
                <a:latin typeface="Arial"/>
              </a:rPr>
              <a:t>Modelo multinomial M3 · probabilidades predichas promedio (%) · todos los episodios</a:t>
            </a:r>
          </a:p>
        </p:txBody>
      </p:sp>
      <p:cxnSp>
        <p:nvCxnSpPr>
          <p:cNvPr id="6" name="Connector 5"/>
          <p:cNvCxnSpPr/>
          <p:nvPr/>
        </p:nvCxnSpPr>
        <p:spPr>
          <a:xfrm>
            <a:off x="658368" y="6400800"/>
            <a:ext cx="10872216" cy="0"/>
          </a:xfrm>
          <a:prstGeom prst="line">
            <a:avLst/>
          </a:prstGeom>
          <a:ln w="10795">
            <a:solidFill>
              <a:srgbClr val="DDD8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473952"/>
            <a:ext cx="10012680" cy="173736"/>
          </a:xfrm>
          <a:prstGeom prst="rect">
            <a:avLst/>
          </a:prstGeom>
          <a:noFill/>
        </p:spPr>
        <p:txBody>
          <a:bodyPr wrap="square" lIns="0" rIns="0" tIns="0" bIns="0" anchor="ctr">
            <a:spAutoFit/>
          </a:bodyPr>
          <a:lstStyle/>
          <a:p>
            <a:pPr algn="l">
              <a:spcBef>
                <a:spcPts val="0"/>
              </a:spcBef>
              <a:spcAft>
                <a:spcPts val="0"/>
              </a:spcAft>
            </a:pPr>
            <a:r>
              <a:rPr sz="919" b="0" i="0">
                <a:solidFill>
                  <a:srgbClr val="625D69"/>
                </a:solidFill>
                <a:latin typeface="Arial"/>
              </a:rPr>
              <a:t>Fuente: MINEDUC–SIES; elaboración propia.</a:t>
            </a:r>
          </a:p>
        </p:txBody>
      </p:sp>
      <p:sp>
        <p:nvSpPr>
          <p:cNvPr id="8" name="Oval 7"/>
          <p:cNvSpPr/>
          <p:nvPr/>
        </p:nvSpPr>
        <p:spPr>
          <a:xfrm>
            <a:off x="8494776" y="2212848"/>
            <a:ext cx="146304" cy="146304"/>
          </a:xfrm>
          <a:prstGeom prst="ellipse">
            <a:avLst/>
          </a:prstGeom>
          <a:solidFill>
            <a:srgbClr val="422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14232" y="2167128"/>
            <a:ext cx="493776" cy="228600"/>
          </a:xfrm>
          <a:prstGeom prst="rect">
            <a:avLst/>
          </a:prstGeom>
          <a:noFill/>
        </p:spPr>
        <p:txBody>
          <a:bodyPr wrap="square" lIns="0" rIns="0" tIns="0" bIns="0" anchor="ctr">
            <a:spAutoFit/>
          </a:bodyPr>
          <a:lstStyle/>
          <a:p>
            <a:pPr algn="l">
              <a:spcBef>
                <a:spcPts val="0"/>
              </a:spcBef>
              <a:spcAft>
                <a:spcPts val="0"/>
              </a:spcAft>
            </a:pPr>
            <a:r>
              <a:rPr sz="1390" b="1" i="0">
                <a:solidFill>
                  <a:srgbClr val="422168"/>
                </a:solidFill>
                <a:latin typeface="Arial"/>
              </a:rPr>
              <a:t>HC</a:t>
            </a:r>
          </a:p>
        </p:txBody>
      </p:sp>
      <p:sp>
        <p:nvSpPr>
          <p:cNvPr id="10" name="Rectangle 9"/>
          <p:cNvSpPr/>
          <p:nvPr/>
        </p:nvSpPr>
        <p:spPr>
          <a:xfrm>
            <a:off x="9381744" y="2212848"/>
            <a:ext cx="146304" cy="146304"/>
          </a:xfrm>
          <a:prstGeom prst="rect">
            <a:avLst/>
          </a:prstGeom>
          <a:solidFill>
            <a:srgbClr val="A35A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0" y="2167128"/>
            <a:ext cx="502920" cy="228600"/>
          </a:xfrm>
          <a:prstGeom prst="rect">
            <a:avLst/>
          </a:prstGeom>
          <a:noFill/>
        </p:spPr>
        <p:txBody>
          <a:bodyPr wrap="square" lIns="0" rIns="0" tIns="0" bIns="0" anchor="ctr">
            <a:spAutoFit/>
          </a:bodyPr>
          <a:lstStyle/>
          <a:p>
            <a:pPr algn="l">
              <a:spcBef>
                <a:spcPts val="0"/>
              </a:spcBef>
              <a:spcAft>
                <a:spcPts val="0"/>
              </a:spcAft>
            </a:pPr>
            <a:r>
              <a:rPr sz="1390" b="1" i="0">
                <a:solidFill>
                  <a:srgbClr val="A35AA1"/>
                </a:solidFill>
                <a:latin typeface="Arial"/>
              </a:rPr>
              <a:t>TP</a:t>
            </a:r>
          </a:p>
        </p:txBody>
      </p:sp>
      <p:cxnSp>
        <p:nvCxnSpPr>
          <p:cNvPr id="12" name="Connector 11"/>
          <p:cNvCxnSpPr/>
          <p:nvPr/>
        </p:nvCxnSpPr>
        <p:spPr>
          <a:xfrm>
            <a:off x="4544568" y="2606040"/>
            <a:ext cx="0" cy="2999232"/>
          </a:xfrm>
          <a:prstGeom prst="line">
            <a:avLst/>
          </a:prstGeom>
          <a:ln w="9271">
            <a:solidFill>
              <a:srgbClr val="DDD8E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233672" y="5614416"/>
            <a:ext cx="640080" cy="237744"/>
          </a:xfrm>
          <a:prstGeom prst="rect">
            <a:avLst/>
          </a:prstGeom>
          <a:noFill/>
        </p:spPr>
        <p:txBody>
          <a:bodyPr wrap="square" lIns="0" rIns="0" tIns="0" bIns="0" anchor="ctr">
            <a:spAutoFit/>
          </a:bodyPr>
          <a:lstStyle/>
          <a:p>
            <a:pPr algn="ctr">
              <a:spcBef>
                <a:spcPts val="0"/>
              </a:spcBef>
              <a:spcAft>
                <a:spcPts val="0"/>
              </a:spcAft>
            </a:pPr>
            <a:r>
              <a:rPr sz="1210" b="0" i="0">
                <a:solidFill>
                  <a:srgbClr val="625D69"/>
                </a:solidFill>
                <a:latin typeface="Arial"/>
              </a:rPr>
              <a:t>0 %</a:t>
            </a:r>
          </a:p>
        </p:txBody>
      </p:sp>
      <p:cxnSp>
        <p:nvCxnSpPr>
          <p:cNvPr id="14" name="Connector 13"/>
          <p:cNvCxnSpPr/>
          <p:nvPr/>
        </p:nvCxnSpPr>
        <p:spPr>
          <a:xfrm>
            <a:off x="6550152" y="2606040"/>
            <a:ext cx="0" cy="2999232"/>
          </a:xfrm>
          <a:prstGeom prst="line">
            <a:avLst/>
          </a:prstGeom>
          <a:ln w="9271">
            <a:solidFill>
              <a:srgbClr val="DDD8E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39256" y="5614416"/>
            <a:ext cx="640080" cy="237744"/>
          </a:xfrm>
          <a:prstGeom prst="rect">
            <a:avLst/>
          </a:prstGeom>
          <a:noFill/>
        </p:spPr>
        <p:txBody>
          <a:bodyPr wrap="square" lIns="0" rIns="0" tIns="0" bIns="0" anchor="ctr">
            <a:spAutoFit/>
          </a:bodyPr>
          <a:lstStyle/>
          <a:p>
            <a:pPr algn="ctr">
              <a:spcBef>
                <a:spcPts val="0"/>
              </a:spcBef>
              <a:spcAft>
                <a:spcPts val="0"/>
              </a:spcAft>
            </a:pPr>
            <a:r>
              <a:rPr sz="1210" b="0" i="0">
                <a:solidFill>
                  <a:srgbClr val="625D69"/>
                </a:solidFill>
                <a:latin typeface="Arial"/>
              </a:rPr>
              <a:t>20 %</a:t>
            </a:r>
          </a:p>
        </p:txBody>
      </p:sp>
      <p:cxnSp>
        <p:nvCxnSpPr>
          <p:cNvPr id="16" name="Connector 15"/>
          <p:cNvCxnSpPr/>
          <p:nvPr/>
        </p:nvCxnSpPr>
        <p:spPr>
          <a:xfrm>
            <a:off x="8555735" y="2606040"/>
            <a:ext cx="0" cy="2999232"/>
          </a:xfrm>
          <a:prstGeom prst="line">
            <a:avLst/>
          </a:prstGeom>
          <a:ln w="9271">
            <a:solidFill>
              <a:srgbClr val="DDD8E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44839" y="5614416"/>
            <a:ext cx="640080" cy="237744"/>
          </a:xfrm>
          <a:prstGeom prst="rect">
            <a:avLst/>
          </a:prstGeom>
          <a:noFill/>
        </p:spPr>
        <p:txBody>
          <a:bodyPr wrap="square" lIns="0" rIns="0" tIns="0" bIns="0" anchor="ctr">
            <a:spAutoFit/>
          </a:bodyPr>
          <a:lstStyle/>
          <a:p>
            <a:pPr algn="ctr">
              <a:spcBef>
                <a:spcPts val="0"/>
              </a:spcBef>
              <a:spcAft>
                <a:spcPts val="0"/>
              </a:spcAft>
            </a:pPr>
            <a:r>
              <a:rPr sz="1210" b="0" i="0">
                <a:solidFill>
                  <a:srgbClr val="625D69"/>
                </a:solidFill>
                <a:latin typeface="Arial"/>
              </a:rPr>
              <a:t>40 %</a:t>
            </a:r>
          </a:p>
        </p:txBody>
      </p:sp>
      <p:cxnSp>
        <p:nvCxnSpPr>
          <p:cNvPr id="18" name="Connector 17"/>
          <p:cNvCxnSpPr/>
          <p:nvPr/>
        </p:nvCxnSpPr>
        <p:spPr>
          <a:xfrm>
            <a:off x="10561320" y="2606040"/>
            <a:ext cx="0" cy="2999232"/>
          </a:xfrm>
          <a:prstGeom prst="line">
            <a:avLst/>
          </a:prstGeom>
          <a:ln w="9271">
            <a:solidFill>
              <a:srgbClr val="DDD8E5"/>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250424" y="5614416"/>
            <a:ext cx="640080" cy="237744"/>
          </a:xfrm>
          <a:prstGeom prst="rect">
            <a:avLst/>
          </a:prstGeom>
          <a:noFill/>
        </p:spPr>
        <p:txBody>
          <a:bodyPr wrap="square" lIns="0" rIns="0" tIns="0" bIns="0" anchor="ctr">
            <a:spAutoFit/>
          </a:bodyPr>
          <a:lstStyle/>
          <a:p>
            <a:pPr algn="ctr">
              <a:spcBef>
                <a:spcPts val="0"/>
              </a:spcBef>
              <a:spcAft>
                <a:spcPts val="0"/>
              </a:spcAft>
            </a:pPr>
            <a:r>
              <a:rPr sz="1210" b="0" i="0">
                <a:solidFill>
                  <a:srgbClr val="625D69"/>
                </a:solidFill>
                <a:latin typeface="Arial"/>
              </a:rPr>
              <a:t>60 %</a:t>
            </a:r>
          </a:p>
        </p:txBody>
      </p:sp>
      <p:sp>
        <p:nvSpPr>
          <p:cNvPr id="20" name="TextBox 19"/>
          <p:cNvSpPr txBox="1"/>
          <p:nvPr/>
        </p:nvSpPr>
        <p:spPr>
          <a:xfrm>
            <a:off x="822960" y="2752344"/>
            <a:ext cx="3566160" cy="347472"/>
          </a:xfrm>
          <a:prstGeom prst="rect">
            <a:avLst/>
          </a:prstGeom>
          <a:noFill/>
        </p:spPr>
        <p:txBody>
          <a:bodyPr wrap="square" lIns="0" rIns="0" tIns="0" bIns="0" anchor="ctr">
            <a:spAutoFit/>
          </a:bodyPr>
          <a:lstStyle/>
          <a:p>
            <a:pPr algn="l">
              <a:spcBef>
                <a:spcPts val="0"/>
              </a:spcBef>
              <a:spcAft>
                <a:spcPts val="0"/>
              </a:spcAft>
            </a:pPr>
            <a:r>
              <a:rPr sz="1700" b="0" i="0">
                <a:solidFill>
                  <a:srgbClr val="292530"/>
                </a:solidFill>
                <a:latin typeface="Arial"/>
              </a:rPr>
              <a:t>Sin matrícula observada</a:t>
            </a:r>
          </a:p>
        </p:txBody>
      </p:sp>
      <p:cxnSp>
        <p:nvCxnSpPr>
          <p:cNvPr id="21" name="Connector 20"/>
          <p:cNvCxnSpPr/>
          <p:nvPr/>
        </p:nvCxnSpPr>
        <p:spPr>
          <a:xfrm>
            <a:off x="6609316" y="2898648"/>
            <a:ext cx="1353769" cy="0"/>
          </a:xfrm>
          <a:prstGeom prst="line">
            <a:avLst/>
          </a:prstGeom>
          <a:ln w="22860">
            <a:solidFill>
              <a:srgbClr val="C9C1D4"/>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6516047" y="2805379"/>
            <a:ext cx="186537" cy="186537"/>
          </a:xfrm>
          <a:prstGeom prst="ellipse">
            <a:avLst/>
          </a:prstGeom>
          <a:solidFill>
            <a:srgbClr val="422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0789" y="2816352"/>
            <a:ext cx="164592" cy="164592"/>
          </a:xfrm>
          <a:prstGeom prst="rect">
            <a:avLst/>
          </a:prstGeom>
          <a:solidFill>
            <a:srgbClr val="A35A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52700" y="2542032"/>
            <a:ext cx="713232" cy="219456"/>
          </a:xfrm>
          <a:prstGeom prst="rect">
            <a:avLst/>
          </a:prstGeom>
          <a:noFill/>
        </p:spPr>
        <p:txBody>
          <a:bodyPr wrap="square" lIns="0" rIns="0" tIns="0" bIns="0" anchor="ctr">
            <a:spAutoFit/>
          </a:bodyPr>
          <a:lstStyle/>
          <a:p>
            <a:pPr algn="ctr">
              <a:spcBef>
                <a:spcPts val="0"/>
              </a:spcBef>
              <a:spcAft>
                <a:spcPts val="0"/>
              </a:spcAft>
            </a:pPr>
            <a:r>
              <a:rPr sz="1300" b="1" i="0">
                <a:solidFill>
                  <a:srgbClr val="422168"/>
                </a:solidFill>
                <a:latin typeface="Arial"/>
              </a:rPr>
              <a:t>20,59</a:t>
            </a:r>
          </a:p>
        </p:txBody>
      </p:sp>
      <p:sp>
        <p:nvSpPr>
          <p:cNvPr id="25" name="TextBox 24"/>
          <p:cNvSpPr txBox="1"/>
          <p:nvPr/>
        </p:nvSpPr>
        <p:spPr>
          <a:xfrm>
            <a:off x="7606469" y="3017520"/>
            <a:ext cx="713232" cy="219456"/>
          </a:xfrm>
          <a:prstGeom prst="rect">
            <a:avLst/>
          </a:prstGeom>
          <a:noFill/>
        </p:spPr>
        <p:txBody>
          <a:bodyPr wrap="square" lIns="0" rIns="0" tIns="0" bIns="0" anchor="ctr">
            <a:spAutoFit/>
          </a:bodyPr>
          <a:lstStyle/>
          <a:p>
            <a:pPr algn="ctr">
              <a:spcBef>
                <a:spcPts val="0"/>
              </a:spcBef>
              <a:spcAft>
                <a:spcPts val="0"/>
              </a:spcAft>
            </a:pPr>
            <a:r>
              <a:rPr sz="1300" b="1" i="0">
                <a:solidFill>
                  <a:srgbClr val="A35AA1"/>
                </a:solidFill>
                <a:latin typeface="Arial"/>
              </a:rPr>
              <a:t>34,09</a:t>
            </a:r>
          </a:p>
        </p:txBody>
      </p:sp>
      <p:sp>
        <p:nvSpPr>
          <p:cNvPr id="26" name="TextBox 25"/>
          <p:cNvSpPr txBox="1"/>
          <p:nvPr/>
        </p:nvSpPr>
        <p:spPr>
          <a:xfrm>
            <a:off x="822960" y="3557015"/>
            <a:ext cx="3566160" cy="347472"/>
          </a:xfrm>
          <a:prstGeom prst="rect">
            <a:avLst/>
          </a:prstGeom>
          <a:noFill/>
        </p:spPr>
        <p:txBody>
          <a:bodyPr wrap="square" lIns="0" rIns="0" tIns="0" bIns="0" anchor="ctr">
            <a:spAutoFit/>
          </a:bodyPr>
          <a:lstStyle/>
          <a:p>
            <a:pPr algn="l">
              <a:spcBef>
                <a:spcPts val="0"/>
              </a:spcBef>
              <a:spcAft>
                <a:spcPts val="0"/>
              </a:spcAft>
            </a:pPr>
            <a:r>
              <a:rPr sz="1700" b="1" i="0">
                <a:solidFill>
                  <a:srgbClr val="292530"/>
                </a:solidFill>
                <a:latin typeface="Arial"/>
              </a:rPr>
              <a:t>Universidad</a:t>
            </a:r>
          </a:p>
        </p:txBody>
      </p:sp>
      <p:cxnSp>
        <p:nvCxnSpPr>
          <p:cNvPr id="27" name="Connector 26"/>
          <p:cNvCxnSpPr/>
          <p:nvPr/>
        </p:nvCxnSpPr>
        <p:spPr>
          <a:xfrm flipH="1">
            <a:off x="7704365" y="3703320"/>
            <a:ext cx="2431771" cy="0"/>
          </a:xfrm>
          <a:prstGeom prst="line">
            <a:avLst/>
          </a:prstGeom>
          <a:ln w="22860">
            <a:solidFill>
              <a:srgbClr val="C9C1D4"/>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10042867" y="3610051"/>
            <a:ext cx="186537" cy="186537"/>
          </a:xfrm>
          <a:prstGeom prst="ellipse">
            <a:avLst/>
          </a:prstGeom>
          <a:solidFill>
            <a:srgbClr val="422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622069" y="3621024"/>
            <a:ext cx="164592" cy="164592"/>
          </a:xfrm>
          <a:prstGeom prst="rect">
            <a:avLst/>
          </a:prstGeom>
          <a:solidFill>
            <a:srgbClr val="A35A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79520" y="3346703"/>
            <a:ext cx="713232" cy="219456"/>
          </a:xfrm>
          <a:prstGeom prst="rect">
            <a:avLst/>
          </a:prstGeom>
          <a:noFill/>
        </p:spPr>
        <p:txBody>
          <a:bodyPr wrap="square" lIns="0" rIns="0" tIns="0" bIns="0" anchor="ctr">
            <a:spAutoFit/>
          </a:bodyPr>
          <a:lstStyle/>
          <a:p>
            <a:pPr algn="ctr">
              <a:spcBef>
                <a:spcPts val="0"/>
              </a:spcBef>
              <a:spcAft>
                <a:spcPts val="0"/>
              </a:spcAft>
            </a:pPr>
            <a:r>
              <a:rPr sz="1300" b="1" i="0">
                <a:solidFill>
                  <a:srgbClr val="422168"/>
                </a:solidFill>
                <a:latin typeface="Arial"/>
              </a:rPr>
              <a:t>55,76</a:t>
            </a:r>
          </a:p>
        </p:txBody>
      </p:sp>
      <p:sp>
        <p:nvSpPr>
          <p:cNvPr id="31" name="TextBox 30"/>
          <p:cNvSpPr txBox="1"/>
          <p:nvPr/>
        </p:nvSpPr>
        <p:spPr>
          <a:xfrm>
            <a:off x="7347749" y="3822191"/>
            <a:ext cx="713232" cy="219456"/>
          </a:xfrm>
          <a:prstGeom prst="rect">
            <a:avLst/>
          </a:prstGeom>
          <a:noFill/>
        </p:spPr>
        <p:txBody>
          <a:bodyPr wrap="square" lIns="0" rIns="0" tIns="0" bIns="0" anchor="ctr">
            <a:spAutoFit/>
          </a:bodyPr>
          <a:lstStyle/>
          <a:p>
            <a:pPr algn="ctr">
              <a:spcBef>
                <a:spcPts val="0"/>
              </a:spcBef>
              <a:spcAft>
                <a:spcPts val="0"/>
              </a:spcAft>
            </a:pPr>
            <a:r>
              <a:rPr sz="1300" b="1" i="0">
                <a:solidFill>
                  <a:srgbClr val="A35AA1"/>
                </a:solidFill>
                <a:latin typeface="Arial"/>
              </a:rPr>
              <a:t>31,51</a:t>
            </a:r>
          </a:p>
        </p:txBody>
      </p:sp>
      <p:sp>
        <p:nvSpPr>
          <p:cNvPr id="32" name="TextBox 31"/>
          <p:cNvSpPr txBox="1"/>
          <p:nvPr/>
        </p:nvSpPr>
        <p:spPr>
          <a:xfrm>
            <a:off x="822960" y="4361688"/>
            <a:ext cx="3566160" cy="347472"/>
          </a:xfrm>
          <a:prstGeom prst="rect">
            <a:avLst/>
          </a:prstGeom>
          <a:noFill/>
        </p:spPr>
        <p:txBody>
          <a:bodyPr wrap="square" lIns="0" rIns="0" tIns="0" bIns="0" anchor="ctr">
            <a:spAutoFit/>
          </a:bodyPr>
          <a:lstStyle/>
          <a:p>
            <a:pPr algn="l">
              <a:spcBef>
                <a:spcPts val="0"/>
              </a:spcBef>
              <a:spcAft>
                <a:spcPts val="0"/>
              </a:spcAft>
            </a:pPr>
            <a:r>
              <a:rPr sz="1700" b="0" i="0">
                <a:solidFill>
                  <a:srgbClr val="292530"/>
                </a:solidFill>
                <a:latin typeface="Arial"/>
              </a:rPr>
              <a:t>Instituto profesional</a:t>
            </a:r>
          </a:p>
        </p:txBody>
      </p:sp>
      <p:cxnSp>
        <p:nvCxnSpPr>
          <p:cNvPr id="33" name="Connector 32"/>
          <p:cNvCxnSpPr/>
          <p:nvPr/>
        </p:nvCxnSpPr>
        <p:spPr>
          <a:xfrm>
            <a:off x="6117948" y="4507992"/>
            <a:ext cx="621731" cy="0"/>
          </a:xfrm>
          <a:prstGeom prst="line">
            <a:avLst/>
          </a:prstGeom>
          <a:ln w="22860">
            <a:solidFill>
              <a:srgbClr val="C9C1D4"/>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6024679" y="4414723"/>
            <a:ext cx="186537" cy="186537"/>
          </a:xfrm>
          <a:prstGeom prst="ellipse">
            <a:avLst/>
          </a:prstGeom>
          <a:solidFill>
            <a:srgbClr val="422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657383" y="4425696"/>
            <a:ext cx="164592" cy="164592"/>
          </a:xfrm>
          <a:prstGeom prst="rect">
            <a:avLst/>
          </a:prstGeom>
          <a:solidFill>
            <a:srgbClr val="A35A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61332" y="4151376"/>
            <a:ext cx="713232" cy="219456"/>
          </a:xfrm>
          <a:prstGeom prst="rect">
            <a:avLst/>
          </a:prstGeom>
          <a:noFill/>
        </p:spPr>
        <p:txBody>
          <a:bodyPr wrap="square" lIns="0" rIns="0" tIns="0" bIns="0" anchor="ctr">
            <a:spAutoFit/>
          </a:bodyPr>
          <a:lstStyle/>
          <a:p>
            <a:pPr algn="ctr">
              <a:spcBef>
                <a:spcPts val="0"/>
              </a:spcBef>
              <a:spcAft>
                <a:spcPts val="0"/>
              </a:spcAft>
            </a:pPr>
            <a:r>
              <a:rPr sz="1300" b="1" i="0">
                <a:solidFill>
                  <a:srgbClr val="422168"/>
                </a:solidFill>
                <a:latin typeface="Arial"/>
              </a:rPr>
              <a:t>15,69</a:t>
            </a:r>
          </a:p>
        </p:txBody>
      </p:sp>
      <p:sp>
        <p:nvSpPr>
          <p:cNvPr id="37" name="TextBox 36"/>
          <p:cNvSpPr txBox="1"/>
          <p:nvPr/>
        </p:nvSpPr>
        <p:spPr>
          <a:xfrm>
            <a:off x="6383063" y="4626864"/>
            <a:ext cx="713232" cy="219456"/>
          </a:xfrm>
          <a:prstGeom prst="rect">
            <a:avLst/>
          </a:prstGeom>
          <a:noFill/>
        </p:spPr>
        <p:txBody>
          <a:bodyPr wrap="square" lIns="0" rIns="0" tIns="0" bIns="0" anchor="ctr">
            <a:spAutoFit/>
          </a:bodyPr>
          <a:lstStyle/>
          <a:p>
            <a:pPr algn="ctr">
              <a:spcBef>
                <a:spcPts val="0"/>
              </a:spcBef>
              <a:spcAft>
                <a:spcPts val="0"/>
              </a:spcAft>
            </a:pPr>
            <a:r>
              <a:rPr sz="1300" b="1" i="0">
                <a:solidFill>
                  <a:srgbClr val="A35AA1"/>
                </a:solidFill>
                <a:latin typeface="Arial"/>
              </a:rPr>
              <a:t>21,89</a:t>
            </a:r>
          </a:p>
        </p:txBody>
      </p:sp>
      <p:sp>
        <p:nvSpPr>
          <p:cNvPr id="38" name="TextBox 37"/>
          <p:cNvSpPr txBox="1"/>
          <p:nvPr/>
        </p:nvSpPr>
        <p:spPr>
          <a:xfrm>
            <a:off x="822960" y="5166359"/>
            <a:ext cx="3566160" cy="347472"/>
          </a:xfrm>
          <a:prstGeom prst="rect">
            <a:avLst/>
          </a:prstGeom>
          <a:noFill/>
        </p:spPr>
        <p:txBody>
          <a:bodyPr wrap="square" lIns="0" rIns="0" tIns="0" bIns="0" anchor="ctr">
            <a:spAutoFit/>
          </a:bodyPr>
          <a:lstStyle/>
          <a:p>
            <a:pPr algn="l">
              <a:spcBef>
                <a:spcPts val="0"/>
              </a:spcBef>
              <a:spcAft>
                <a:spcPts val="0"/>
              </a:spcAft>
            </a:pPr>
            <a:r>
              <a:rPr sz="1700" b="0" i="0">
                <a:solidFill>
                  <a:srgbClr val="292530"/>
                </a:solidFill>
                <a:latin typeface="Arial"/>
              </a:rPr>
              <a:t>Centro de formación técnica</a:t>
            </a:r>
          </a:p>
        </p:txBody>
      </p:sp>
      <p:cxnSp>
        <p:nvCxnSpPr>
          <p:cNvPr id="39" name="Connector 38"/>
          <p:cNvCxnSpPr/>
          <p:nvPr/>
        </p:nvCxnSpPr>
        <p:spPr>
          <a:xfrm>
            <a:off x="5342790" y="5312664"/>
            <a:ext cx="456270" cy="0"/>
          </a:xfrm>
          <a:prstGeom prst="line">
            <a:avLst/>
          </a:prstGeom>
          <a:ln w="22860">
            <a:solidFill>
              <a:srgbClr val="C9C1D4"/>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5249521" y="5219395"/>
            <a:ext cx="186537" cy="186537"/>
          </a:xfrm>
          <a:prstGeom prst="ellipse">
            <a:avLst/>
          </a:prstGeom>
          <a:solidFill>
            <a:srgbClr val="422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716764" y="5230368"/>
            <a:ext cx="164592" cy="164592"/>
          </a:xfrm>
          <a:prstGeom prst="rect">
            <a:avLst/>
          </a:prstGeom>
          <a:solidFill>
            <a:srgbClr val="A35A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86174" y="4956048"/>
            <a:ext cx="713232" cy="219456"/>
          </a:xfrm>
          <a:prstGeom prst="rect">
            <a:avLst/>
          </a:prstGeom>
          <a:noFill/>
        </p:spPr>
        <p:txBody>
          <a:bodyPr wrap="square" lIns="0" rIns="0" tIns="0" bIns="0" anchor="ctr">
            <a:spAutoFit/>
          </a:bodyPr>
          <a:lstStyle/>
          <a:p>
            <a:pPr algn="ctr">
              <a:spcBef>
                <a:spcPts val="0"/>
              </a:spcBef>
              <a:spcAft>
                <a:spcPts val="0"/>
              </a:spcAft>
            </a:pPr>
            <a:r>
              <a:rPr sz="1300" b="1" i="0">
                <a:solidFill>
                  <a:srgbClr val="422168"/>
                </a:solidFill>
                <a:latin typeface="Arial"/>
              </a:rPr>
              <a:t>7,96</a:t>
            </a:r>
          </a:p>
        </p:txBody>
      </p:sp>
      <p:sp>
        <p:nvSpPr>
          <p:cNvPr id="43" name="TextBox 42"/>
          <p:cNvSpPr txBox="1"/>
          <p:nvPr/>
        </p:nvSpPr>
        <p:spPr>
          <a:xfrm>
            <a:off x="5442444" y="5431536"/>
            <a:ext cx="713232" cy="219456"/>
          </a:xfrm>
          <a:prstGeom prst="rect">
            <a:avLst/>
          </a:prstGeom>
          <a:noFill/>
        </p:spPr>
        <p:txBody>
          <a:bodyPr wrap="square" lIns="0" rIns="0" tIns="0" bIns="0" anchor="ctr">
            <a:spAutoFit/>
          </a:bodyPr>
          <a:lstStyle/>
          <a:p>
            <a:pPr algn="ctr">
              <a:spcBef>
                <a:spcPts val="0"/>
              </a:spcBef>
              <a:spcAft>
                <a:spcPts val="0"/>
              </a:spcAft>
            </a:pPr>
            <a:r>
              <a:rPr sz="1300" b="1" i="0">
                <a:solidFill>
                  <a:srgbClr val="A35AA1"/>
                </a:solidFill>
                <a:latin typeface="Arial"/>
              </a:rPr>
              <a:t>12,51</a:t>
            </a:r>
          </a:p>
        </p:txBody>
      </p:sp>
      <p:sp>
        <p:nvSpPr>
          <p:cNvPr id="44" name="TextBox 43"/>
          <p:cNvSpPr txBox="1"/>
          <p:nvPr/>
        </p:nvSpPr>
        <p:spPr>
          <a:xfrm>
            <a:off x="859536" y="6062472"/>
            <a:ext cx="10607040" cy="283464"/>
          </a:xfrm>
          <a:prstGeom prst="rect">
            <a:avLst/>
          </a:prstGeom>
          <a:noFill/>
        </p:spPr>
        <p:txBody>
          <a:bodyPr wrap="square" lIns="0" rIns="0" tIns="0" bIns="0" anchor="ctr">
            <a:spAutoFit/>
          </a:bodyPr>
          <a:lstStyle/>
          <a:p>
            <a:pPr algn="l">
              <a:spcBef>
                <a:spcPts val="0"/>
              </a:spcBef>
              <a:spcAft>
                <a:spcPts val="0"/>
              </a:spcAft>
            </a:pPr>
            <a:r>
              <a:rPr sz="1300" b="0" i="0">
                <a:solidFill>
                  <a:srgbClr val="422168"/>
                </a:solidFill>
                <a:latin typeface="Arial"/>
              </a:rPr>
              <a:t>Incluye la ausencia de matrícula: la base son todos los episodios, no solo los matriculados.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cxnSp>
        <p:nvCxnSpPr>
          <p:cNvPr id="2" name="Connector 1"/>
          <p:cNvCxnSpPr/>
          <p:nvPr/>
        </p:nvCxnSpPr>
        <p:spPr>
          <a:xfrm>
            <a:off x="667512" y="283464"/>
            <a:ext cx="10844784" cy="0"/>
          </a:xfrm>
          <a:prstGeom prst="line">
            <a:avLst/>
          </a:prstGeom>
          <a:ln w="18415">
            <a:solidFill>
              <a:srgbClr val="422168"/>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67512" y="365760"/>
            <a:ext cx="10332720" cy="219456"/>
          </a:xfrm>
          <a:prstGeom prst="rect">
            <a:avLst/>
          </a:prstGeom>
          <a:noFill/>
        </p:spPr>
        <p:txBody>
          <a:bodyPr wrap="square" lIns="0" rIns="0" tIns="0" bIns="0" anchor="ctr">
            <a:spAutoFit/>
          </a:bodyPr>
          <a:lstStyle/>
          <a:p>
            <a:pPr algn="l">
              <a:spcBef>
                <a:spcPts val="0"/>
              </a:spcBef>
              <a:spcAft>
                <a:spcPts val="0"/>
              </a:spcAft>
            </a:pPr>
            <a:r>
              <a:rPr sz="1050" b="1" i="0">
                <a:solidFill>
                  <a:srgbClr val="7953A6"/>
                </a:solidFill>
                <a:latin typeface="Arial"/>
              </a:rPr>
              <a:t>07 / RESULTADOS · CONTRASTES</a:t>
            </a:r>
          </a:p>
        </p:txBody>
      </p:sp>
      <p:sp>
        <p:nvSpPr>
          <p:cNvPr id="4" name="TextBox 3"/>
          <p:cNvSpPr txBox="1"/>
          <p:nvPr/>
        </p:nvSpPr>
        <p:spPr>
          <a:xfrm>
            <a:off x="667512" y="713232"/>
            <a:ext cx="10972800" cy="1024128"/>
          </a:xfrm>
          <a:prstGeom prst="rect">
            <a:avLst/>
          </a:prstGeom>
          <a:noFill/>
        </p:spPr>
        <p:txBody>
          <a:bodyPr wrap="square" lIns="0" rIns="0" tIns="0" bIns="0" anchor="ctr">
            <a:spAutoFit/>
          </a:bodyPr>
          <a:lstStyle/>
          <a:p>
            <a:pPr algn="l">
              <a:spcBef>
                <a:spcPts val="0"/>
              </a:spcBef>
              <a:spcAft>
                <a:spcPts val="0"/>
              </a:spcAft>
            </a:pPr>
            <a:r>
              <a:rPr sz="2725" b="0" i="0">
                <a:solidFill>
                  <a:srgbClr val="292530"/>
                </a:solidFill>
                <a:latin typeface="Georgia"/>
              </a:rPr>
              <a:t>Los contrastes TP−HC varían en signo y magnitud según destino</a:t>
            </a:r>
          </a:p>
        </p:txBody>
      </p:sp>
      <p:sp>
        <p:nvSpPr>
          <p:cNvPr id="5" name="TextBox 4"/>
          <p:cNvSpPr txBox="1"/>
          <p:nvPr/>
        </p:nvSpPr>
        <p:spPr>
          <a:xfrm>
            <a:off x="758952" y="1865376"/>
            <a:ext cx="10716768" cy="310896"/>
          </a:xfrm>
          <a:prstGeom prst="rect">
            <a:avLst/>
          </a:prstGeom>
          <a:noFill/>
        </p:spPr>
        <p:txBody>
          <a:bodyPr wrap="square" lIns="0" rIns="0" tIns="0" bIns="0" anchor="ctr">
            <a:spAutoFit/>
          </a:bodyPr>
          <a:lstStyle/>
          <a:p>
            <a:pPr algn="l">
              <a:spcBef>
                <a:spcPts val="0"/>
              </a:spcBef>
              <a:spcAft>
                <a:spcPts val="0"/>
              </a:spcAft>
            </a:pPr>
            <a:r>
              <a:rPr sz="1600" b="0" i="0">
                <a:solidFill>
                  <a:srgbClr val="625D69"/>
                </a:solidFill>
                <a:latin typeface="Arial"/>
              </a:rPr>
              <a:t>Primer destino · multinomial M3 · diferencia ajustada (pp) · IC del 95 %</a:t>
            </a:r>
          </a:p>
        </p:txBody>
      </p:sp>
      <p:cxnSp>
        <p:nvCxnSpPr>
          <p:cNvPr id="6" name="Connector 5"/>
          <p:cNvCxnSpPr/>
          <p:nvPr/>
        </p:nvCxnSpPr>
        <p:spPr>
          <a:xfrm>
            <a:off x="658368" y="6400800"/>
            <a:ext cx="10872216" cy="0"/>
          </a:xfrm>
          <a:prstGeom prst="line">
            <a:avLst/>
          </a:prstGeom>
          <a:ln w="10795">
            <a:solidFill>
              <a:srgbClr val="DDD8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473952"/>
            <a:ext cx="10012680" cy="173736"/>
          </a:xfrm>
          <a:prstGeom prst="rect">
            <a:avLst/>
          </a:prstGeom>
          <a:noFill/>
        </p:spPr>
        <p:txBody>
          <a:bodyPr wrap="square" lIns="0" rIns="0" tIns="0" bIns="0" anchor="ctr">
            <a:spAutoFit/>
          </a:bodyPr>
          <a:lstStyle/>
          <a:p>
            <a:pPr algn="l">
              <a:spcBef>
                <a:spcPts val="0"/>
              </a:spcBef>
              <a:spcAft>
                <a:spcPts val="0"/>
              </a:spcAft>
            </a:pPr>
            <a:r>
              <a:rPr sz="919" b="0" i="0">
                <a:solidFill>
                  <a:srgbClr val="625D69"/>
                </a:solidFill>
                <a:latin typeface="Arial"/>
              </a:rPr>
              <a:t>Fuente: MINEDUC–SIES; elaboración propia.</a:t>
            </a:r>
          </a:p>
        </p:txBody>
      </p:sp>
      <p:cxnSp>
        <p:nvCxnSpPr>
          <p:cNvPr id="8" name="Connector 7"/>
          <p:cNvCxnSpPr/>
          <p:nvPr/>
        </p:nvCxnSpPr>
        <p:spPr>
          <a:xfrm>
            <a:off x="4617720" y="2587752"/>
            <a:ext cx="0" cy="2990088"/>
          </a:xfrm>
          <a:prstGeom prst="line">
            <a:avLst/>
          </a:prstGeom>
          <a:ln w="9144">
            <a:solidFill>
              <a:srgbClr val="DDD8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361688" y="5605272"/>
            <a:ext cx="512064" cy="246888"/>
          </a:xfrm>
          <a:prstGeom prst="rect">
            <a:avLst/>
          </a:prstGeom>
          <a:noFill/>
        </p:spPr>
        <p:txBody>
          <a:bodyPr wrap="square" lIns="0" rIns="0" tIns="0" bIns="0" anchor="ctr">
            <a:spAutoFit/>
          </a:bodyPr>
          <a:lstStyle/>
          <a:p>
            <a:pPr algn="ctr">
              <a:spcBef>
                <a:spcPts val="0"/>
              </a:spcBef>
              <a:spcAft>
                <a:spcPts val="0"/>
              </a:spcAft>
            </a:pPr>
            <a:r>
              <a:rPr sz="1240" b="0" i="0">
                <a:solidFill>
                  <a:srgbClr val="625D69"/>
                </a:solidFill>
                <a:latin typeface="Arial"/>
              </a:rPr>
              <a:t>−30</a:t>
            </a:r>
          </a:p>
        </p:txBody>
      </p:sp>
      <p:cxnSp>
        <p:nvCxnSpPr>
          <p:cNvPr id="10" name="Connector 9"/>
          <p:cNvCxnSpPr/>
          <p:nvPr/>
        </p:nvCxnSpPr>
        <p:spPr>
          <a:xfrm>
            <a:off x="5782665" y="2587752"/>
            <a:ext cx="0" cy="2990088"/>
          </a:xfrm>
          <a:prstGeom prst="line">
            <a:avLst/>
          </a:prstGeom>
          <a:ln w="9144">
            <a:solidFill>
              <a:srgbClr val="DDD8E5"/>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526633" y="5605272"/>
            <a:ext cx="512064" cy="246888"/>
          </a:xfrm>
          <a:prstGeom prst="rect">
            <a:avLst/>
          </a:prstGeom>
          <a:noFill/>
        </p:spPr>
        <p:txBody>
          <a:bodyPr wrap="square" lIns="0" rIns="0" tIns="0" bIns="0" anchor="ctr">
            <a:spAutoFit/>
          </a:bodyPr>
          <a:lstStyle/>
          <a:p>
            <a:pPr algn="ctr">
              <a:spcBef>
                <a:spcPts val="0"/>
              </a:spcBef>
              <a:spcAft>
                <a:spcPts val="0"/>
              </a:spcAft>
            </a:pPr>
            <a:r>
              <a:rPr sz="1240" b="0" i="0">
                <a:solidFill>
                  <a:srgbClr val="625D69"/>
                </a:solidFill>
                <a:latin typeface="Arial"/>
              </a:rPr>
              <a:t>−20</a:t>
            </a:r>
          </a:p>
        </p:txBody>
      </p:sp>
      <p:cxnSp>
        <p:nvCxnSpPr>
          <p:cNvPr id="12" name="Connector 11"/>
          <p:cNvCxnSpPr/>
          <p:nvPr/>
        </p:nvCxnSpPr>
        <p:spPr>
          <a:xfrm>
            <a:off x="6947611" y="2587752"/>
            <a:ext cx="0" cy="2990088"/>
          </a:xfrm>
          <a:prstGeom prst="line">
            <a:avLst/>
          </a:prstGeom>
          <a:ln w="9144">
            <a:solidFill>
              <a:srgbClr val="DDD8E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691579" y="5605272"/>
            <a:ext cx="512064" cy="246888"/>
          </a:xfrm>
          <a:prstGeom prst="rect">
            <a:avLst/>
          </a:prstGeom>
          <a:noFill/>
        </p:spPr>
        <p:txBody>
          <a:bodyPr wrap="square" lIns="0" rIns="0" tIns="0" bIns="0" anchor="ctr">
            <a:spAutoFit/>
          </a:bodyPr>
          <a:lstStyle/>
          <a:p>
            <a:pPr algn="ctr">
              <a:spcBef>
                <a:spcPts val="0"/>
              </a:spcBef>
              <a:spcAft>
                <a:spcPts val="0"/>
              </a:spcAft>
            </a:pPr>
            <a:r>
              <a:rPr sz="1240" b="0" i="0">
                <a:solidFill>
                  <a:srgbClr val="625D69"/>
                </a:solidFill>
                <a:latin typeface="Arial"/>
              </a:rPr>
              <a:t>−10</a:t>
            </a:r>
          </a:p>
        </p:txBody>
      </p:sp>
      <p:cxnSp>
        <p:nvCxnSpPr>
          <p:cNvPr id="14" name="Connector 13"/>
          <p:cNvCxnSpPr/>
          <p:nvPr/>
        </p:nvCxnSpPr>
        <p:spPr>
          <a:xfrm>
            <a:off x="8112556" y="2587752"/>
            <a:ext cx="0" cy="2990088"/>
          </a:xfrm>
          <a:prstGeom prst="line">
            <a:avLst/>
          </a:prstGeom>
          <a:ln w="19050">
            <a:solidFill>
              <a:srgbClr val="42216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856524" y="5605272"/>
            <a:ext cx="512064" cy="246888"/>
          </a:xfrm>
          <a:prstGeom prst="rect">
            <a:avLst/>
          </a:prstGeom>
          <a:noFill/>
        </p:spPr>
        <p:txBody>
          <a:bodyPr wrap="square" lIns="0" rIns="0" tIns="0" bIns="0" anchor="ctr">
            <a:spAutoFit/>
          </a:bodyPr>
          <a:lstStyle/>
          <a:p>
            <a:pPr algn="ctr">
              <a:spcBef>
                <a:spcPts val="0"/>
              </a:spcBef>
              <a:spcAft>
                <a:spcPts val="0"/>
              </a:spcAft>
            </a:pPr>
            <a:r>
              <a:rPr sz="1240" b="0" i="0">
                <a:solidFill>
                  <a:srgbClr val="625D69"/>
                </a:solidFill>
                <a:latin typeface="Arial"/>
              </a:rPr>
              <a:t>0</a:t>
            </a:r>
          </a:p>
        </p:txBody>
      </p:sp>
      <p:cxnSp>
        <p:nvCxnSpPr>
          <p:cNvPr id="16" name="Connector 15"/>
          <p:cNvCxnSpPr/>
          <p:nvPr/>
        </p:nvCxnSpPr>
        <p:spPr>
          <a:xfrm>
            <a:off x="9277502" y="2587752"/>
            <a:ext cx="0" cy="2990088"/>
          </a:xfrm>
          <a:prstGeom prst="line">
            <a:avLst/>
          </a:prstGeom>
          <a:ln w="9144">
            <a:solidFill>
              <a:srgbClr val="DDD8E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021470" y="5605272"/>
            <a:ext cx="512064" cy="246888"/>
          </a:xfrm>
          <a:prstGeom prst="rect">
            <a:avLst/>
          </a:prstGeom>
          <a:noFill/>
        </p:spPr>
        <p:txBody>
          <a:bodyPr wrap="square" lIns="0" rIns="0" tIns="0" bIns="0" anchor="ctr">
            <a:spAutoFit/>
          </a:bodyPr>
          <a:lstStyle/>
          <a:p>
            <a:pPr algn="ctr">
              <a:spcBef>
                <a:spcPts val="0"/>
              </a:spcBef>
              <a:spcAft>
                <a:spcPts val="0"/>
              </a:spcAft>
            </a:pPr>
            <a:r>
              <a:rPr sz="1240" b="0" i="0">
                <a:solidFill>
                  <a:srgbClr val="625D69"/>
                </a:solidFill>
                <a:latin typeface="Arial"/>
              </a:rPr>
              <a:t>10</a:t>
            </a:r>
          </a:p>
        </p:txBody>
      </p:sp>
      <p:cxnSp>
        <p:nvCxnSpPr>
          <p:cNvPr id="18" name="Connector 17"/>
          <p:cNvCxnSpPr/>
          <p:nvPr/>
        </p:nvCxnSpPr>
        <p:spPr>
          <a:xfrm>
            <a:off x="10442448" y="2587752"/>
            <a:ext cx="0" cy="2990088"/>
          </a:xfrm>
          <a:prstGeom prst="line">
            <a:avLst/>
          </a:prstGeom>
          <a:ln w="9144">
            <a:solidFill>
              <a:srgbClr val="DDD8E5"/>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186416" y="5605272"/>
            <a:ext cx="512064" cy="246888"/>
          </a:xfrm>
          <a:prstGeom prst="rect">
            <a:avLst/>
          </a:prstGeom>
          <a:noFill/>
        </p:spPr>
        <p:txBody>
          <a:bodyPr wrap="square" lIns="0" rIns="0" tIns="0" bIns="0" anchor="ctr">
            <a:spAutoFit/>
          </a:bodyPr>
          <a:lstStyle/>
          <a:p>
            <a:pPr algn="ctr">
              <a:spcBef>
                <a:spcPts val="0"/>
              </a:spcBef>
              <a:spcAft>
                <a:spcPts val="0"/>
              </a:spcAft>
            </a:pPr>
            <a:r>
              <a:rPr sz="1240" b="0" i="0">
                <a:solidFill>
                  <a:srgbClr val="625D69"/>
                </a:solidFill>
                <a:latin typeface="Arial"/>
              </a:rPr>
              <a:t>20</a:t>
            </a:r>
          </a:p>
        </p:txBody>
      </p:sp>
      <p:sp>
        <p:nvSpPr>
          <p:cNvPr id="20" name="TextBox 19"/>
          <p:cNvSpPr txBox="1"/>
          <p:nvPr/>
        </p:nvSpPr>
        <p:spPr>
          <a:xfrm>
            <a:off x="804672" y="2743200"/>
            <a:ext cx="3429000" cy="384048"/>
          </a:xfrm>
          <a:prstGeom prst="rect">
            <a:avLst/>
          </a:prstGeom>
          <a:noFill/>
        </p:spPr>
        <p:txBody>
          <a:bodyPr wrap="square" lIns="0" rIns="0" tIns="0" bIns="0" anchor="ctr">
            <a:spAutoFit/>
          </a:bodyPr>
          <a:lstStyle/>
          <a:p>
            <a:pPr algn="l">
              <a:spcBef>
                <a:spcPts val="0"/>
              </a:spcBef>
              <a:spcAft>
                <a:spcPts val="0"/>
              </a:spcAft>
            </a:pPr>
            <a:r>
              <a:rPr sz="1700" b="0" i="0">
                <a:solidFill>
                  <a:srgbClr val="292530"/>
                </a:solidFill>
                <a:latin typeface="Arial"/>
              </a:rPr>
              <a:t>Sin matrícula observada</a:t>
            </a:r>
          </a:p>
        </p:txBody>
      </p:sp>
      <p:cxnSp>
        <p:nvCxnSpPr>
          <p:cNvPr id="21" name="Connector 20"/>
          <p:cNvCxnSpPr/>
          <p:nvPr/>
        </p:nvCxnSpPr>
        <p:spPr>
          <a:xfrm>
            <a:off x="9574563" y="2907792"/>
            <a:ext cx="221340" cy="0"/>
          </a:xfrm>
          <a:prstGeom prst="line">
            <a:avLst/>
          </a:prstGeom>
          <a:ln w="25400">
            <a:solidFill>
              <a:srgbClr val="7953A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574563" y="2807208"/>
            <a:ext cx="0" cy="201168"/>
          </a:xfrm>
          <a:prstGeom prst="line">
            <a:avLst/>
          </a:prstGeom>
          <a:ln w="22860">
            <a:solidFill>
              <a:srgbClr val="7953A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95903" y="2807208"/>
            <a:ext cx="0" cy="201168"/>
          </a:xfrm>
          <a:prstGeom prst="line">
            <a:avLst/>
          </a:prstGeom>
          <a:ln w="22860">
            <a:solidFill>
              <a:srgbClr val="7953A6"/>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9589221" y="2811780"/>
            <a:ext cx="192024" cy="192024"/>
          </a:xfrm>
          <a:prstGeom prst="ellipse">
            <a:avLst/>
          </a:prstGeom>
          <a:solidFill>
            <a:srgbClr val="795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96144" y="2724912"/>
            <a:ext cx="1188720" cy="384048"/>
          </a:xfrm>
          <a:prstGeom prst="rect">
            <a:avLst/>
          </a:prstGeom>
          <a:noFill/>
        </p:spPr>
        <p:txBody>
          <a:bodyPr wrap="square" lIns="0" rIns="0" tIns="0" bIns="0" anchor="ctr">
            <a:spAutoFit/>
          </a:bodyPr>
          <a:lstStyle/>
          <a:p>
            <a:pPr algn="r">
              <a:spcBef>
                <a:spcPts val="0"/>
              </a:spcBef>
              <a:spcAft>
                <a:spcPts val="0"/>
              </a:spcAft>
            </a:pPr>
            <a:r>
              <a:rPr sz="1520" b="1" i="0">
                <a:solidFill>
                  <a:srgbClr val="292530"/>
                </a:solidFill>
                <a:latin typeface="Arial"/>
              </a:rPr>
              <a:t>+13,50 pp</a:t>
            </a:r>
          </a:p>
        </p:txBody>
      </p:sp>
      <p:sp>
        <p:nvSpPr>
          <p:cNvPr id="26" name="TextBox 25"/>
          <p:cNvSpPr txBox="1"/>
          <p:nvPr/>
        </p:nvSpPr>
        <p:spPr>
          <a:xfrm>
            <a:off x="804672" y="3557016"/>
            <a:ext cx="3429000" cy="384048"/>
          </a:xfrm>
          <a:prstGeom prst="rect">
            <a:avLst/>
          </a:prstGeom>
          <a:noFill/>
        </p:spPr>
        <p:txBody>
          <a:bodyPr wrap="square" lIns="0" rIns="0" tIns="0" bIns="0" anchor="ctr">
            <a:spAutoFit/>
          </a:bodyPr>
          <a:lstStyle/>
          <a:p>
            <a:pPr algn="l">
              <a:spcBef>
                <a:spcPts val="0"/>
              </a:spcBef>
              <a:spcAft>
                <a:spcPts val="0"/>
              </a:spcAft>
            </a:pPr>
            <a:r>
              <a:rPr sz="1700" b="0" i="0">
                <a:solidFill>
                  <a:srgbClr val="292530"/>
                </a:solidFill>
                <a:latin typeface="Arial"/>
              </a:rPr>
              <a:t>Universidad</a:t>
            </a:r>
          </a:p>
        </p:txBody>
      </p:sp>
      <p:cxnSp>
        <p:nvCxnSpPr>
          <p:cNvPr id="27" name="Connector 26"/>
          <p:cNvCxnSpPr/>
          <p:nvPr/>
        </p:nvCxnSpPr>
        <p:spPr>
          <a:xfrm>
            <a:off x="5145440" y="3721608"/>
            <a:ext cx="284247" cy="0"/>
          </a:xfrm>
          <a:prstGeom prst="line">
            <a:avLst/>
          </a:prstGeom>
          <a:ln w="25400">
            <a:solidFill>
              <a:srgbClr val="42216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45440" y="3621024"/>
            <a:ext cx="0" cy="201168"/>
          </a:xfrm>
          <a:prstGeom prst="line">
            <a:avLst/>
          </a:prstGeom>
          <a:ln w="22860">
            <a:solidFill>
              <a:srgbClr val="42216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429687" y="3621024"/>
            <a:ext cx="0" cy="201168"/>
          </a:xfrm>
          <a:prstGeom prst="line">
            <a:avLst/>
          </a:prstGeom>
          <a:ln w="22860">
            <a:solidFill>
              <a:srgbClr val="422168"/>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5191551" y="3625596"/>
            <a:ext cx="192024" cy="192024"/>
          </a:xfrm>
          <a:prstGeom prst="ellipse">
            <a:avLst/>
          </a:prstGeom>
          <a:solidFill>
            <a:srgbClr val="422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96144" y="3538728"/>
            <a:ext cx="1188720" cy="384048"/>
          </a:xfrm>
          <a:prstGeom prst="rect">
            <a:avLst/>
          </a:prstGeom>
          <a:noFill/>
        </p:spPr>
        <p:txBody>
          <a:bodyPr wrap="square" lIns="0" rIns="0" tIns="0" bIns="0" anchor="ctr">
            <a:spAutoFit/>
          </a:bodyPr>
          <a:lstStyle/>
          <a:p>
            <a:pPr algn="r">
              <a:spcBef>
                <a:spcPts val="0"/>
              </a:spcBef>
              <a:spcAft>
                <a:spcPts val="0"/>
              </a:spcAft>
            </a:pPr>
            <a:r>
              <a:rPr sz="1520" b="1" i="0">
                <a:solidFill>
                  <a:srgbClr val="422168"/>
                </a:solidFill>
                <a:latin typeface="Arial"/>
              </a:rPr>
              <a:t>−24,25 pp</a:t>
            </a:r>
          </a:p>
        </p:txBody>
      </p:sp>
      <p:sp>
        <p:nvSpPr>
          <p:cNvPr id="32" name="TextBox 31"/>
          <p:cNvSpPr txBox="1"/>
          <p:nvPr/>
        </p:nvSpPr>
        <p:spPr>
          <a:xfrm>
            <a:off x="804672" y="4370832"/>
            <a:ext cx="3429000" cy="384048"/>
          </a:xfrm>
          <a:prstGeom prst="rect">
            <a:avLst/>
          </a:prstGeom>
          <a:noFill/>
        </p:spPr>
        <p:txBody>
          <a:bodyPr wrap="square" lIns="0" rIns="0" tIns="0" bIns="0" anchor="ctr">
            <a:spAutoFit/>
          </a:bodyPr>
          <a:lstStyle/>
          <a:p>
            <a:pPr algn="l">
              <a:spcBef>
                <a:spcPts val="0"/>
              </a:spcBef>
              <a:spcAft>
                <a:spcPts val="0"/>
              </a:spcAft>
            </a:pPr>
            <a:r>
              <a:rPr sz="1700" b="0" i="0">
                <a:solidFill>
                  <a:srgbClr val="292530"/>
                </a:solidFill>
                <a:latin typeface="Arial"/>
              </a:rPr>
              <a:t>Instituto profesional</a:t>
            </a:r>
          </a:p>
        </p:txBody>
      </p:sp>
      <p:cxnSp>
        <p:nvCxnSpPr>
          <p:cNvPr id="33" name="Connector 32"/>
          <p:cNvCxnSpPr/>
          <p:nvPr/>
        </p:nvCxnSpPr>
        <p:spPr>
          <a:xfrm>
            <a:off x="8755606" y="4535424"/>
            <a:ext cx="158433" cy="0"/>
          </a:xfrm>
          <a:prstGeom prst="line">
            <a:avLst/>
          </a:prstGeom>
          <a:ln w="25400">
            <a:solidFill>
              <a:srgbClr val="7953A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755606" y="4434840"/>
            <a:ext cx="0" cy="201168"/>
          </a:xfrm>
          <a:prstGeom prst="line">
            <a:avLst/>
          </a:prstGeom>
          <a:ln w="22860">
            <a:solidFill>
              <a:srgbClr val="7953A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914039" y="4434840"/>
            <a:ext cx="0" cy="201168"/>
          </a:xfrm>
          <a:prstGeom prst="line">
            <a:avLst/>
          </a:prstGeom>
          <a:ln w="22860">
            <a:solidFill>
              <a:srgbClr val="7953A6"/>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8738811" y="4439412"/>
            <a:ext cx="192024" cy="192024"/>
          </a:xfrm>
          <a:prstGeom prst="ellipse">
            <a:avLst/>
          </a:prstGeom>
          <a:solidFill>
            <a:srgbClr val="795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96144" y="4352544"/>
            <a:ext cx="1188720" cy="384048"/>
          </a:xfrm>
          <a:prstGeom prst="rect">
            <a:avLst/>
          </a:prstGeom>
          <a:noFill/>
        </p:spPr>
        <p:txBody>
          <a:bodyPr wrap="square" lIns="0" rIns="0" tIns="0" bIns="0" anchor="ctr">
            <a:spAutoFit/>
          </a:bodyPr>
          <a:lstStyle/>
          <a:p>
            <a:pPr algn="r">
              <a:spcBef>
                <a:spcPts val="0"/>
              </a:spcBef>
              <a:spcAft>
                <a:spcPts val="0"/>
              </a:spcAft>
            </a:pPr>
            <a:r>
              <a:rPr sz="1520" b="1" i="0">
                <a:solidFill>
                  <a:srgbClr val="292530"/>
                </a:solidFill>
                <a:latin typeface="Arial"/>
              </a:rPr>
              <a:t>+6,20 pp</a:t>
            </a:r>
          </a:p>
        </p:txBody>
      </p:sp>
      <p:sp>
        <p:nvSpPr>
          <p:cNvPr id="38" name="TextBox 37"/>
          <p:cNvSpPr txBox="1"/>
          <p:nvPr/>
        </p:nvSpPr>
        <p:spPr>
          <a:xfrm>
            <a:off x="804672" y="5184648"/>
            <a:ext cx="3429000" cy="384048"/>
          </a:xfrm>
          <a:prstGeom prst="rect">
            <a:avLst/>
          </a:prstGeom>
          <a:noFill/>
        </p:spPr>
        <p:txBody>
          <a:bodyPr wrap="square" lIns="0" rIns="0" tIns="0" bIns="0" anchor="ctr">
            <a:spAutoFit/>
          </a:bodyPr>
          <a:lstStyle/>
          <a:p>
            <a:pPr algn="l">
              <a:spcBef>
                <a:spcPts val="0"/>
              </a:spcBef>
              <a:spcAft>
                <a:spcPts val="0"/>
              </a:spcAft>
            </a:pPr>
            <a:r>
              <a:rPr sz="1700" b="0" i="0">
                <a:solidFill>
                  <a:srgbClr val="292530"/>
                </a:solidFill>
                <a:latin typeface="Arial"/>
              </a:rPr>
              <a:t>Centro de formación técnica</a:t>
            </a:r>
          </a:p>
        </p:txBody>
      </p:sp>
      <p:cxnSp>
        <p:nvCxnSpPr>
          <p:cNvPr id="39" name="Connector 38"/>
          <p:cNvCxnSpPr/>
          <p:nvPr/>
        </p:nvCxnSpPr>
        <p:spPr>
          <a:xfrm>
            <a:off x="8591349" y="5349240"/>
            <a:ext cx="103680" cy="0"/>
          </a:xfrm>
          <a:prstGeom prst="line">
            <a:avLst/>
          </a:prstGeom>
          <a:ln w="25400">
            <a:solidFill>
              <a:srgbClr val="7953A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591349" y="5248655"/>
            <a:ext cx="0" cy="201169"/>
          </a:xfrm>
          <a:prstGeom prst="line">
            <a:avLst/>
          </a:prstGeom>
          <a:ln w="22860">
            <a:solidFill>
              <a:srgbClr val="7953A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695029" y="5248655"/>
            <a:ext cx="0" cy="201169"/>
          </a:xfrm>
          <a:prstGeom prst="line">
            <a:avLst/>
          </a:prstGeom>
          <a:ln w="22860">
            <a:solidFill>
              <a:srgbClr val="7953A6"/>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8546595" y="5253227"/>
            <a:ext cx="192024" cy="192024"/>
          </a:xfrm>
          <a:prstGeom prst="ellipse">
            <a:avLst/>
          </a:prstGeom>
          <a:solidFill>
            <a:srgbClr val="795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96144" y="5166359"/>
            <a:ext cx="1188720" cy="384048"/>
          </a:xfrm>
          <a:prstGeom prst="rect">
            <a:avLst/>
          </a:prstGeom>
          <a:noFill/>
        </p:spPr>
        <p:txBody>
          <a:bodyPr wrap="square" lIns="0" rIns="0" tIns="0" bIns="0" anchor="ctr">
            <a:spAutoFit/>
          </a:bodyPr>
          <a:lstStyle/>
          <a:p>
            <a:pPr algn="r">
              <a:spcBef>
                <a:spcPts val="0"/>
              </a:spcBef>
              <a:spcAft>
                <a:spcPts val="0"/>
              </a:spcAft>
            </a:pPr>
            <a:r>
              <a:rPr sz="1520" b="1" i="0">
                <a:solidFill>
                  <a:srgbClr val="292530"/>
                </a:solidFill>
                <a:latin typeface="Arial"/>
              </a:rPr>
              <a:t>+4,55 pp</a:t>
            </a:r>
          </a:p>
        </p:txBody>
      </p:sp>
      <p:sp>
        <p:nvSpPr>
          <p:cNvPr id="44" name="TextBox 43"/>
          <p:cNvSpPr txBox="1"/>
          <p:nvPr/>
        </p:nvSpPr>
        <p:spPr>
          <a:xfrm>
            <a:off x="4590288" y="5916168"/>
            <a:ext cx="2999232" cy="246888"/>
          </a:xfrm>
          <a:prstGeom prst="rect">
            <a:avLst/>
          </a:prstGeom>
          <a:noFill/>
        </p:spPr>
        <p:txBody>
          <a:bodyPr wrap="square" lIns="0" rIns="0" tIns="0" bIns="0" anchor="ctr">
            <a:spAutoFit/>
          </a:bodyPr>
          <a:lstStyle/>
          <a:p>
            <a:pPr algn="l">
              <a:spcBef>
                <a:spcPts val="0"/>
              </a:spcBef>
              <a:spcAft>
                <a:spcPts val="0"/>
              </a:spcAft>
            </a:pPr>
            <a:r>
              <a:rPr sz="1180" b="0" i="0">
                <a:solidFill>
                  <a:srgbClr val="625D69"/>
                </a:solidFill>
                <a:latin typeface="Arial"/>
              </a:rPr>
              <a:t>← Menor probabilidad ajustada en TP</a:t>
            </a:r>
          </a:p>
        </p:txBody>
      </p:sp>
      <p:sp>
        <p:nvSpPr>
          <p:cNvPr id="45" name="TextBox 44"/>
          <p:cNvSpPr txBox="1"/>
          <p:nvPr/>
        </p:nvSpPr>
        <p:spPr>
          <a:xfrm>
            <a:off x="7891272" y="5916168"/>
            <a:ext cx="3337560" cy="246888"/>
          </a:xfrm>
          <a:prstGeom prst="rect">
            <a:avLst/>
          </a:prstGeom>
          <a:noFill/>
        </p:spPr>
        <p:txBody>
          <a:bodyPr wrap="square" lIns="0" rIns="0" tIns="0" bIns="0" anchor="ctr">
            <a:spAutoFit/>
          </a:bodyPr>
          <a:lstStyle/>
          <a:p>
            <a:pPr algn="r">
              <a:spcBef>
                <a:spcPts val="0"/>
              </a:spcBef>
              <a:spcAft>
                <a:spcPts val="0"/>
              </a:spcAft>
            </a:pPr>
            <a:r>
              <a:rPr sz="1180" b="0" i="0">
                <a:solidFill>
                  <a:srgbClr val="625D69"/>
                </a:solidFill>
                <a:latin typeface="Arial"/>
              </a:rPr>
              <a:t>Mayor probabilidad ajustada en TP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58368" y="274320"/>
            <a:ext cx="10863072" cy="0"/>
          </a:xfrm>
          <a:prstGeom prst="line">
            <a:avLst/>
          </a:prstGeom>
          <a:ln w="8890">
            <a:solidFill>
              <a:srgbClr val="D7C9E6"/>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58368" y="274320"/>
            <a:ext cx="1856232" cy="0"/>
          </a:xfrm>
          <a:prstGeom prst="line">
            <a:avLst/>
          </a:prstGeom>
          <a:ln w="21590">
            <a:solidFill>
              <a:srgbClr val="7953A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67512" y="393192"/>
            <a:ext cx="10241280" cy="237744"/>
          </a:xfrm>
          <a:prstGeom prst="rect">
            <a:avLst/>
          </a:prstGeom>
          <a:noFill/>
        </p:spPr>
        <p:txBody>
          <a:bodyPr wrap="square" lIns="0" rIns="0" tIns="0" bIns="0">
            <a:spAutoFit/>
          </a:bodyPr>
          <a:lstStyle/>
          <a:p>
            <a:pPr algn="l">
              <a:lnSpc>
                <a:spcPct val="109000"/>
              </a:lnSpc>
              <a:spcBef>
                <a:spcPts val="0"/>
              </a:spcBef>
              <a:spcAft>
                <a:spcPts val="0"/>
              </a:spcAft>
            </a:pPr>
            <a:r>
              <a:rPr sz="1050" b="1">
                <a:solidFill>
                  <a:srgbClr val="7953A6"/>
                </a:solidFill>
                <a:latin typeface="Arial"/>
              </a:rPr>
              <a:t>07 / RESULTADOS · HETEROGENEIDAD ENTRE COHORTES</a:t>
            </a:r>
          </a:p>
        </p:txBody>
      </p:sp>
      <p:cxnSp>
        <p:nvCxnSpPr>
          <p:cNvPr id="5" name="Connector 4"/>
          <p:cNvCxnSpPr/>
          <p:nvPr/>
        </p:nvCxnSpPr>
        <p:spPr>
          <a:xfrm>
            <a:off x="658368" y="6455664"/>
            <a:ext cx="10844784" cy="0"/>
          </a:xfrm>
          <a:prstGeom prst="line">
            <a:avLst/>
          </a:prstGeom>
          <a:ln w="7620">
            <a:solidFill>
              <a:srgbClr val="F0EDF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67512" y="722376"/>
            <a:ext cx="10899648" cy="1005840"/>
          </a:xfrm>
          <a:prstGeom prst="rect">
            <a:avLst/>
          </a:prstGeom>
          <a:noFill/>
        </p:spPr>
        <p:txBody>
          <a:bodyPr wrap="square" lIns="0" rIns="0" tIns="0" bIns="0">
            <a:spAutoFit/>
          </a:bodyPr>
          <a:lstStyle/>
          <a:p>
            <a:pPr algn="l">
              <a:lnSpc>
                <a:spcPct val="106000"/>
              </a:lnSpc>
              <a:spcBef>
                <a:spcPts val="0"/>
              </a:spcBef>
              <a:spcAft>
                <a:spcPts val="0"/>
              </a:spcAft>
            </a:pPr>
            <a:r>
              <a:rPr sz="2700" b="0">
                <a:solidFill>
                  <a:srgbClr val="292530"/>
                </a:solidFill>
                <a:latin typeface="Georgia"/>
              </a:rPr>
              <a:t>Una brecha menor no implica que ambas modalidades mejoren</a:t>
            </a:r>
          </a:p>
        </p:txBody>
      </p:sp>
      <p:sp>
        <p:nvSpPr>
          <p:cNvPr id="7" name="TextBox 6"/>
          <p:cNvSpPr txBox="1"/>
          <p:nvPr/>
        </p:nvSpPr>
        <p:spPr>
          <a:xfrm>
            <a:off x="813816" y="1810512"/>
            <a:ext cx="10515600" cy="329184"/>
          </a:xfrm>
          <a:prstGeom prst="rect">
            <a:avLst/>
          </a:prstGeom>
          <a:noFill/>
        </p:spPr>
        <p:txBody>
          <a:bodyPr wrap="square" lIns="0" rIns="0" tIns="0" bIns="0">
            <a:spAutoFit/>
          </a:bodyPr>
          <a:lstStyle/>
          <a:p>
            <a:pPr algn="l">
              <a:lnSpc>
                <a:spcPct val="109000"/>
              </a:lnSpc>
              <a:spcBef>
                <a:spcPts val="0"/>
              </a:spcBef>
              <a:spcAft>
                <a:spcPts val="0"/>
              </a:spcAft>
            </a:pPr>
            <a:r>
              <a:rPr sz="1330" b="0">
                <a:solidFill>
                  <a:srgbClr val="746F7D"/>
                </a:solidFill>
                <a:latin typeface="Arial"/>
              </a:rPr>
              <a:t>Probabilidades ajustadas de matrícula (%) · seis cohortes de egreso · interacción modalidad × cohorte</a:t>
            </a:r>
          </a:p>
        </p:txBody>
      </p:sp>
      <p:cxnSp>
        <p:nvCxnSpPr>
          <p:cNvPr id="8" name="Connector 7"/>
          <p:cNvCxnSpPr/>
          <p:nvPr/>
        </p:nvCxnSpPr>
        <p:spPr>
          <a:xfrm>
            <a:off x="1545336" y="5126354"/>
            <a:ext cx="8293608" cy="0"/>
          </a:xfrm>
          <a:prstGeom prst="line">
            <a:avLst/>
          </a:prstGeom>
          <a:ln w="9525">
            <a:solidFill>
              <a:srgbClr val="E7E1E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95528" y="4989194"/>
            <a:ext cx="576072" cy="274320"/>
          </a:xfrm>
          <a:prstGeom prst="rect">
            <a:avLst/>
          </a:prstGeom>
          <a:noFill/>
        </p:spPr>
        <p:txBody>
          <a:bodyPr wrap="square" lIns="0" rIns="0" tIns="0" bIns="0">
            <a:spAutoFit/>
          </a:bodyPr>
          <a:lstStyle/>
          <a:p>
            <a:pPr algn="r">
              <a:lnSpc>
                <a:spcPct val="109000"/>
              </a:lnSpc>
              <a:spcBef>
                <a:spcPts val="0"/>
              </a:spcBef>
              <a:spcAft>
                <a:spcPts val="0"/>
              </a:spcAft>
            </a:pPr>
            <a:r>
              <a:rPr sz="1040" b="0">
                <a:solidFill>
                  <a:srgbClr val="746F7D"/>
                </a:solidFill>
                <a:latin typeface="Arial"/>
              </a:rPr>
              <a:t>60 %</a:t>
            </a:r>
          </a:p>
        </p:txBody>
      </p:sp>
      <p:cxnSp>
        <p:nvCxnSpPr>
          <p:cNvPr id="10" name="Connector 9"/>
          <p:cNvCxnSpPr/>
          <p:nvPr/>
        </p:nvCxnSpPr>
        <p:spPr>
          <a:xfrm>
            <a:off x="1545336" y="4194809"/>
            <a:ext cx="8293608" cy="0"/>
          </a:xfrm>
          <a:prstGeom prst="line">
            <a:avLst/>
          </a:prstGeom>
          <a:ln w="9525">
            <a:solidFill>
              <a:srgbClr val="E7E1E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95528" y="4057649"/>
            <a:ext cx="576072" cy="274320"/>
          </a:xfrm>
          <a:prstGeom prst="rect">
            <a:avLst/>
          </a:prstGeom>
          <a:noFill/>
        </p:spPr>
        <p:txBody>
          <a:bodyPr wrap="square" lIns="0" rIns="0" tIns="0" bIns="0">
            <a:spAutoFit/>
          </a:bodyPr>
          <a:lstStyle/>
          <a:p>
            <a:pPr algn="r">
              <a:lnSpc>
                <a:spcPct val="109000"/>
              </a:lnSpc>
              <a:spcBef>
                <a:spcPts val="0"/>
              </a:spcBef>
              <a:spcAft>
                <a:spcPts val="0"/>
              </a:spcAft>
            </a:pPr>
            <a:r>
              <a:rPr sz="1040" b="0">
                <a:solidFill>
                  <a:srgbClr val="746F7D"/>
                </a:solidFill>
                <a:latin typeface="Arial"/>
              </a:rPr>
              <a:t>70 %</a:t>
            </a:r>
          </a:p>
        </p:txBody>
      </p:sp>
      <p:cxnSp>
        <p:nvCxnSpPr>
          <p:cNvPr id="12" name="Connector 11"/>
          <p:cNvCxnSpPr/>
          <p:nvPr/>
        </p:nvCxnSpPr>
        <p:spPr>
          <a:xfrm>
            <a:off x="1545336" y="3263264"/>
            <a:ext cx="8293608" cy="0"/>
          </a:xfrm>
          <a:prstGeom prst="line">
            <a:avLst/>
          </a:prstGeom>
          <a:ln w="9525">
            <a:solidFill>
              <a:srgbClr val="E7E1E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95528" y="3126104"/>
            <a:ext cx="576072" cy="274320"/>
          </a:xfrm>
          <a:prstGeom prst="rect">
            <a:avLst/>
          </a:prstGeom>
          <a:noFill/>
        </p:spPr>
        <p:txBody>
          <a:bodyPr wrap="square" lIns="0" rIns="0" tIns="0" bIns="0">
            <a:spAutoFit/>
          </a:bodyPr>
          <a:lstStyle/>
          <a:p>
            <a:pPr algn="r">
              <a:lnSpc>
                <a:spcPct val="109000"/>
              </a:lnSpc>
              <a:spcBef>
                <a:spcPts val="0"/>
              </a:spcBef>
              <a:spcAft>
                <a:spcPts val="0"/>
              </a:spcAft>
            </a:pPr>
            <a:r>
              <a:rPr sz="1040" b="0">
                <a:solidFill>
                  <a:srgbClr val="746F7D"/>
                </a:solidFill>
                <a:latin typeface="Arial"/>
              </a:rPr>
              <a:t>80 %</a:t>
            </a:r>
          </a:p>
        </p:txBody>
      </p:sp>
      <p:cxnSp>
        <p:nvCxnSpPr>
          <p:cNvPr id="14" name="Connector 13"/>
          <p:cNvCxnSpPr/>
          <p:nvPr/>
        </p:nvCxnSpPr>
        <p:spPr>
          <a:xfrm>
            <a:off x="1545336" y="2331720"/>
            <a:ext cx="8293608" cy="0"/>
          </a:xfrm>
          <a:prstGeom prst="line">
            <a:avLst/>
          </a:prstGeom>
          <a:ln w="9525">
            <a:solidFill>
              <a:srgbClr val="E7E1E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95528" y="2194560"/>
            <a:ext cx="576072" cy="274320"/>
          </a:xfrm>
          <a:prstGeom prst="rect">
            <a:avLst/>
          </a:prstGeom>
          <a:noFill/>
        </p:spPr>
        <p:txBody>
          <a:bodyPr wrap="square" lIns="0" rIns="0" tIns="0" bIns="0">
            <a:spAutoFit/>
          </a:bodyPr>
          <a:lstStyle/>
          <a:p>
            <a:pPr algn="r">
              <a:lnSpc>
                <a:spcPct val="109000"/>
              </a:lnSpc>
              <a:spcBef>
                <a:spcPts val="0"/>
              </a:spcBef>
              <a:spcAft>
                <a:spcPts val="0"/>
              </a:spcAft>
            </a:pPr>
            <a:r>
              <a:rPr sz="1040" b="0">
                <a:solidFill>
                  <a:srgbClr val="746F7D"/>
                </a:solidFill>
                <a:latin typeface="Arial"/>
              </a:rPr>
              <a:t>90 %</a:t>
            </a:r>
          </a:p>
        </p:txBody>
      </p:sp>
      <p:cxnSp>
        <p:nvCxnSpPr>
          <p:cNvPr id="16" name="Connector 15"/>
          <p:cNvCxnSpPr/>
          <p:nvPr/>
        </p:nvCxnSpPr>
        <p:spPr>
          <a:xfrm>
            <a:off x="1545336" y="5312664"/>
            <a:ext cx="8293608" cy="0"/>
          </a:xfrm>
          <a:prstGeom prst="line">
            <a:avLst/>
          </a:prstGeom>
          <a:ln w="13970">
            <a:solidFill>
              <a:srgbClr val="D7C9E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61288" y="5440680"/>
            <a:ext cx="777240" cy="320040"/>
          </a:xfrm>
          <a:prstGeom prst="rect">
            <a:avLst/>
          </a:prstGeom>
          <a:noFill/>
        </p:spPr>
        <p:txBody>
          <a:bodyPr wrap="square" lIns="0" rIns="0" tIns="0" bIns="0">
            <a:spAutoFit/>
          </a:bodyPr>
          <a:lstStyle/>
          <a:p>
            <a:pPr algn="ctr">
              <a:lnSpc>
                <a:spcPct val="109000"/>
              </a:lnSpc>
              <a:spcBef>
                <a:spcPts val="0"/>
              </a:spcBef>
              <a:spcAft>
                <a:spcPts val="0"/>
              </a:spcAft>
            </a:pPr>
            <a:r>
              <a:rPr sz="1200" b="1">
                <a:solidFill>
                  <a:srgbClr val="292530"/>
                </a:solidFill>
                <a:latin typeface="Arial"/>
              </a:rPr>
              <a:t>2018</a:t>
            </a:r>
          </a:p>
        </p:txBody>
      </p:sp>
      <p:sp>
        <p:nvSpPr>
          <p:cNvPr id="18" name="TextBox 17"/>
          <p:cNvSpPr txBox="1"/>
          <p:nvPr/>
        </p:nvSpPr>
        <p:spPr>
          <a:xfrm>
            <a:off x="2820009" y="5440680"/>
            <a:ext cx="777240" cy="320040"/>
          </a:xfrm>
          <a:prstGeom prst="rect">
            <a:avLst/>
          </a:prstGeom>
          <a:noFill/>
        </p:spPr>
        <p:txBody>
          <a:bodyPr wrap="square" lIns="0" rIns="0" tIns="0" bIns="0">
            <a:spAutoFit/>
          </a:bodyPr>
          <a:lstStyle/>
          <a:p>
            <a:pPr algn="ctr">
              <a:lnSpc>
                <a:spcPct val="109000"/>
              </a:lnSpc>
              <a:spcBef>
                <a:spcPts val="0"/>
              </a:spcBef>
              <a:spcAft>
                <a:spcPts val="0"/>
              </a:spcAft>
            </a:pPr>
            <a:r>
              <a:rPr sz="1200" b="1">
                <a:solidFill>
                  <a:srgbClr val="292530"/>
                </a:solidFill>
                <a:latin typeface="Arial"/>
              </a:rPr>
              <a:t>2019</a:t>
            </a:r>
          </a:p>
        </p:txBody>
      </p:sp>
      <p:sp>
        <p:nvSpPr>
          <p:cNvPr id="19" name="TextBox 18"/>
          <p:cNvSpPr txBox="1"/>
          <p:nvPr/>
        </p:nvSpPr>
        <p:spPr>
          <a:xfrm>
            <a:off x="4478731" y="5440680"/>
            <a:ext cx="777240" cy="320040"/>
          </a:xfrm>
          <a:prstGeom prst="rect">
            <a:avLst/>
          </a:prstGeom>
          <a:noFill/>
        </p:spPr>
        <p:txBody>
          <a:bodyPr wrap="square" lIns="0" rIns="0" tIns="0" bIns="0">
            <a:spAutoFit/>
          </a:bodyPr>
          <a:lstStyle/>
          <a:p>
            <a:pPr algn="ctr">
              <a:lnSpc>
                <a:spcPct val="109000"/>
              </a:lnSpc>
              <a:spcBef>
                <a:spcPts val="0"/>
              </a:spcBef>
              <a:spcAft>
                <a:spcPts val="0"/>
              </a:spcAft>
            </a:pPr>
            <a:r>
              <a:rPr sz="1200" b="1">
                <a:solidFill>
                  <a:srgbClr val="292530"/>
                </a:solidFill>
                <a:latin typeface="Arial"/>
              </a:rPr>
              <a:t>2020</a:t>
            </a:r>
          </a:p>
        </p:txBody>
      </p:sp>
      <p:sp>
        <p:nvSpPr>
          <p:cNvPr id="20" name="TextBox 19"/>
          <p:cNvSpPr txBox="1"/>
          <p:nvPr/>
        </p:nvSpPr>
        <p:spPr>
          <a:xfrm>
            <a:off x="6137452" y="5440680"/>
            <a:ext cx="777240" cy="320040"/>
          </a:xfrm>
          <a:prstGeom prst="rect">
            <a:avLst/>
          </a:prstGeom>
          <a:noFill/>
        </p:spPr>
        <p:txBody>
          <a:bodyPr wrap="square" lIns="0" rIns="0" tIns="0" bIns="0">
            <a:spAutoFit/>
          </a:bodyPr>
          <a:lstStyle/>
          <a:p>
            <a:pPr algn="ctr">
              <a:lnSpc>
                <a:spcPct val="109000"/>
              </a:lnSpc>
              <a:spcBef>
                <a:spcPts val="0"/>
              </a:spcBef>
              <a:spcAft>
                <a:spcPts val="0"/>
              </a:spcAft>
            </a:pPr>
            <a:r>
              <a:rPr sz="1200" b="1">
                <a:solidFill>
                  <a:srgbClr val="292530"/>
                </a:solidFill>
                <a:latin typeface="Arial"/>
              </a:rPr>
              <a:t>2021</a:t>
            </a:r>
          </a:p>
        </p:txBody>
      </p:sp>
      <p:sp>
        <p:nvSpPr>
          <p:cNvPr id="21" name="TextBox 20"/>
          <p:cNvSpPr txBox="1"/>
          <p:nvPr/>
        </p:nvSpPr>
        <p:spPr>
          <a:xfrm>
            <a:off x="7796174" y="5440680"/>
            <a:ext cx="777240" cy="320040"/>
          </a:xfrm>
          <a:prstGeom prst="rect">
            <a:avLst/>
          </a:prstGeom>
          <a:noFill/>
        </p:spPr>
        <p:txBody>
          <a:bodyPr wrap="square" lIns="0" rIns="0" tIns="0" bIns="0">
            <a:spAutoFit/>
          </a:bodyPr>
          <a:lstStyle/>
          <a:p>
            <a:pPr algn="ctr">
              <a:lnSpc>
                <a:spcPct val="109000"/>
              </a:lnSpc>
              <a:spcBef>
                <a:spcPts val="0"/>
              </a:spcBef>
              <a:spcAft>
                <a:spcPts val="0"/>
              </a:spcAft>
            </a:pPr>
            <a:r>
              <a:rPr sz="1200" b="1">
                <a:solidFill>
                  <a:srgbClr val="292530"/>
                </a:solidFill>
                <a:latin typeface="Arial"/>
              </a:rPr>
              <a:t>2022</a:t>
            </a:r>
          </a:p>
        </p:txBody>
      </p:sp>
      <p:sp>
        <p:nvSpPr>
          <p:cNvPr id="22" name="TextBox 21"/>
          <p:cNvSpPr txBox="1"/>
          <p:nvPr/>
        </p:nvSpPr>
        <p:spPr>
          <a:xfrm>
            <a:off x="9454896" y="5440680"/>
            <a:ext cx="777240" cy="320040"/>
          </a:xfrm>
          <a:prstGeom prst="rect">
            <a:avLst/>
          </a:prstGeom>
          <a:noFill/>
        </p:spPr>
        <p:txBody>
          <a:bodyPr wrap="square" lIns="0" rIns="0" tIns="0" bIns="0">
            <a:spAutoFit/>
          </a:bodyPr>
          <a:lstStyle/>
          <a:p>
            <a:pPr algn="ctr">
              <a:lnSpc>
                <a:spcPct val="109000"/>
              </a:lnSpc>
              <a:spcBef>
                <a:spcPts val="0"/>
              </a:spcBef>
              <a:spcAft>
                <a:spcPts val="0"/>
              </a:spcAft>
            </a:pPr>
            <a:r>
              <a:rPr sz="1200" b="1">
                <a:solidFill>
                  <a:srgbClr val="292530"/>
                </a:solidFill>
                <a:latin typeface="Arial"/>
              </a:rPr>
              <a:t>2023</a:t>
            </a:r>
          </a:p>
        </p:txBody>
      </p:sp>
      <p:cxnSp>
        <p:nvCxnSpPr>
          <p:cNvPr id="23" name="Connector 22"/>
          <p:cNvCxnSpPr/>
          <p:nvPr/>
        </p:nvCxnSpPr>
        <p:spPr>
          <a:xfrm>
            <a:off x="1545336" y="2781656"/>
            <a:ext cx="1658721" cy="311136"/>
          </a:xfrm>
          <a:prstGeom prst="line">
            <a:avLst/>
          </a:prstGeom>
          <a:ln w="38100">
            <a:solidFill>
              <a:srgbClr val="42216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204057" y="3092792"/>
            <a:ext cx="1658722" cy="550543"/>
          </a:xfrm>
          <a:prstGeom prst="line">
            <a:avLst/>
          </a:prstGeom>
          <a:ln w="38100">
            <a:solidFill>
              <a:srgbClr val="42216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862779" y="3523166"/>
            <a:ext cx="1658721" cy="120169"/>
          </a:xfrm>
          <a:prstGeom prst="line">
            <a:avLst/>
          </a:prstGeom>
          <a:ln w="38100">
            <a:solidFill>
              <a:srgbClr val="42216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6521500" y="3396475"/>
            <a:ext cx="1658722" cy="126691"/>
          </a:xfrm>
          <a:prstGeom prst="line">
            <a:avLst/>
          </a:prstGeom>
          <a:ln w="38100">
            <a:solidFill>
              <a:srgbClr val="42216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180222" y="3354556"/>
            <a:ext cx="1658722" cy="41919"/>
          </a:xfrm>
          <a:prstGeom prst="line">
            <a:avLst/>
          </a:prstGeom>
          <a:ln w="38100">
            <a:solidFill>
              <a:srgbClr val="422168"/>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1470355" y="2706675"/>
            <a:ext cx="149961" cy="149961"/>
          </a:xfrm>
          <a:prstGeom prst="ellipse">
            <a:avLst/>
          </a:prstGeom>
          <a:solidFill>
            <a:srgbClr val="42216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129076" y="3017811"/>
            <a:ext cx="149961" cy="149961"/>
          </a:xfrm>
          <a:prstGeom prst="ellipse">
            <a:avLst/>
          </a:prstGeom>
          <a:solidFill>
            <a:srgbClr val="42216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787798" y="3568354"/>
            <a:ext cx="149961" cy="149961"/>
          </a:xfrm>
          <a:prstGeom prst="ellipse">
            <a:avLst/>
          </a:prstGeom>
          <a:solidFill>
            <a:srgbClr val="42216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46520" y="3448185"/>
            <a:ext cx="149961" cy="149961"/>
          </a:xfrm>
          <a:prstGeom prst="ellipse">
            <a:avLst/>
          </a:prstGeom>
          <a:solidFill>
            <a:srgbClr val="42216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105241" y="3321495"/>
            <a:ext cx="149961" cy="149961"/>
          </a:xfrm>
          <a:prstGeom prst="ellipse">
            <a:avLst/>
          </a:prstGeom>
          <a:solidFill>
            <a:srgbClr val="42216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763963" y="3279575"/>
            <a:ext cx="149961" cy="149961"/>
          </a:xfrm>
          <a:prstGeom prst="ellipse">
            <a:avLst/>
          </a:prstGeom>
          <a:solidFill>
            <a:srgbClr val="42216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545336" y="4169658"/>
            <a:ext cx="1658721" cy="287847"/>
          </a:xfrm>
          <a:prstGeom prst="line">
            <a:avLst/>
          </a:prstGeom>
          <a:ln w="38100">
            <a:solidFill>
              <a:srgbClr val="7953A6"/>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204057" y="4457505"/>
            <a:ext cx="1658722" cy="373550"/>
          </a:xfrm>
          <a:prstGeom prst="line">
            <a:avLst/>
          </a:prstGeom>
          <a:ln w="38100">
            <a:solidFill>
              <a:srgbClr val="7953A6"/>
            </a:solidFill>
            <a:prstDash val="dash"/>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862779" y="4610279"/>
            <a:ext cx="1658721" cy="220776"/>
          </a:xfrm>
          <a:prstGeom prst="line">
            <a:avLst/>
          </a:prstGeom>
          <a:ln w="38100">
            <a:solidFill>
              <a:srgbClr val="7953A6"/>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521500" y="4413723"/>
            <a:ext cx="1658722" cy="196556"/>
          </a:xfrm>
          <a:prstGeom prst="line">
            <a:avLst/>
          </a:prstGeom>
          <a:ln w="38100">
            <a:solidFill>
              <a:srgbClr val="7953A6"/>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8180222" y="4279580"/>
            <a:ext cx="1658722" cy="134143"/>
          </a:xfrm>
          <a:prstGeom prst="line">
            <a:avLst/>
          </a:prstGeom>
          <a:ln w="38100">
            <a:solidFill>
              <a:srgbClr val="7953A6"/>
            </a:solidFill>
            <a:prstDash val="dash"/>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467612" y="4091934"/>
            <a:ext cx="155448" cy="155448"/>
          </a:xfrm>
          <a:prstGeom prst="rect">
            <a:avLst/>
          </a:prstGeom>
          <a:solidFill>
            <a:srgbClr val="7953A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126333" y="4379781"/>
            <a:ext cx="155448" cy="155448"/>
          </a:xfrm>
          <a:prstGeom prst="rect">
            <a:avLst/>
          </a:prstGeom>
          <a:solidFill>
            <a:srgbClr val="7953A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785055" y="4753331"/>
            <a:ext cx="155448" cy="155448"/>
          </a:xfrm>
          <a:prstGeom prst="rect">
            <a:avLst/>
          </a:prstGeom>
          <a:solidFill>
            <a:srgbClr val="7953A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43776" y="4532555"/>
            <a:ext cx="155448" cy="155448"/>
          </a:xfrm>
          <a:prstGeom prst="rect">
            <a:avLst/>
          </a:prstGeom>
          <a:solidFill>
            <a:srgbClr val="7953A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102498" y="4335999"/>
            <a:ext cx="155448" cy="155448"/>
          </a:xfrm>
          <a:prstGeom prst="rect">
            <a:avLst/>
          </a:prstGeom>
          <a:solidFill>
            <a:srgbClr val="7953A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761219" y="4201856"/>
            <a:ext cx="155448" cy="155448"/>
          </a:xfrm>
          <a:prstGeom prst="rect">
            <a:avLst/>
          </a:prstGeom>
          <a:solidFill>
            <a:srgbClr val="7953A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60704" y="2470760"/>
            <a:ext cx="1005840" cy="237744"/>
          </a:xfrm>
          <a:prstGeom prst="rect">
            <a:avLst/>
          </a:prstGeom>
          <a:noFill/>
        </p:spPr>
        <p:txBody>
          <a:bodyPr wrap="square" lIns="0" rIns="0" tIns="0" bIns="0">
            <a:spAutoFit/>
          </a:bodyPr>
          <a:lstStyle/>
          <a:p>
            <a:pPr algn="ctr">
              <a:lnSpc>
                <a:spcPct val="109000"/>
              </a:lnSpc>
              <a:spcBef>
                <a:spcPts val="0"/>
              </a:spcBef>
              <a:spcAft>
                <a:spcPts val="0"/>
              </a:spcAft>
            </a:pPr>
            <a:r>
              <a:rPr sz="1120" b="1">
                <a:solidFill>
                  <a:srgbClr val="422168"/>
                </a:solidFill>
                <a:latin typeface="Arial"/>
              </a:rPr>
              <a:t>85,17 %</a:t>
            </a:r>
          </a:p>
        </p:txBody>
      </p:sp>
      <p:sp>
        <p:nvSpPr>
          <p:cNvPr id="46" name="TextBox 45"/>
          <p:cNvSpPr txBox="1"/>
          <p:nvPr/>
        </p:nvSpPr>
        <p:spPr>
          <a:xfrm>
            <a:off x="1060704" y="4325106"/>
            <a:ext cx="1005840" cy="237744"/>
          </a:xfrm>
          <a:prstGeom prst="rect">
            <a:avLst/>
          </a:prstGeom>
          <a:noFill/>
        </p:spPr>
        <p:txBody>
          <a:bodyPr wrap="square" lIns="0" rIns="0" tIns="0" bIns="0">
            <a:spAutoFit/>
          </a:bodyPr>
          <a:lstStyle/>
          <a:p>
            <a:pPr algn="ctr">
              <a:lnSpc>
                <a:spcPct val="109000"/>
              </a:lnSpc>
              <a:spcBef>
                <a:spcPts val="0"/>
              </a:spcBef>
              <a:spcAft>
                <a:spcPts val="0"/>
              </a:spcAft>
            </a:pPr>
            <a:r>
              <a:rPr sz="1120" b="1">
                <a:solidFill>
                  <a:srgbClr val="7953A6"/>
                </a:solidFill>
                <a:latin typeface="Arial"/>
              </a:rPr>
              <a:t>70,27 %</a:t>
            </a:r>
          </a:p>
        </p:txBody>
      </p:sp>
      <p:sp>
        <p:nvSpPr>
          <p:cNvPr id="47" name="TextBox 46"/>
          <p:cNvSpPr txBox="1"/>
          <p:nvPr/>
        </p:nvSpPr>
        <p:spPr>
          <a:xfrm>
            <a:off x="4378147" y="3332439"/>
            <a:ext cx="1005840" cy="237744"/>
          </a:xfrm>
          <a:prstGeom prst="rect">
            <a:avLst/>
          </a:prstGeom>
          <a:noFill/>
        </p:spPr>
        <p:txBody>
          <a:bodyPr wrap="square" lIns="0" rIns="0" tIns="0" bIns="0">
            <a:spAutoFit/>
          </a:bodyPr>
          <a:lstStyle/>
          <a:p>
            <a:pPr algn="ctr">
              <a:lnSpc>
                <a:spcPct val="109000"/>
              </a:lnSpc>
              <a:spcBef>
                <a:spcPts val="0"/>
              </a:spcBef>
              <a:spcAft>
                <a:spcPts val="0"/>
              </a:spcAft>
            </a:pPr>
            <a:r>
              <a:rPr sz="1120" b="1">
                <a:solidFill>
                  <a:srgbClr val="422168"/>
                </a:solidFill>
                <a:latin typeface="Arial"/>
              </a:rPr>
              <a:t>75,92 %</a:t>
            </a:r>
          </a:p>
        </p:txBody>
      </p:sp>
      <p:sp>
        <p:nvSpPr>
          <p:cNvPr id="48" name="TextBox 47"/>
          <p:cNvSpPr txBox="1"/>
          <p:nvPr/>
        </p:nvSpPr>
        <p:spPr>
          <a:xfrm>
            <a:off x="4378147" y="4986503"/>
            <a:ext cx="1005840" cy="237744"/>
          </a:xfrm>
          <a:prstGeom prst="rect">
            <a:avLst/>
          </a:prstGeom>
          <a:noFill/>
        </p:spPr>
        <p:txBody>
          <a:bodyPr wrap="square" lIns="0" rIns="0" tIns="0" bIns="0">
            <a:spAutoFit/>
          </a:bodyPr>
          <a:lstStyle/>
          <a:p>
            <a:pPr algn="ctr">
              <a:lnSpc>
                <a:spcPct val="109000"/>
              </a:lnSpc>
              <a:spcBef>
                <a:spcPts val="0"/>
              </a:spcBef>
              <a:spcAft>
                <a:spcPts val="0"/>
              </a:spcAft>
            </a:pPr>
            <a:r>
              <a:rPr sz="1120" b="1">
                <a:solidFill>
                  <a:srgbClr val="7953A6"/>
                </a:solidFill>
                <a:latin typeface="Arial"/>
              </a:rPr>
              <a:t>63,17 %</a:t>
            </a:r>
          </a:p>
        </p:txBody>
      </p:sp>
      <p:sp>
        <p:nvSpPr>
          <p:cNvPr id="49" name="TextBox 48"/>
          <p:cNvSpPr txBox="1"/>
          <p:nvPr/>
        </p:nvSpPr>
        <p:spPr>
          <a:xfrm>
            <a:off x="9354312" y="3043660"/>
            <a:ext cx="1005840" cy="237744"/>
          </a:xfrm>
          <a:prstGeom prst="rect">
            <a:avLst/>
          </a:prstGeom>
          <a:noFill/>
        </p:spPr>
        <p:txBody>
          <a:bodyPr wrap="square" lIns="0" rIns="0" tIns="0" bIns="0">
            <a:spAutoFit/>
          </a:bodyPr>
          <a:lstStyle/>
          <a:p>
            <a:pPr algn="ctr">
              <a:lnSpc>
                <a:spcPct val="109000"/>
              </a:lnSpc>
              <a:spcBef>
                <a:spcPts val="0"/>
              </a:spcBef>
              <a:spcAft>
                <a:spcPts val="0"/>
              </a:spcAft>
            </a:pPr>
            <a:r>
              <a:rPr sz="1120" b="1">
                <a:solidFill>
                  <a:srgbClr val="422168"/>
                </a:solidFill>
                <a:latin typeface="Arial"/>
              </a:rPr>
              <a:t>79,02 %</a:t>
            </a:r>
          </a:p>
        </p:txBody>
      </p:sp>
      <p:sp>
        <p:nvSpPr>
          <p:cNvPr id="50" name="TextBox 49"/>
          <p:cNvSpPr txBox="1"/>
          <p:nvPr/>
        </p:nvSpPr>
        <p:spPr>
          <a:xfrm>
            <a:off x="9354312" y="4435028"/>
            <a:ext cx="1005840" cy="237744"/>
          </a:xfrm>
          <a:prstGeom prst="rect">
            <a:avLst/>
          </a:prstGeom>
          <a:noFill/>
        </p:spPr>
        <p:txBody>
          <a:bodyPr wrap="square" lIns="0" rIns="0" tIns="0" bIns="0">
            <a:spAutoFit/>
          </a:bodyPr>
          <a:lstStyle/>
          <a:p>
            <a:pPr algn="ctr">
              <a:lnSpc>
                <a:spcPct val="109000"/>
              </a:lnSpc>
              <a:spcBef>
                <a:spcPts val="0"/>
              </a:spcBef>
              <a:spcAft>
                <a:spcPts val="0"/>
              </a:spcAft>
            </a:pPr>
            <a:r>
              <a:rPr sz="1120" b="1">
                <a:solidFill>
                  <a:srgbClr val="7953A6"/>
                </a:solidFill>
                <a:latin typeface="Arial"/>
              </a:rPr>
              <a:t>69,09 %</a:t>
            </a:r>
          </a:p>
        </p:txBody>
      </p:sp>
      <p:sp>
        <p:nvSpPr>
          <p:cNvPr id="51" name="TextBox 50"/>
          <p:cNvSpPr txBox="1"/>
          <p:nvPr/>
        </p:nvSpPr>
        <p:spPr>
          <a:xfrm>
            <a:off x="10122408" y="3226540"/>
            <a:ext cx="658368" cy="256032"/>
          </a:xfrm>
          <a:prstGeom prst="rect">
            <a:avLst/>
          </a:prstGeom>
          <a:noFill/>
        </p:spPr>
        <p:txBody>
          <a:bodyPr wrap="square" lIns="0" rIns="0" tIns="0" bIns="0">
            <a:spAutoFit/>
          </a:bodyPr>
          <a:lstStyle/>
          <a:p>
            <a:pPr algn="l">
              <a:lnSpc>
                <a:spcPct val="109000"/>
              </a:lnSpc>
              <a:spcBef>
                <a:spcPts val="0"/>
              </a:spcBef>
              <a:spcAft>
                <a:spcPts val="0"/>
              </a:spcAft>
            </a:pPr>
            <a:r>
              <a:rPr sz="1350" b="1">
                <a:solidFill>
                  <a:srgbClr val="422168"/>
                </a:solidFill>
                <a:latin typeface="Arial"/>
              </a:rPr>
              <a:t>HC</a:t>
            </a:r>
          </a:p>
        </p:txBody>
      </p:sp>
      <p:sp>
        <p:nvSpPr>
          <p:cNvPr id="52" name="TextBox 51"/>
          <p:cNvSpPr txBox="1"/>
          <p:nvPr/>
        </p:nvSpPr>
        <p:spPr>
          <a:xfrm>
            <a:off x="10122408" y="4151564"/>
            <a:ext cx="658368" cy="256032"/>
          </a:xfrm>
          <a:prstGeom prst="rect">
            <a:avLst/>
          </a:prstGeom>
          <a:noFill/>
        </p:spPr>
        <p:txBody>
          <a:bodyPr wrap="square" lIns="0" rIns="0" tIns="0" bIns="0">
            <a:spAutoFit/>
          </a:bodyPr>
          <a:lstStyle/>
          <a:p>
            <a:pPr algn="l">
              <a:lnSpc>
                <a:spcPct val="109000"/>
              </a:lnSpc>
              <a:spcBef>
                <a:spcPts val="0"/>
              </a:spcBef>
              <a:spcAft>
                <a:spcPts val="0"/>
              </a:spcAft>
            </a:pPr>
            <a:r>
              <a:rPr sz="1350" b="1">
                <a:solidFill>
                  <a:srgbClr val="7953A6"/>
                </a:solidFill>
                <a:latin typeface="Arial"/>
              </a:rPr>
              <a:t>TP</a:t>
            </a:r>
          </a:p>
        </p:txBody>
      </p:sp>
      <p:sp>
        <p:nvSpPr>
          <p:cNvPr id="53" name="Rounded Rectangle 52"/>
          <p:cNvSpPr/>
          <p:nvPr/>
        </p:nvSpPr>
        <p:spPr>
          <a:xfrm>
            <a:off x="996696" y="5852160"/>
            <a:ext cx="10213848" cy="365760"/>
          </a:xfrm>
          <a:prstGeom prst="roundRect">
            <a:avLst/>
          </a:prstGeom>
          <a:solidFill>
            <a:srgbClr val="F8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88720" y="5907024"/>
            <a:ext cx="9838944" cy="228600"/>
          </a:xfrm>
          <a:prstGeom prst="rect">
            <a:avLst/>
          </a:prstGeom>
          <a:noFill/>
        </p:spPr>
        <p:txBody>
          <a:bodyPr wrap="square" lIns="0" rIns="0" tIns="0" bIns="0">
            <a:spAutoFit/>
          </a:bodyPr>
          <a:lstStyle/>
          <a:p>
            <a:pPr algn="ctr">
              <a:lnSpc>
                <a:spcPct val="109000"/>
              </a:lnSpc>
              <a:spcBef>
                <a:spcPts val="0"/>
              </a:spcBef>
              <a:spcAft>
                <a:spcPts val="0"/>
              </a:spcAft>
            </a:pPr>
            <a:r>
              <a:rPr sz="1230" b="1">
                <a:solidFill>
                  <a:srgbClr val="422168"/>
                </a:solidFill>
                <a:latin typeface="Arial"/>
              </a:rPr>
              <a:t>Contraste TP−HC: −14,90 pp (2018) → −9,93 pp (2023)</a:t>
            </a:r>
          </a:p>
        </p:txBody>
      </p:sp>
      <p:sp>
        <p:nvSpPr>
          <p:cNvPr id="55" name="TextBox 54"/>
          <p:cNvSpPr txBox="1"/>
          <p:nvPr/>
        </p:nvSpPr>
        <p:spPr>
          <a:xfrm>
            <a:off x="658368" y="6492240"/>
            <a:ext cx="10789920" cy="182880"/>
          </a:xfrm>
          <a:prstGeom prst="rect">
            <a:avLst/>
          </a:prstGeom>
          <a:noFill/>
        </p:spPr>
        <p:txBody>
          <a:bodyPr wrap="square" lIns="0" rIns="0" tIns="0" bIns="0">
            <a:spAutoFit/>
          </a:bodyPr>
          <a:lstStyle/>
          <a:p>
            <a:pPr algn="l">
              <a:lnSpc>
                <a:spcPct val="109000"/>
              </a:lnSpc>
              <a:spcBef>
                <a:spcPts val="0"/>
              </a:spcBef>
              <a:spcAft>
                <a:spcPts val="0"/>
              </a:spcAft>
            </a:pPr>
            <a:r>
              <a:rPr sz="869" b="0">
                <a:solidFill>
                  <a:srgbClr val="847A8A"/>
                </a:solidFill>
                <a:latin typeface="Arial"/>
              </a:rPr>
              <a:t>Fuente: suplemento EPAA, tabla A3 · PPP estandarizadas sobre N=1.233.761 · Asociación, no efecto pandémico.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cxnSp>
        <p:nvCxnSpPr>
          <p:cNvPr id="2" name="Connector 1"/>
          <p:cNvCxnSpPr/>
          <p:nvPr/>
        </p:nvCxnSpPr>
        <p:spPr>
          <a:xfrm>
            <a:off x="667512" y="274320"/>
            <a:ext cx="10844784" cy="0"/>
          </a:xfrm>
          <a:prstGeom prst="line">
            <a:avLst/>
          </a:prstGeom>
          <a:ln w="14604">
            <a:solidFill>
              <a:srgbClr val="D9CEE6"/>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67512" y="274320"/>
            <a:ext cx="1856232" cy="0"/>
          </a:xfrm>
          <a:prstGeom prst="line">
            <a:avLst/>
          </a:prstGeom>
          <a:ln w="20955">
            <a:solidFill>
              <a:srgbClr val="42216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67512" y="393192"/>
            <a:ext cx="10835640" cy="283464"/>
          </a:xfrm>
          <a:prstGeom prst="rect">
            <a:avLst/>
          </a:prstGeom>
          <a:noFill/>
        </p:spPr>
        <p:txBody>
          <a:bodyPr wrap="square" lIns="0" rIns="0" tIns="0" bIns="0" anchor="t">
            <a:noAutofit/>
          </a:bodyPr>
          <a:lstStyle/>
          <a:p>
            <a:pPr algn="l">
              <a:lnSpc>
                <a:spcPct val="112000"/>
              </a:lnSpc>
            </a:pPr>
            <a:r>
              <a:rPr sz="1050" b="1" i="0">
                <a:solidFill>
                  <a:srgbClr val="7953A6"/>
                </a:solidFill>
                <a:latin typeface="Arial"/>
              </a:rPr>
              <a:t>08 / DISCUSIÓN · INTERPRETACIÓN SOCIOLÓGICA</a:t>
            </a:r>
          </a:p>
        </p:txBody>
      </p:sp>
      <p:sp>
        <p:nvSpPr>
          <p:cNvPr id="5" name="TextBox 4"/>
          <p:cNvSpPr txBox="1"/>
          <p:nvPr/>
        </p:nvSpPr>
        <p:spPr>
          <a:xfrm>
            <a:off x="667512" y="713232"/>
            <a:ext cx="10863072" cy="1115568"/>
          </a:xfrm>
          <a:prstGeom prst="rect">
            <a:avLst/>
          </a:prstGeom>
          <a:noFill/>
        </p:spPr>
        <p:txBody>
          <a:bodyPr wrap="square" lIns="0" rIns="0" tIns="0" bIns="0" anchor="t">
            <a:noAutofit/>
          </a:bodyPr>
          <a:lstStyle/>
          <a:p>
            <a:pPr algn="l">
              <a:lnSpc>
                <a:spcPct val="112000"/>
              </a:lnSpc>
            </a:pPr>
            <a:r>
              <a:rPr sz="2800" b="0" i="0">
                <a:solidFill>
                  <a:srgbClr val="292530"/>
                </a:solidFill>
                <a:latin typeface="Georgia"/>
              </a:rPr>
              <a:t>Los primeros destinos revelan una dimensión horizontal de la estratificación</a:t>
            </a:r>
          </a:p>
        </p:txBody>
      </p:sp>
      <p:cxnSp>
        <p:nvCxnSpPr>
          <p:cNvPr id="6" name="Connector 5"/>
          <p:cNvCxnSpPr/>
          <p:nvPr/>
        </p:nvCxnSpPr>
        <p:spPr>
          <a:xfrm>
            <a:off x="667512" y="6455664"/>
            <a:ext cx="10844784" cy="0"/>
          </a:xfrm>
          <a:prstGeom prst="line">
            <a:avLst/>
          </a:prstGeom>
          <a:ln w="10795">
            <a:solidFill>
              <a:srgbClr val="D9CEE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914400" y="2039112"/>
            <a:ext cx="10332720" cy="1060704"/>
          </a:xfrm>
          <a:prstGeom prst="rect">
            <a:avLst/>
          </a:prstGeom>
          <a:solidFill>
            <a:srgbClr val="F3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212848"/>
            <a:ext cx="9893808" cy="749808"/>
          </a:xfrm>
          <a:prstGeom prst="rect">
            <a:avLst/>
          </a:prstGeom>
          <a:noFill/>
        </p:spPr>
        <p:txBody>
          <a:bodyPr wrap="square" lIns="0" rIns="0" tIns="0" bIns="0" anchor="t">
            <a:noAutofit/>
          </a:bodyPr>
          <a:lstStyle/>
          <a:p>
            <a:pPr algn="l">
              <a:lnSpc>
                <a:spcPct val="112000"/>
              </a:lnSpc>
            </a:pPr>
            <a:r>
              <a:rPr sz="2160" b="0" i="0">
                <a:solidFill>
                  <a:srgbClr val="422168"/>
                </a:solidFill>
                <a:latin typeface="Georgia"/>
              </a:rPr>
              <a:t>La modalidad de egreso se asocia de modo distinto con los sectores donde comienza la continuidad postsecundaria.</a:t>
            </a:r>
          </a:p>
        </p:txBody>
      </p:sp>
      <p:cxnSp>
        <p:nvCxnSpPr>
          <p:cNvPr id="9" name="Connector 8"/>
          <p:cNvCxnSpPr/>
          <p:nvPr/>
        </p:nvCxnSpPr>
        <p:spPr>
          <a:xfrm>
            <a:off x="6089904" y="3429000"/>
            <a:ext cx="0" cy="1764792"/>
          </a:xfrm>
          <a:prstGeom prst="line">
            <a:avLst/>
          </a:prstGeom>
          <a:ln w="13970">
            <a:solidFill>
              <a:srgbClr val="D9CEE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50976" y="3429000"/>
            <a:ext cx="4818888" cy="329184"/>
          </a:xfrm>
          <a:prstGeom prst="rect">
            <a:avLst/>
          </a:prstGeom>
          <a:noFill/>
        </p:spPr>
        <p:txBody>
          <a:bodyPr wrap="square" lIns="0" rIns="0" tIns="0" bIns="0" anchor="t">
            <a:noAutofit/>
          </a:bodyPr>
          <a:lstStyle/>
          <a:p>
            <a:pPr algn="l">
              <a:lnSpc>
                <a:spcPct val="112000"/>
              </a:lnSpc>
            </a:pPr>
            <a:r>
              <a:rPr sz="1460" b="1" i="0">
                <a:solidFill>
                  <a:srgbClr val="7953A6"/>
                </a:solidFill>
                <a:latin typeface="Arial"/>
              </a:rPr>
              <a:t>TRANSICIONES SUCESIVAS</a:t>
            </a:r>
          </a:p>
        </p:txBody>
      </p:sp>
      <p:sp>
        <p:nvSpPr>
          <p:cNvPr id="11" name="TextBox 10"/>
          <p:cNvSpPr txBox="1"/>
          <p:nvPr/>
        </p:nvSpPr>
        <p:spPr>
          <a:xfrm>
            <a:off x="950976" y="3950208"/>
            <a:ext cx="4754880" cy="1152144"/>
          </a:xfrm>
          <a:prstGeom prst="rect">
            <a:avLst/>
          </a:prstGeom>
          <a:noFill/>
        </p:spPr>
        <p:txBody>
          <a:bodyPr wrap="square" lIns="0" rIns="0" tIns="0" bIns="0" anchor="t">
            <a:noAutofit/>
          </a:bodyPr>
          <a:lstStyle/>
          <a:p>
            <a:pPr algn="l">
              <a:lnSpc>
                <a:spcPct val="112000"/>
              </a:lnSpc>
            </a:pPr>
            <a:r>
              <a:rPr sz="2030" b="0" i="0">
                <a:solidFill>
                  <a:srgbClr val="292530"/>
                </a:solidFill>
                <a:latin typeface="Georgia"/>
              </a:rPr>
              <a:t>El origen escolar sitúa el resultado posterior en una trayectoria educativa previa.</a:t>
            </a:r>
          </a:p>
        </p:txBody>
      </p:sp>
      <p:sp>
        <p:nvSpPr>
          <p:cNvPr id="12" name="TextBox 11"/>
          <p:cNvSpPr txBox="1"/>
          <p:nvPr/>
        </p:nvSpPr>
        <p:spPr>
          <a:xfrm>
            <a:off x="6382512" y="3429000"/>
            <a:ext cx="4681728" cy="329184"/>
          </a:xfrm>
          <a:prstGeom prst="rect">
            <a:avLst/>
          </a:prstGeom>
          <a:noFill/>
        </p:spPr>
        <p:txBody>
          <a:bodyPr wrap="square" lIns="0" rIns="0" tIns="0" bIns="0" anchor="t">
            <a:noAutofit/>
          </a:bodyPr>
          <a:lstStyle/>
          <a:p>
            <a:pPr algn="l">
              <a:lnSpc>
                <a:spcPct val="112000"/>
              </a:lnSpc>
            </a:pPr>
            <a:r>
              <a:rPr sz="1460" b="1" i="0">
                <a:solidFill>
                  <a:srgbClr val="7953A6"/>
                </a:solidFill>
                <a:latin typeface="Arial"/>
              </a:rPr>
              <a:t>ESTRATIFICACIÓN HORIZONTAL</a:t>
            </a:r>
          </a:p>
        </p:txBody>
      </p:sp>
      <p:sp>
        <p:nvSpPr>
          <p:cNvPr id="13" name="TextBox 12"/>
          <p:cNvSpPr txBox="1"/>
          <p:nvPr/>
        </p:nvSpPr>
        <p:spPr>
          <a:xfrm>
            <a:off x="6382512" y="3950208"/>
            <a:ext cx="4681728" cy="1225296"/>
          </a:xfrm>
          <a:prstGeom prst="rect">
            <a:avLst/>
          </a:prstGeom>
          <a:noFill/>
        </p:spPr>
        <p:txBody>
          <a:bodyPr wrap="square" lIns="0" rIns="0" tIns="0" bIns="0" anchor="t">
            <a:noAutofit/>
          </a:bodyPr>
          <a:lstStyle/>
          <a:p>
            <a:pPr algn="l">
              <a:lnSpc>
                <a:spcPct val="112000"/>
              </a:lnSpc>
            </a:pPr>
            <a:r>
              <a:rPr sz="2000" b="0" i="0">
                <a:solidFill>
                  <a:srgbClr val="292530"/>
                </a:solidFill>
                <a:latin typeface="Georgia"/>
              </a:rPr>
              <a:t>Universidad, IP y CFT representan sectores distintos dentro de un mismo nivel.</a:t>
            </a:r>
          </a:p>
        </p:txBody>
      </p:sp>
      <p:cxnSp>
        <p:nvCxnSpPr>
          <p:cNvPr id="14" name="Connector 13"/>
          <p:cNvCxnSpPr/>
          <p:nvPr/>
        </p:nvCxnSpPr>
        <p:spPr>
          <a:xfrm>
            <a:off x="941832" y="5413248"/>
            <a:ext cx="10305288" cy="0"/>
          </a:xfrm>
          <a:prstGeom prst="line">
            <a:avLst/>
          </a:prstGeom>
          <a:ln w="11430">
            <a:solidFill>
              <a:srgbClr val="D9CEE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50976" y="5559552"/>
            <a:ext cx="10259568" cy="374904"/>
          </a:xfrm>
          <a:prstGeom prst="rect">
            <a:avLst/>
          </a:prstGeom>
          <a:noFill/>
        </p:spPr>
        <p:txBody>
          <a:bodyPr wrap="square" lIns="0" rIns="0" tIns="0" bIns="0" anchor="t">
            <a:noAutofit/>
          </a:bodyPr>
          <a:lstStyle/>
          <a:p>
            <a:pPr algn="l">
              <a:lnSpc>
                <a:spcPct val="112000"/>
              </a:lnSpc>
            </a:pPr>
            <a:r>
              <a:rPr sz="1400" b="0" i="0">
                <a:solidFill>
                  <a:srgbClr val="422168"/>
                </a:solidFill>
                <a:latin typeface="Arial"/>
              </a:rPr>
              <a:t>Segmentación descriptiva, no mecanismo causal ni jerarquía de calidad.</a:t>
            </a:r>
          </a:p>
        </p:txBody>
      </p:sp>
      <p:sp>
        <p:nvSpPr>
          <p:cNvPr id="16" name="TextBox 15"/>
          <p:cNvSpPr txBox="1"/>
          <p:nvPr/>
        </p:nvSpPr>
        <p:spPr>
          <a:xfrm>
            <a:off x="685800" y="6492240"/>
            <a:ext cx="10780776" cy="173736"/>
          </a:xfrm>
          <a:prstGeom prst="rect">
            <a:avLst/>
          </a:prstGeom>
          <a:noFill/>
        </p:spPr>
        <p:txBody>
          <a:bodyPr wrap="square" lIns="0" rIns="0" tIns="0" bIns="0" anchor="t">
            <a:noAutofit/>
          </a:bodyPr>
          <a:lstStyle/>
          <a:p>
            <a:pPr algn="l">
              <a:lnSpc>
                <a:spcPct val="112000"/>
              </a:lnSpc>
            </a:pPr>
            <a:r>
              <a:rPr sz="880" b="0" i="0">
                <a:solidFill>
                  <a:srgbClr val="847A8A"/>
                </a:solidFill>
                <a:latin typeface="Arial"/>
              </a:rPr>
              <a:t>Marco: Mare (1980); Gerber y Cheung (2008); Lucas (2001). Segregación: contexto documentado.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cxnSp>
        <p:nvCxnSpPr>
          <p:cNvPr id="2" name="Connector 1"/>
          <p:cNvCxnSpPr/>
          <p:nvPr/>
        </p:nvCxnSpPr>
        <p:spPr>
          <a:xfrm>
            <a:off x="667512" y="274320"/>
            <a:ext cx="10844784" cy="0"/>
          </a:xfrm>
          <a:prstGeom prst="line">
            <a:avLst/>
          </a:prstGeom>
          <a:ln w="14604">
            <a:solidFill>
              <a:srgbClr val="D9CEE6"/>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67512" y="274320"/>
            <a:ext cx="1856232" cy="0"/>
          </a:xfrm>
          <a:prstGeom prst="line">
            <a:avLst/>
          </a:prstGeom>
          <a:ln w="20955">
            <a:solidFill>
              <a:srgbClr val="42216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67512" y="393192"/>
            <a:ext cx="10835640" cy="283464"/>
          </a:xfrm>
          <a:prstGeom prst="rect">
            <a:avLst/>
          </a:prstGeom>
          <a:noFill/>
        </p:spPr>
        <p:txBody>
          <a:bodyPr wrap="square" lIns="0" rIns="0" tIns="0" bIns="0" anchor="t">
            <a:noAutofit/>
          </a:bodyPr>
          <a:lstStyle/>
          <a:p>
            <a:pPr algn="l">
              <a:lnSpc>
                <a:spcPct val="112000"/>
              </a:lnSpc>
            </a:pPr>
            <a:r>
              <a:rPr sz="1050" b="1" i="0">
                <a:solidFill>
                  <a:srgbClr val="7953A6"/>
                </a:solidFill>
                <a:latin typeface="Arial"/>
              </a:rPr>
              <a:t>09 / CONCLUSIONES · RESPUESTA EMPÍRICA</a:t>
            </a:r>
          </a:p>
        </p:txBody>
      </p:sp>
      <p:sp>
        <p:nvSpPr>
          <p:cNvPr id="5" name="TextBox 4"/>
          <p:cNvSpPr txBox="1"/>
          <p:nvPr/>
        </p:nvSpPr>
        <p:spPr>
          <a:xfrm>
            <a:off x="667512" y="713232"/>
            <a:ext cx="10863072" cy="1115568"/>
          </a:xfrm>
          <a:prstGeom prst="rect">
            <a:avLst/>
          </a:prstGeom>
          <a:noFill/>
        </p:spPr>
        <p:txBody>
          <a:bodyPr wrap="square" lIns="0" rIns="0" tIns="0" bIns="0" anchor="t">
            <a:noAutofit/>
          </a:bodyPr>
          <a:lstStyle/>
          <a:p>
            <a:pPr algn="l">
              <a:lnSpc>
                <a:spcPct val="112000"/>
              </a:lnSpc>
            </a:pPr>
            <a:r>
              <a:rPr sz="2800" b="0" i="0">
                <a:solidFill>
                  <a:srgbClr val="292530"/>
                </a:solidFill>
                <a:latin typeface="Georgia"/>
              </a:rPr>
              <a:t>No hay una sola brecha TP−HC: cambia según destino y cohorte</a:t>
            </a:r>
          </a:p>
        </p:txBody>
      </p:sp>
      <p:cxnSp>
        <p:nvCxnSpPr>
          <p:cNvPr id="6" name="Connector 5"/>
          <p:cNvCxnSpPr/>
          <p:nvPr/>
        </p:nvCxnSpPr>
        <p:spPr>
          <a:xfrm>
            <a:off x="667512" y="6455664"/>
            <a:ext cx="10844784" cy="0"/>
          </a:xfrm>
          <a:prstGeom prst="line">
            <a:avLst/>
          </a:prstGeom>
          <a:ln w="10795">
            <a:solidFill>
              <a:srgbClr val="D9CEE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914400" y="1947672"/>
            <a:ext cx="10332720" cy="886968"/>
          </a:xfrm>
          <a:prstGeom prst="rect">
            <a:avLst/>
          </a:prstGeom>
          <a:solidFill>
            <a:srgbClr val="F3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 y="2075688"/>
            <a:ext cx="9966960" cy="713232"/>
          </a:xfrm>
          <a:prstGeom prst="rect">
            <a:avLst/>
          </a:prstGeom>
          <a:noFill/>
        </p:spPr>
        <p:txBody>
          <a:bodyPr wrap="square" lIns="0" rIns="0" tIns="0" bIns="0" anchor="t">
            <a:noAutofit/>
          </a:bodyPr>
          <a:lstStyle/>
          <a:p>
            <a:pPr algn="l">
              <a:lnSpc>
                <a:spcPct val="112000"/>
              </a:lnSpc>
            </a:pPr>
            <a:r>
              <a:rPr sz="1970" b="0" i="0">
                <a:solidFill>
                  <a:srgbClr val="422168"/>
                </a:solidFill>
                <a:latin typeface="Georgia"/>
              </a:rPr>
              <a:t>La modalidad se asocia con la continuidad y con primeros destinos de signos y magnitudes diferentes.</a:t>
            </a:r>
          </a:p>
        </p:txBody>
      </p:sp>
      <p:sp>
        <p:nvSpPr>
          <p:cNvPr id="9" name="TextBox 8"/>
          <p:cNvSpPr txBox="1"/>
          <p:nvPr/>
        </p:nvSpPr>
        <p:spPr>
          <a:xfrm>
            <a:off x="1033271" y="3035808"/>
            <a:ext cx="2395728" cy="365760"/>
          </a:xfrm>
          <a:prstGeom prst="rect">
            <a:avLst/>
          </a:prstGeom>
          <a:noFill/>
        </p:spPr>
        <p:txBody>
          <a:bodyPr wrap="square" lIns="0" rIns="0" tIns="0" bIns="0" anchor="t">
            <a:noAutofit/>
          </a:bodyPr>
          <a:lstStyle/>
          <a:p>
            <a:pPr algn="l">
              <a:lnSpc>
                <a:spcPct val="112000"/>
              </a:lnSpc>
            </a:pPr>
            <a:r>
              <a:rPr sz="1320" b="1" i="0">
                <a:solidFill>
                  <a:srgbClr val="7953A6"/>
                </a:solidFill>
                <a:latin typeface="Arial"/>
              </a:rPr>
              <a:t>MATRÍCULA AJUSTADA</a:t>
            </a:r>
          </a:p>
        </p:txBody>
      </p:sp>
      <p:sp>
        <p:nvSpPr>
          <p:cNvPr id="10" name="TextBox 9"/>
          <p:cNvSpPr txBox="1"/>
          <p:nvPr/>
        </p:nvSpPr>
        <p:spPr>
          <a:xfrm>
            <a:off x="3493008" y="3003803"/>
            <a:ext cx="7424927" cy="484632"/>
          </a:xfrm>
          <a:prstGeom prst="rect">
            <a:avLst/>
          </a:prstGeom>
          <a:noFill/>
        </p:spPr>
        <p:txBody>
          <a:bodyPr wrap="square" lIns="0" rIns="0" tIns="0" bIns="0" anchor="t">
            <a:noAutofit/>
          </a:bodyPr>
          <a:lstStyle/>
          <a:p>
            <a:pPr algn="l">
              <a:lnSpc>
                <a:spcPct val="112000"/>
              </a:lnSpc>
            </a:pPr>
            <a:r>
              <a:rPr sz="1730" b="0" i="0">
                <a:solidFill>
                  <a:srgbClr val="292530"/>
                </a:solidFill>
                <a:latin typeface="Georgia"/>
              </a:rPr>
              <a:t>El contraste TP−HC permanece negativo en M3.</a:t>
            </a:r>
          </a:p>
        </p:txBody>
      </p:sp>
      <p:cxnSp>
        <p:nvCxnSpPr>
          <p:cNvPr id="11" name="Connector 10"/>
          <p:cNvCxnSpPr/>
          <p:nvPr/>
        </p:nvCxnSpPr>
        <p:spPr>
          <a:xfrm>
            <a:off x="1024128" y="3538728"/>
            <a:ext cx="10131552" cy="0"/>
          </a:xfrm>
          <a:prstGeom prst="line">
            <a:avLst/>
          </a:prstGeom>
          <a:ln w="10160">
            <a:solidFill>
              <a:srgbClr val="D9CEE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33271" y="3703320"/>
            <a:ext cx="2395728" cy="365760"/>
          </a:xfrm>
          <a:prstGeom prst="rect">
            <a:avLst/>
          </a:prstGeom>
          <a:noFill/>
        </p:spPr>
        <p:txBody>
          <a:bodyPr wrap="square" lIns="0" rIns="0" tIns="0" bIns="0" anchor="t">
            <a:noAutofit/>
          </a:bodyPr>
          <a:lstStyle/>
          <a:p>
            <a:pPr algn="l">
              <a:lnSpc>
                <a:spcPct val="112000"/>
              </a:lnSpc>
            </a:pPr>
            <a:r>
              <a:rPr sz="1320" b="1" i="0">
                <a:solidFill>
                  <a:srgbClr val="7953A6"/>
                </a:solidFill>
                <a:latin typeface="Arial"/>
              </a:rPr>
              <a:t>SECTORES DE DESTINO</a:t>
            </a:r>
          </a:p>
        </p:txBody>
      </p:sp>
      <p:sp>
        <p:nvSpPr>
          <p:cNvPr id="13" name="TextBox 12"/>
          <p:cNvSpPr txBox="1"/>
          <p:nvPr/>
        </p:nvSpPr>
        <p:spPr>
          <a:xfrm>
            <a:off x="3493008" y="3671315"/>
            <a:ext cx="7424927" cy="484632"/>
          </a:xfrm>
          <a:prstGeom prst="rect">
            <a:avLst/>
          </a:prstGeom>
          <a:noFill/>
        </p:spPr>
        <p:txBody>
          <a:bodyPr wrap="square" lIns="0" rIns="0" tIns="0" bIns="0" anchor="t">
            <a:noAutofit/>
          </a:bodyPr>
          <a:lstStyle/>
          <a:p>
            <a:pPr algn="l">
              <a:lnSpc>
                <a:spcPct val="112000"/>
              </a:lnSpc>
            </a:pPr>
            <a:r>
              <a:rPr sz="1730" b="0" i="0">
                <a:solidFill>
                  <a:srgbClr val="292530"/>
                </a:solidFill>
                <a:latin typeface="Georgia"/>
              </a:rPr>
              <a:t>Universidad: negativo; IP y CFT: positivos en el modelo principal.</a:t>
            </a:r>
          </a:p>
        </p:txBody>
      </p:sp>
      <p:cxnSp>
        <p:nvCxnSpPr>
          <p:cNvPr id="14" name="Connector 13"/>
          <p:cNvCxnSpPr/>
          <p:nvPr/>
        </p:nvCxnSpPr>
        <p:spPr>
          <a:xfrm>
            <a:off x="1024128" y="4206240"/>
            <a:ext cx="10131552" cy="0"/>
          </a:xfrm>
          <a:prstGeom prst="line">
            <a:avLst/>
          </a:prstGeom>
          <a:ln w="10160">
            <a:solidFill>
              <a:srgbClr val="D9CEE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33271" y="4370831"/>
            <a:ext cx="2395728" cy="365760"/>
          </a:xfrm>
          <a:prstGeom prst="rect">
            <a:avLst/>
          </a:prstGeom>
          <a:noFill/>
        </p:spPr>
        <p:txBody>
          <a:bodyPr wrap="square" lIns="0" rIns="0" tIns="0" bIns="0" anchor="t">
            <a:noAutofit/>
          </a:bodyPr>
          <a:lstStyle/>
          <a:p>
            <a:pPr algn="l">
              <a:lnSpc>
                <a:spcPct val="112000"/>
              </a:lnSpc>
            </a:pPr>
            <a:r>
              <a:rPr sz="1320" b="1" i="0">
                <a:solidFill>
                  <a:srgbClr val="7953A6"/>
                </a:solidFill>
                <a:latin typeface="Arial"/>
              </a:rPr>
              <a:t>COHORTES</a:t>
            </a:r>
          </a:p>
        </p:txBody>
      </p:sp>
      <p:sp>
        <p:nvSpPr>
          <p:cNvPr id="16" name="TextBox 15"/>
          <p:cNvSpPr txBox="1"/>
          <p:nvPr/>
        </p:nvSpPr>
        <p:spPr>
          <a:xfrm>
            <a:off x="3493008" y="4338827"/>
            <a:ext cx="7424927" cy="484632"/>
          </a:xfrm>
          <a:prstGeom prst="rect">
            <a:avLst/>
          </a:prstGeom>
          <a:noFill/>
        </p:spPr>
        <p:txBody>
          <a:bodyPr wrap="square" lIns="0" rIns="0" tIns="0" bIns="0" anchor="t">
            <a:noAutofit/>
          </a:bodyPr>
          <a:lstStyle/>
          <a:p>
            <a:pPr algn="l">
              <a:lnSpc>
                <a:spcPct val="112000"/>
              </a:lnSpc>
            </a:pPr>
            <a:r>
              <a:rPr sz="1730" b="0" i="0">
                <a:solidFill>
                  <a:srgbClr val="292530"/>
                </a:solidFill>
                <a:latin typeface="Georgia"/>
              </a:rPr>
              <a:t>La magnitud de la asociación cambia entre 2018 y 2023.</a:t>
            </a:r>
          </a:p>
        </p:txBody>
      </p:sp>
      <p:sp>
        <p:nvSpPr>
          <p:cNvPr id="17" name="Rectangle 16"/>
          <p:cNvSpPr/>
          <p:nvPr/>
        </p:nvSpPr>
        <p:spPr>
          <a:xfrm>
            <a:off x="950976" y="5431536"/>
            <a:ext cx="10305288" cy="585216"/>
          </a:xfrm>
          <a:prstGeom prst="rect">
            <a:avLst/>
          </a:prstGeom>
          <a:solidFill>
            <a:srgbClr val="E9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52144" y="5564124"/>
            <a:ext cx="9930384" cy="365760"/>
          </a:xfrm>
          <a:prstGeom prst="rect">
            <a:avLst/>
          </a:prstGeom>
          <a:noFill/>
        </p:spPr>
        <p:txBody>
          <a:bodyPr wrap="square" lIns="0" rIns="0" tIns="0" bIns="0" anchor="t">
            <a:noAutofit/>
          </a:bodyPr>
          <a:lstStyle/>
          <a:p>
            <a:pPr algn="l">
              <a:lnSpc>
                <a:spcPct val="112000"/>
              </a:lnSpc>
            </a:pPr>
            <a:r>
              <a:rPr sz="1440" b="1" i="0">
                <a:solidFill>
                  <a:srgbClr val="422168"/>
                </a:solidFill>
                <a:latin typeface="Arial"/>
              </a:rPr>
              <a:t>Aporte: caracterización nacional de primeras transiciones; no identifica sus causas.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cxnSp>
        <p:nvCxnSpPr>
          <p:cNvPr id="2" name="Connector 1"/>
          <p:cNvCxnSpPr/>
          <p:nvPr/>
        </p:nvCxnSpPr>
        <p:spPr>
          <a:xfrm>
            <a:off x="658368" y="237744"/>
            <a:ext cx="10799064" cy="0"/>
          </a:xfrm>
          <a:prstGeom prst="line">
            <a:avLst/>
          </a:prstGeom>
          <a:ln w="12700">
            <a:solidFill>
              <a:srgbClr val="7953A6"/>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58368" y="237744"/>
            <a:ext cx="1645920" cy="0"/>
          </a:xfrm>
          <a:prstGeom prst="line">
            <a:avLst/>
          </a:prstGeom>
          <a:ln w="27940">
            <a:solidFill>
              <a:srgbClr val="42216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722376"/>
            <a:ext cx="10972800" cy="1060704"/>
          </a:xfrm>
          <a:prstGeom prst="rect">
            <a:avLst/>
          </a:prstGeom>
          <a:noFill/>
        </p:spPr>
        <p:txBody>
          <a:bodyPr wrap="square" lIns="18288" rIns="18288" tIns="9144" bIns="9144">
            <a:spAutoFit/>
          </a:bodyPr>
          <a:lstStyle/>
          <a:p>
            <a:pPr algn="l">
              <a:spcBef>
                <a:spcPts val="0"/>
              </a:spcBef>
              <a:spcAft>
                <a:spcPts val="0"/>
              </a:spcAft>
            </a:pPr>
            <a:r>
              <a:rPr sz="2700" b="0">
                <a:solidFill>
                  <a:srgbClr val="302B37"/>
                </a:solidFill>
                <a:latin typeface="Georgia"/>
              </a:rPr>
              <a:t>Cambiar las categorías puede cambiar la lectura de IP</a:t>
            </a:r>
          </a:p>
        </p:txBody>
      </p:sp>
      <p:sp>
        <p:nvSpPr>
          <p:cNvPr id="6" name="TextBox 5"/>
          <p:cNvSpPr txBox="1"/>
          <p:nvPr/>
        </p:nvSpPr>
        <p:spPr>
          <a:xfrm>
            <a:off x="859536" y="1874519"/>
            <a:ext cx="5138928" cy="338328"/>
          </a:xfrm>
          <a:prstGeom prst="rect">
            <a:avLst/>
          </a:prstGeom>
          <a:noFill/>
        </p:spPr>
        <p:txBody>
          <a:bodyPr wrap="square" lIns="18288" rIns="18288" tIns="9144" bIns="9144">
            <a:spAutoFit/>
          </a:bodyPr>
          <a:lstStyle/>
          <a:p>
            <a:pPr algn="l">
              <a:spcBef>
                <a:spcPts val="0"/>
              </a:spcBef>
              <a:spcAft>
                <a:spcPts val="0"/>
              </a:spcAft>
            </a:pPr>
            <a:r>
              <a:rPr sz="1500" b="1">
                <a:solidFill>
                  <a:srgbClr val="7953A6"/>
                </a:solidFill>
                <a:latin typeface="Arial"/>
              </a:rPr>
              <a:t>LO QUE SE MANTIENE</a:t>
            </a:r>
          </a:p>
        </p:txBody>
      </p:sp>
      <p:sp>
        <p:nvSpPr>
          <p:cNvPr id="7" name="TextBox 6"/>
          <p:cNvSpPr txBox="1"/>
          <p:nvPr/>
        </p:nvSpPr>
        <p:spPr>
          <a:xfrm>
            <a:off x="896112" y="2359152"/>
            <a:ext cx="5074920" cy="548640"/>
          </a:xfrm>
          <a:prstGeom prst="rect">
            <a:avLst/>
          </a:prstGeom>
          <a:noFill/>
        </p:spPr>
        <p:txBody>
          <a:bodyPr wrap="square" lIns="18288" rIns="18288" tIns="9144" bIns="9144">
            <a:spAutoFit/>
          </a:bodyPr>
          <a:lstStyle/>
          <a:p>
            <a:pPr algn="l">
              <a:spcBef>
                <a:spcPts val="0"/>
              </a:spcBef>
              <a:spcAft>
                <a:spcPts val="0"/>
              </a:spcAft>
            </a:pPr>
            <a:r>
              <a:rPr sz="2600" b="0">
                <a:solidFill>
                  <a:srgbClr val="422168"/>
                </a:solidFill>
                <a:latin typeface="Georgia"/>
              </a:rPr>
              <a:t>6 reglas alternativas</a:t>
            </a:r>
          </a:p>
        </p:txBody>
      </p:sp>
      <p:sp>
        <p:nvSpPr>
          <p:cNvPr id="8" name="TextBox 7"/>
          <p:cNvSpPr txBox="1"/>
          <p:nvPr/>
        </p:nvSpPr>
        <p:spPr>
          <a:xfrm>
            <a:off x="905256" y="2962656"/>
            <a:ext cx="4800600" cy="969264"/>
          </a:xfrm>
          <a:prstGeom prst="rect">
            <a:avLst/>
          </a:prstGeom>
          <a:noFill/>
        </p:spPr>
        <p:txBody>
          <a:bodyPr wrap="square" lIns="18288" rIns="18288" tIns="9144" bIns="9144">
            <a:spAutoFit/>
          </a:bodyPr>
          <a:lstStyle/>
          <a:p>
            <a:pPr algn="l">
              <a:spcBef>
                <a:spcPts val="0"/>
              </a:spcBef>
              <a:spcAft>
                <a:spcPts val="0"/>
              </a:spcAft>
            </a:pPr>
            <a:r>
              <a:rPr sz="1800" b="0">
                <a:solidFill>
                  <a:srgbClr val="302B37"/>
                </a:solidFill>
                <a:latin typeface="Arial"/>
              </a:rPr>
              <a:t>de asignación conservan la dirección de los contrastes de universidad, IP y CFT.</a:t>
            </a:r>
          </a:p>
        </p:txBody>
      </p:sp>
      <p:sp>
        <p:nvSpPr>
          <p:cNvPr id="9" name="Rounded Rectangle 8"/>
          <p:cNvSpPr/>
          <p:nvPr/>
        </p:nvSpPr>
        <p:spPr>
          <a:xfrm>
            <a:off x="868680" y="4233672"/>
            <a:ext cx="4846320" cy="658368"/>
          </a:xfrm>
          <a:prstGeom prst="roundRect">
            <a:avLst/>
          </a:prstGeom>
          <a:solidFill>
            <a:srgbClr val="F9F6FC"/>
          </a:solidFill>
          <a:ln w="11430">
            <a:solidFill>
              <a:srgbClr val="CEB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416552"/>
            <a:ext cx="4389120" cy="274320"/>
          </a:xfrm>
          <a:prstGeom prst="rect">
            <a:avLst/>
          </a:prstGeom>
          <a:noFill/>
        </p:spPr>
        <p:txBody>
          <a:bodyPr wrap="square" lIns="18288" rIns="18288" tIns="9144" bIns="9144">
            <a:spAutoFit/>
          </a:bodyPr>
          <a:lstStyle/>
          <a:p>
            <a:pPr algn="l">
              <a:spcBef>
                <a:spcPts val="0"/>
              </a:spcBef>
              <a:spcAft>
                <a:spcPts val="0"/>
              </a:spcAft>
            </a:pPr>
            <a:r>
              <a:rPr sz="1600" b="1">
                <a:solidFill>
                  <a:srgbClr val="422168"/>
                </a:solidFill>
                <a:latin typeface="Arial"/>
              </a:rPr>
              <a:t>IP mantiene signo positivo</a:t>
            </a:r>
          </a:p>
        </p:txBody>
      </p:sp>
      <p:cxnSp>
        <p:nvCxnSpPr>
          <p:cNvPr id="11" name="Connector 10"/>
          <p:cNvCxnSpPr/>
          <p:nvPr/>
        </p:nvCxnSpPr>
        <p:spPr>
          <a:xfrm>
            <a:off x="6089904" y="1856231"/>
            <a:ext cx="0" cy="3575305"/>
          </a:xfrm>
          <a:prstGeom prst="line">
            <a:avLst/>
          </a:prstGeom>
          <a:ln w="12700">
            <a:solidFill>
              <a:srgbClr val="CEBF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37376" y="1874519"/>
            <a:ext cx="4992624" cy="338328"/>
          </a:xfrm>
          <a:prstGeom prst="rect">
            <a:avLst/>
          </a:prstGeom>
          <a:noFill/>
        </p:spPr>
        <p:txBody>
          <a:bodyPr wrap="square" lIns="18288" rIns="18288" tIns="9144" bIns="9144">
            <a:spAutoFit/>
          </a:bodyPr>
          <a:lstStyle/>
          <a:p>
            <a:pPr algn="l">
              <a:spcBef>
                <a:spcPts val="0"/>
              </a:spcBef>
              <a:spcAft>
                <a:spcPts val="0"/>
              </a:spcAft>
            </a:pPr>
            <a:r>
              <a:rPr sz="1500" b="1">
                <a:solidFill>
                  <a:srgbClr val="7953A6"/>
                </a:solidFill>
                <a:latin typeface="Arial"/>
              </a:rPr>
              <a:t>LO QUE CAMBIA</a:t>
            </a:r>
          </a:p>
        </p:txBody>
      </p:sp>
      <p:sp>
        <p:nvSpPr>
          <p:cNvPr id="13" name="TextBox 12"/>
          <p:cNvSpPr txBox="1"/>
          <p:nvPr/>
        </p:nvSpPr>
        <p:spPr>
          <a:xfrm>
            <a:off x="6446520" y="2340864"/>
            <a:ext cx="4818888" cy="804672"/>
          </a:xfrm>
          <a:prstGeom prst="rect">
            <a:avLst/>
          </a:prstGeom>
          <a:noFill/>
        </p:spPr>
        <p:txBody>
          <a:bodyPr wrap="square" lIns="18288" rIns="18288" tIns="9144" bIns="9144">
            <a:spAutoFit/>
          </a:bodyPr>
          <a:lstStyle/>
          <a:p>
            <a:pPr algn="l">
              <a:spcBef>
                <a:spcPts val="0"/>
              </a:spcBef>
              <a:spcAft>
                <a:spcPts val="0"/>
              </a:spcAft>
            </a:pPr>
            <a:r>
              <a:rPr sz="1700" b="0">
                <a:solidFill>
                  <a:srgbClr val="302B37"/>
                </a:solidFill>
                <a:latin typeface="Arial"/>
              </a:rPr>
              <a:t>Al excluir universidad, cambia el universo analítico y se reestima el contraste de IP.</a:t>
            </a:r>
          </a:p>
        </p:txBody>
      </p:sp>
      <p:sp>
        <p:nvSpPr>
          <p:cNvPr id="14" name="Rounded Rectangle 13"/>
          <p:cNvSpPr/>
          <p:nvPr/>
        </p:nvSpPr>
        <p:spPr>
          <a:xfrm>
            <a:off x="6419088" y="3236976"/>
            <a:ext cx="2267712" cy="1152144"/>
          </a:xfrm>
          <a:prstGeom prst="roundRect">
            <a:avLst/>
          </a:prstGeom>
          <a:solidFill>
            <a:srgbClr val="F9F6FC"/>
          </a:solidFill>
          <a:ln w="11430">
            <a:solidFill>
              <a:srgbClr val="CEB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833104" y="3236976"/>
            <a:ext cx="2468880" cy="1152144"/>
          </a:xfrm>
          <a:prstGeom prst="roundRect">
            <a:avLst/>
          </a:prstGeom>
          <a:solidFill>
            <a:srgbClr val="E9E2F2"/>
          </a:solidFill>
          <a:ln w="11430">
            <a:solidFill>
              <a:srgbClr val="CEB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1968" y="3438144"/>
            <a:ext cx="1947672" cy="475488"/>
          </a:xfrm>
          <a:prstGeom prst="rect">
            <a:avLst/>
          </a:prstGeom>
          <a:noFill/>
        </p:spPr>
        <p:txBody>
          <a:bodyPr wrap="square" lIns="18288" rIns="18288" tIns="9144" bIns="9144">
            <a:spAutoFit/>
          </a:bodyPr>
          <a:lstStyle/>
          <a:p>
            <a:pPr algn="l">
              <a:spcBef>
                <a:spcPts val="0"/>
              </a:spcBef>
              <a:spcAft>
                <a:spcPts val="0"/>
              </a:spcAft>
            </a:pPr>
            <a:r>
              <a:rPr sz="2400" b="0">
                <a:solidFill>
                  <a:srgbClr val="422168"/>
                </a:solidFill>
                <a:latin typeface="Georgia"/>
              </a:rPr>
              <a:t>+6,20 pp</a:t>
            </a:r>
          </a:p>
        </p:txBody>
      </p:sp>
      <p:sp>
        <p:nvSpPr>
          <p:cNvPr id="17" name="TextBox 16"/>
          <p:cNvSpPr txBox="1"/>
          <p:nvPr/>
        </p:nvSpPr>
        <p:spPr>
          <a:xfrm>
            <a:off x="6638544" y="3977639"/>
            <a:ext cx="1947672" cy="246888"/>
          </a:xfrm>
          <a:prstGeom prst="rect">
            <a:avLst/>
          </a:prstGeom>
          <a:noFill/>
        </p:spPr>
        <p:txBody>
          <a:bodyPr wrap="square" lIns="18288" rIns="18288" tIns="9144" bIns="9144">
            <a:spAutoFit/>
          </a:bodyPr>
          <a:lstStyle/>
          <a:p>
            <a:pPr algn="l">
              <a:spcBef>
                <a:spcPts val="0"/>
              </a:spcBef>
              <a:spcAft>
                <a:spcPts val="0"/>
              </a:spcAft>
            </a:pPr>
            <a:r>
              <a:rPr sz="1200" b="0">
                <a:solidFill>
                  <a:srgbClr val="716D7A"/>
                </a:solidFill>
                <a:latin typeface="Arial"/>
              </a:rPr>
              <a:t>4 destinos</a:t>
            </a:r>
          </a:p>
        </p:txBody>
      </p:sp>
      <p:sp>
        <p:nvSpPr>
          <p:cNvPr id="18" name="TextBox 17"/>
          <p:cNvSpPr txBox="1"/>
          <p:nvPr/>
        </p:nvSpPr>
        <p:spPr>
          <a:xfrm>
            <a:off x="9006840" y="3438144"/>
            <a:ext cx="2167128" cy="475488"/>
          </a:xfrm>
          <a:prstGeom prst="rect">
            <a:avLst/>
          </a:prstGeom>
          <a:noFill/>
        </p:spPr>
        <p:txBody>
          <a:bodyPr wrap="square" lIns="18288" rIns="18288" tIns="9144" bIns="9144">
            <a:spAutoFit/>
          </a:bodyPr>
          <a:lstStyle/>
          <a:p>
            <a:pPr algn="l">
              <a:spcBef>
                <a:spcPts val="0"/>
              </a:spcBef>
              <a:spcAft>
                <a:spcPts val="0"/>
              </a:spcAft>
            </a:pPr>
            <a:r>
              <a:rPr sz="2400" b="0">
                <a:solidFill>
                  <a:srgbClr val="422168"/>
                </a:solidFill>
                <a:latin typeface="Georgia"/>
              </a:rPr>
              <a:t>−4,46 pp</a:t>
            </a:r>
          </a:p>
        </p:txBody>
      </p:sp>
      <p:sp>
        <p:nvSpPr>
          <p:cNvPr id="19" name="TextBox 18"/>
          <p:cNvSpPr txBox="1"/>
          <p:nvPr/>
        </p:nvSpPr>
        <p:spPr>
          <a:xfrm>
            <a:off x="9006840" y="3977639"/>
            <a:ext cx="2194560" cy="246888"/>
          </a:xfrm>
          <a:prstGeom prst="rect">
            <a:avLst/>
          </a:prstGeom>
          <a:noFill/>
        </p:spPr>
        <p:txBody>
          <a:bodyPr wrap="square" lIns="18288" rIns="18288" tIns="9144" bIns="9144">
            <a:spAutoFit/>
          </a:bodyPr>
          <a:lstStyle/>
          <a:p>
            <a:pPr algn="l">
              <a:spcBef>
                <a:spcPts val="0"/>
              </a:spcBef>
              <a:spcAft>
                <a:spcPts val="0"/>
              </a:spcAft>
            </a:pPr>
            <a:r>
              <a:rPr sz="1200" b="0">
                <a:solidFill>
                  <a:srgbClr val="716D7A"/>
                </a:solidFill>
                <a:latin typeface="Arial"/>
              </a:rPr>
              <a:t>Sin universidad</a:t>
            </a:r>
          </a:p>
        </p:txBody>
      </p:sp>
      <p:sp>
        <p:nvSpPr>
          <p:cNvPr id="20" name="TextBox 19"/>
          <p:cNvSpPr txBox="1"/>
          <p:nvPr/>
        </p:nvSpPr>
        <p:spPr>
          <a:xfrm>
            <a:off x="6483096" y="4562856"/>
            <a:ext cx="2194560" cy="265176"/>
          </a:xfrm>
          <a:prstGeom prst="rect">
            <a:avLst/>
          </a:prstGeom>
          <a:noFill/>
        </p:spPr>
        <p:txBody>
          <a:bodyPr wrap="square" lIns="18288" rIns="18288" tIns="9144" bIns="9144">
            <a:spAutoFit/>
          </a:bodyPr>
          <a:lstStyle/>
          <a:p>
            <a:pPr algn="l">
              <a:spcBef>
                <a:spcPts val="0"/>
              </a:spcBef>
              <a:spcAft>
                <a:spcPts val="0"/>
              </a:spcAft>
            </a:pPr>
            <a:r>
              <a:rPr sz="1200" b="0">
                <a:solidFill>
                  <a:srgbClr val="716D7A"/>
                </a:solidFill>
                <a:latin typeface="Arial"/>
              </a:rPr>
              <a:t>N = 1.233.761</a:t>
            </a:r>
          </a:p>
        </p:txBody>
      </p:sp>
      <p:sp>
        <p:nvSpPr>
          <p:cNvPr id="21" name="TextBox 20"/>
          <p:cNvSpPr txBox="1"/>
          <p:nvPr/>
        </p:nvSpPr>
        <p:spPr>
          <a:xfrm>
            <a:off x="8915400" y="4562856"/>
            <a:ext cx="2194560" cy="265176"/>
          </a:xfrm>
          <a:prstGeom prst="rect">
            <a:avLst/>
          </a:prstGeom>
          <a:noFill/>
        </p:spPr>
        <p:txBody>
          <a:bodyPr wrap="square" lIns="18288" rIns="18288" tIns="9144" bIns="9144">
            <a:spAutoFit/>
          </a:bodyPr>
          <a:lstStyle/>
          <a:p>
            <a:pPr algn="l">
              <a:spcBef>
                <a:spcPts val="0"/>
              </a:spcBef>
              <a:spcAft>
                <a:spcPts val="0"/>
              </a:spcAft>
            </a:pPr>
            <a:r>
              <a:rPr sz="1200" b="0">
                <a:solidFill>
                  <a:srgbClr val="716D7A"/>
                </a:solidFill>
                <a:latin typeface="Arial"/>
              </a:rPr>
              <a:t>N = 647.747</a:t>
            </a:r>
          </a:p>
        </p:txBody>
      </p:sp>
      <p:sp>
        <p:nvSpPr>
          <p:cNvPr id="22" name="TextBox 21"/>
          <p:cNvSpPr txBox="1"/>
          <p:nvPr/>
        </p:nvSpPr>
        <p:spPr>
          <a:xfrm>
            <a:off x="6464808" y="5056632"/>
            <a:ext cx="4901184" cy="429768"/>
          </a:xfrm>
          <a:prstGeom prst="rect">
            <a:avLst/>
          </a:prstGeom>
          <a:noFill/>
        </p:spPr>
        <p:txBody>
          <a:bodyPr wrap="square" lIns="18288" rIns="18288" tIns="9144" bIns="9144">
            <a:spAutoFit/>
          </a:bodyPr>
          <a:lstStyle/>
          <a:p>
            <a:pPr algn="l">
              <a:spcBef>
                <a:spcPts val="0"/>
              </a:spcBef>
              <a:spcAft>
                <a:spcPts val="0"/>
              </a:spcAft>
            </a:pPr>
            <a:r>
              <a:rPr sz="1500" b="1">
                <a:solidFill>
                  <a:srgbClr val="302B37"/>
                </a:solidFill>
                <a:latin typeface="Arial"/>
              </a:rPr>
              <a:t>La inversión no compara poblaciones equivalentes.</a:t>
            </a:r>
          </a:p>
        </p:txBody>
      </p:sp>
      <p:cxnSp>
        <p:nvCxnSpPr>
          <p:cNvPr id="23" name="Connector 22"/>
          <p:cNvCxnSpPr/>
          <p:nvPr/>
        </p:nvCxnSpPr>
        <p:spPr>
          <a:xfrm>
            <a:off x="685800" y="6181344"/>
            <a:ext cx="10808208" cy="0"/>
          </a:xfrm>
          <a:prstGeom prst="line">
            <a:avLst/>
          </a:prstGeom>
          <a:ln w="10160">
            <a:solidFill>
              <a:srgbClr val="CEBFE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22376" y="6309360"/>
            <a:ext cx="10744200" cy="283464"/>
          </a:xfrm>
          <a:prstGeom prst="rect">
            <a:avLst/>
          </a:prstGeom>
          <a:noFill/>
        </p:spPr>
        <p:txBody>
          <a:bodyPr wrap="square" lIns="18288" rIns="18288" tIns="9144" bIns="9144">
            <a:spAutoFit/>
          </a:bodyPr>
          <a:lstStyle/>
          <a:p>
            <a:pPr algn="l">
              <a:spcBef>
                <a:spcPts val="0"/>
              </a:spcBef>
              <a:spcAft>
                <a:spcPts val="0"/>
              </a:spcAft>
            </a:pPr>
            <a:r>
              <a:rPr sz="1000" b="0">
                <a:solidFill>
                  <a:srgbClr val="716D7A"/>
                </a:solidFill>
                <a:latin typeface="Arial"/>
              </a:rPr>
              <a:t>Fuente: suplemento EPAA, tabla A4, paneles A–B · Comparaciones TP−HC en pp · Sin inferencia causal.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274320"/>
            <a:ext cx="10927080" cy="30480"/>
          </a:xfrm>
          <a:prstGeom prst="rect">
            <a:avLst/>
          </a:prstGeom>
          <a:solidFill>
            <a:srgbClr val="795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93192"/>
            <a:ext cx="9875520" cy="219456"/>
          </a:xfrm>
          <a:prstGeom prst="rect">
            <a:avLst/>
          </a:prstGeom>
          <a:noFill/>
        </p:spPr>
        <p:txBody>
          <a:bodyPr wrap="square" lIns="0" rIns="0" tIns="0" bIns="0">
            <a:spAutoFit/>
          </a:bodyPr>
          <a:lstStyle/>
          <a:p>
            <a:pPr>
              <a:spcBef>
                <a:spcPts val="0"/>
              </a:spcBef>
              <a:spcAft>
                <a:spcPts val="0"/>
              </a:spcAft>
            </a:pPr>
            <a:r>
              <a:rPr sz="1040" b="1">
                <a:solidFill>
                  <a:srgbClr val="7953A6"/>
                </a:solidFill>
                <a:latin typeface="Arial"/>
              </a:rPr>
              <a:t>REFERENCIAS · MATERIAL DE CONSULTA</a:t>
            </a:r>
          </a:p>
        </p:txBody>
      </p:sp>
      <p:sp>
        <p:nvSpPr>
          <p:cNvPr id="4" name="TextBox 3"/>
          <p:cNvSpPr txBox="1"/>
          <p:nvPr/>
        </p:nvSpPr>
        <p:spPr>
          <a:xfrm>
            <a:off x="658368" y="731520"/>
            <a:ext cx="10881360" cy="548640"/>
          </a:xfrm>
          <a:prstGeom prst="rect">
            <a:avLst/>
          </a:prstGeom>
          <a:noFill/>
        </p:spPr>
        <p:txBody>
          <a:bodyPr wrap="square" lIns="0" rIns="0" tIns="0" bIns="0">
            <a:spAutoFit/>
          </a:bodyPr>
          <a:lstStyle/>
          <a:p>
            <a:pPr>
              <a:spcBef>
                <a:spcPts val="0"/>
              </a:spcBef>
              <a:spcAft>
                <a:spcPts val="0"/>
              </a:spcAft>
            </a:pPr>
            <a:r>
              <a:rPr sz="3000" b="0">
                <a:solidFill>
                  <a:srgbClr val="373144"/>
                </a:solidFill>
                <a:latin typeface="Georgia"/>
              </a:rPr>
              <a:t>Referencias</a:t>
            </a:r>
          </a:p>
        </p:txBody>
      </p:sp>
      <p:sp>
        <p:nvSpPr>
          <p:cNvPr id="5" name="Rectangle 4"/>
          <p:cNvSpPr/>
          <p:nvPr/>
        </p:nvSpPr>
        <p:spPr>
          <a:xfrm>
            <a:off x="667512" y="1417320"/>
            <a:ext cx="10881360" cy="10795"/>
          </a:xfrm>
          <a:prstGeom prst="rect">
            <a:avLst/>
          </a:prstGeom>
          <a:solidFill>
            <a:srgbClr val="E2DD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1709928"/>
            <a:ext cx="10607040" cy="1051560"/>
          </a:xfrm>
          <a:prstGeom prst="rect">
            <a:avLst/>
          </a:prstGeom>
          <a:noFill/>
        </p:spPr>
        <p:txBody>
          <a:bodyPr wrap="square" lIns="0" rIns="0" tIns="0" bIns="0">
            <a:spAutoFit/>
          </a:bodyPr>
          <a:lstStyle/>
          <a:p>
            <a:pPr algn="l" marL="274320" indent="-274320">
              <a:spcBef>
                <a:spcPts val="0"/>
              </a:spcBef>
              <a:spcAft>
                <a:spcPts val="0"/>
              </a:spcAft>
            </a:pPr>
            <a:r>
              <a:rPr sz="1390" i="0">
                <a:solidFill>
                  <a:srgbClr val="373144"/>
                </a:solidFill>
                <a:latin typeface="Arial"/>
              </a:rPr>
              <a:t>Alvarado-Urbina, A. (2025). Educational trajectories of indigenous students in Chile: Horizontal stratification in secondary and tertiary education. </a:t>
            </a:r>
            <a:r>
              <a:rPr sz="1390" i="1">
                <a:solidFill>
                  <a:srgbClr val="373144"/>
                </a:solidFill>
                <a:latin typeface="Arial"/>
              </a:rPr>
              <a:t>Research in Social Stratification and Mobility, 98</a:t>
            </a:r>
            <a:r>
              <a:rPr sz="1390">
                <a:solidFill>
                  <a:srgbClr val="373144"/>
                </a:solidFill>
                <a:latin typeface="Arial"/>
              </a:rPr>
              <a:t>, Article 101068. </a:t>
            </a:r>
            <a:r>
              <a:rPr sz="1390">
                <a:solidFill>
                  <a:srgbClr val="7953A6"/>
                </a:solidFill>
                <a:latin typeface="Arial"/>
                <a:hlinkClick r:id="rId2"/>
              </a:rPr>
              <a:t>https://doi.org/10.1016/j.rssm.2025.101068</a:t>
            </a:r>
          </a:p>
        </p:txBody>
      </p:sp>
      <p:sp>
        <p:nvSpPr>
          <p:cNvPr id="7" name="Rectangle 6"/>
          <p:cNvSpPr/>
          <p:nvPr/>
        </p:nvSpPr>
        <p:spPr>
          <a:xfrm>
            <a:off x="777240" y="2596896"/>
            <a:ext cx="10561320" cy="5461"/>
          </a:xfrm>
          <a:prstGeom prst="rect">
            <a:avLst/>
          </a:prstGeom>
          <a:solidFill>
            <a:srgbClr val="ED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2784348"/>
            <a:ext cx="10607040" cy="1051560"/>
          </a:xfrm>
          <a:prstGeom prst="rect">
            <a:avLst/>
          </a:prstGeom>
          <a:noFill/>
        </p:spPr>
        <p:txBody>
          <a:bodyPr wrap="square" lIns="0" rIns="0" tIns="0" bIns="0">
            <a:spAutoFit/>
          </a:bodyPr>
          <a:lstStyle/>
          <a:p>
            <a:pPr algn="l" marL="274320" indent="-274320">
              <a:spcBef>
                <a:spcPts val="0"/>
              </a:spcBef>
              <a:spcAft>
                <a:spcPts val="0"/>
              </a:spcAft>
            </a:pPr>
            <a:r>
              <a:rPr sz="1390" i="0">
                <a:solidFill>
                  <a:srgbClr val="373144"/>
                </a:solidFill>
                <a:latin typeface="Arial"/>
              </a:rPr>
              <a:t>Biblioteca del Congreso Nacional de Chile. (2009). </a:t>
            </a:r>
            <a:r>
              <a:rPr sz="1390" i="1">
                <a:solidFill>
                  <a:srgbClr val="373144"/>
                </a:solidFill>
                <a:latin typeface="Arial"/>
              </a:rPr>
              <a:t>Ley N.º 20.370: Establece la Ley General de Educación</a:t>
            </a:r>
            <a:r>
              <a:rPr sz="1390">
                <a:solidFill>
                  <a:srgbClr val="373144"/>
                </a:solidFill>
                <a:latin typeface="Arial"/>
              </a:rPr>
              <a:t>. </a:t>
            </a:r>
            <a:r>
              <a:rPr sz="1390">
                <a:solidFill>
                  <a:srgbClr val="7953A6"/>
                </a:solidFill>
                <a:latin typeface="Arial"/>
                <a:hlinkClick r:id="rId3"/>
              </a:rPr>
              <a:t>https://www.bcn.cl/leychile/navegar?idNorma=1006043</a:t>
            </a:r>
          </a:p>
        </p:txBody>
      </p:sp>
      <p:sp>
        <p:nvSpPr>
          <p:cNvPr id="9" name="Rectangle 8"/>
          <p:cNvSpPr/>
          <p:nvPr/>
        </p:nvSpPr>
        <p:spPr>
          <a:xfrm>
            <a:off x="777240" y="3671315"/>
            <a:ext cx="10561320" cy="5461"/>
          </a:xfrm>
          <a:prstGeom prst="rect">
            <a:avLst/>
          </a:prstGeom>
          <a:solidFill>
            <a:srgbClr val="ED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3858768"/>
            <a:ext cx="10607040" cy="1051560"/>
          </a:xfrm>
          <a:prstGeom prst="rect">
            <a:avLst/>
          </a:prstGeom>
          <a:noFill/>
        </p:spPr>
        <p:txBody>
          <a:bodyPr wrap="square" lIns="0" rIns="0" tIns="0" bIns="0">
            <a:spAutoFit/>
          </a:bodyPr>
          <a:lstStyle/>
          <a:p>
            <a:pPr algn="l" marL="274320" indent="-274320">
              <a:spcBef>
                <a:spcPts val="0"/>
              </a:spcBef>
              <a:spcAft>
                <a:spcPts val="0"/>
              </a:spcAft>
            </a:pPr>
            <a:r>
              <a:rPr sz="1390" i="0">
                <a:solidFill>
                  <a:srgbClr val="373144"/>
                </a:solidFill>
                <a:latin typeface="Arial"/>
              </a:rPr>
              <a:t>Biblioteca del Congreso Nacional de Chile. (2018). </a:t>
            </a:r>
            <a:r>
              <a:rPr sz="1390" i="1">
                <a:solidFill>
                  <a:srgbClr val="373144"/>
                </a:solidFill>
                <a:latin typeface="Arial"/>
              </a:rPr>
              <a:t>Ley N.º 21.091: Sobre educación superior</a:t>
            </a:r>
            <a:r>
              <a:rPr sz="1390">
                <a:solidFill>
                  <a:srgbClr val="373144"/>
                </a:solidFill>
                <a:latin typeface="Arial"/>
              </a:rPr>
              <a:t>. </a:t>
            </a:r>
            <a:r>
              <a:rPr sz="1390">
                <a:solidFill>
                  <a:srgbClr val="7953A6"/>
                </a:solidFill>
                <a:latin typeface="Arial"/>
                <a:hlinkClick r:id="rId4"/>
              </a:rPr>
              <a:t>https://www.bcn.cl/leychile/navegar?idNorma=1118991</a:t>
            </a:r>
          </a:p>
        </p:txBody>
      </p:sp>
      <p:sp>
        <p:nvSpPr>
          <p:cNvPr id="11" name="Rectangle 10"/>
          <p:cNvSpPr/>
          <p:nvPr/>
        </p:nvSpPr>
        <p:spPr>
          <a:xfrm>
            <a:off x="777240" y="4745736"/>
            <a:ext cx="10561320" cy="5461"/>
          </a:xfrm>
          <a:prstGeom prst="rect">
            <a:avLst/>
          </a:prstGeom>
          <a:solidFill>
            <a:srgbClr val="ED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4933188"/>
            <a:ext cx="10607040" cy="1051560"/>
          </a:xfrm>
          <a:prstGeom prst="rect">
            <a:avLst/>
          </a:prstGeom>
          <a:noFill/>
        </p:spPr>
        <p:txBody>
          <a:bodyPr wrap="square" lIns="0" rIns="0" tIns="0" bIns="0">
            <a:spAutoFit/>
          </a:bodyPr>
          <a:lstStyle/>
          <a:p>
            <a:pPr algn="l" marL="274320" indent="-274320">
              <a:spcBef>
                <a:spcPts val="0"/>
              </a:spcBef>
              <a:spcAft>
                <a:spcPts val="0"/>
              </a:spcAft>
            </a:pPr>
            <a:r>
              <a:rPr sz="1390" i="0">
                <a:solidFill>
                  <a:srgbClr val="373144"/>
                </a:solidFill>
                <a:latin typeface="Arial"/>
              </a:rPr>
              <a:t>Boudon, R. (1974). </a:t>
            </a:r>
            <a:r>
              <a:rPr sz="1390" i="1">
                <a:solidFill>
                  <a:srgbClr val="373144"/>
                </a:solidFill>
                <a:latin typeface="Arial"/>
              </a:rPr>
              <a:t>Education, opportunity, and social inequality: Changing prospects in Western society</a:t>
            </a:r>
            <a:r>
              <a:rPr sz="1390" i="0">
                <a:solidFill>
                  <a:srgbClr val="373144"/>
                </a:solidFill>
                <a:latin typeface="Arial"/>
              </a:rPr>
              <a:t>. Wiley.</a:t>
            </a:r>
          </a:p>
        </p:txBody>
      </p:sp>
      <p:sp>
        <p:nvSpPr>
          <p:cNvPr id="13" name="Rectangle 12"/>
          <p:cNvSpPr/>
          <p:nvPr/>
        </p:nvSpPr>
        <p:spPr>
          <a:xfrm>
            <a:off x="658368" y="6080760"/>
            <a:ext cx="10927080" cy="8255"/>
          </a:xfrm>
          <a:prstGeom prst="rect">
            <a:avLst/>
          </a:prstGeom>
          <a:solidFill>
            <a:srgbClr val="E2DD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6254496"/>
            <a:ext cx="10881360" cy="365760"/>
          </a:xfrm>
          <a:prstGeom prst="rect">
            <a:avLst/>
          </a:prstGeom>
          <a:noFill/>
        </p:spPr>
        <p:txBody>
          <a:bodyPr wrap="square" lIns="0" rIns="0" tIns="0" bIns="0">
            <a:spAutoFit/>
          </a:bodyPr>
          <a:lstStyle/>
          <a:p>
            <a:pPr>
              <a:spcBef>
                <a:spcPts val="0"/>
              </a:spcBef>
              <a:spcAft>
                <a:spcPts val="0"/>
              </a:spcAft>
            </a:pPr>
            <a:r>
              <a:rPr sz="1090" b="0">
                <a:solidFill>
                  <a:srgbClr val="767082"/>
                </a:solidFill>
                <a:latin typeface="Arial"/>
              </a:rPr>
              <a:t>Bibliografía de las obras citadas o utilizadas en el argumento · APA 7 · Fuera de la exposición oral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274320"/>
            <a:ext cx="10927080" cy="30480"/>
          </a:xfrm>
          <a:prstGeom prst="rect">
            <a:avLst/>
          </a:prstGeom>
          <a:solidFill>
            <a:srgbClr val="795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93192"/>
            <a:ext cx="9875520" cy="219456"/>
          </a:xfrm>
          <a:prstGeom prst="rect">
            <a:avLst/>
          </a:prstGeom>
          <a:noFill/>
        </p:spPr>
        <p:txBody>
          <a:bodyPr wrap="square" lIns="0" rIns="0" tIns="0" bIns="0">
            <a:spAutoFit/>
          </a:bodyPr>
          <a:lstStyle/>
          <a:p>
            <a:pPr>
              <a:spcBef>
                <a:spcPts val="0"/>
              </a:spcBef>
              <a:spcAft>
                <a:spcPts val="0"/>
              </a:spcAft>
            </a:pPr>
            <a:r>
              <a:rPr sz="1040" b="1">
                <a:solidFill>
                  <a:srgbClr val="7953A6"/>
                </a:solidFill>
                <a:latin typeface="Arial"/>
              </a:rPr>
              <a:t>REFERENCIAS · MATERIAL DE CONSULTA</a:t>
            </a:r>
          </a:p>
        </p:txBody>
      </p:sp>
      <p:sp>
        <p:nvSpPr>
          <p:cNvPr id="4" name="TextBox 3"/>
          <p:cNvSpPr txBox="1"/>
          <p:nvPr/>
        </p:nvSpPr>
        <p:spPr>
          <a:xfrm>
            <a:off x="658368" y="731520"/>
            <a:ext cx="10881360" cy="548640"/>
          </a:xfrm>
          <a:prstGeom prst="rect">
            <a:avLst/>
          </a:prstGeom>
          <a:noFill/>
        </p:spPr>
        <p:txBody>
          <a:bodyPr wrap="square" lIns="0" rIns="0" tIns="0" bIns="0">
            <a:spAutoFit/>
          </a:bodyPr>
          <a:lstStyle/>
          <a:p>
            <a:pPr>
              <a:spcBef>
                <a:spcPts val="0"/>
              </a:spcBef>
              <a:spcAft>
                <a:spcPts val="0"/>
              </a:spcAft>
            </a:pPr>
            <a:r>
              <a:rPr sz="3000" b="0">
                <a:solidFill>
                  <a:srgbClr val="373144"/>
                </a:solidFill>
                <a:latin typeface="Georgia"/>
              </a:rPr>
              <a:t>Referencias (continuación)</a:t>
            </a:r>
          </a:p>
        </p:txBody>
      </p:sp>
      <p:sp>
        <p:nvSpPr>
          <p:cNvPr id="5" name="Rectangle 4"/>
          <p:cNvSpPr/>
          <p:nvPr/>
        </p:nvSpPr>
        <p:spPr>
          <a:xfrm>
            <a:off x="667512" y="1417320"/>
            <a:ext cx="10881360" cy="10795"/>
          </a:xfrm>
          <a:prstGeom prst="rect">
            <a:avLst/>
          </a:prstGeom>
          <a:solidFill>
            <a:srgbClr val="E2DD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1709928"/>
            <a:ext cx="10607040" cy="1051560"/>
          </a:xfrm>
          <a:prstGeom prst="rect">
            <a:avLst/>
          </a:prstGeom>
          <a:noFill/>
        </p:spPr>
        <p:txBody>
          <a:bodyPr wrap="square" lIns="0" rIns="0" tIns="0" bIns="0">
            <a:spAutoFit/>
          </a:bodyPr>
          <a:lstStyle/>
          <a:p>
            <a:pPr algn="l" marL="274320" indent="-274320">
              <a:spcBef>
                <a:spcPts val="0"/>
              </a:spcBef>
              <a:spcAft>
                <a:spcPts val="0"/>
              </a:spcAft>
            </a:pPr>
            <a:r>
              <a:rPr sz="1390" i="0">
                <a:solidFill>
                  <a:srgbClr val="373144"/>
                </a:solidFill>
                <a:latin typeface="Arial"/>
              </a:rPr>
              <a:t>Gerber, T. P., &amp; Cheung, S. Y. (2008). Horizontal stratification in postsecondary education: Forms, explanations, and implications. </a:t>
            </a:r>
            <a:r>
              <a:rPr sz="1390" i="1">
                <a:solidFill>
                  <a:srgbClr val="373144"/>
                </a:solidFill>
                <a:latin typeface="Arial"/>
              </a:rPr>
              <a:t>Annual Review of Sociology, 34</a:t>
            </a:r>
            <a:r>
              <a:rPr sz="1390">
                <a:solidFill>
                  <a:srgbClr val="373144"/>
                </a:solidFill>
                <a:latin typeface="Arial"/>
              </a:rPr>
              <a:t>, 299–318. </a:t>
            </a:r>
            <a:r>
              <a:rPr sz="1390">
                <a:solidFill>
                  <a:srgbClr val="7953A6"/>
                </a:solidFill>
                <a:latin typeface="Arial"/>
                <a:hlinkClick r:id="rId2"/>
              </a:rPr>
              <a:t>https://doi.org/10.1146/annurev.soc.34.040507.134604</a:t>
            </a:r>
          </a:p>
        </p:txBody>
      </p:sp>
      <p:sp>
        <p:nvSpPr>
          <p:cNvPr id="7" name="Rectangle 6"/>
          <p:cNvSpPr/>
          <p:nvPr/>
        </p:nvSpPr>
        <p:spPr>
          <a:xfrm>
            <a:off x="777240" y="2596896"/>
            <a:ext cx="10561320" cy="5461"/>
          </a:xfrm>
          <a:prstGeom prst="rect">
            <a:avLst/>
          </a:prstGeom>
          <a:solidFill>
            <a:srgbClr val="ED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2784348"/>
            <a:ext cx="10607040" cy="1051560"/>
          </a:xfrm>
          <a:prstGeom prst="rect">
            <a:avLst/>
          </a:prstGeom>
          <a:noFill/>
        </p:spPr>
        <p:txBody>
          <a:bodyPr wrap="square" lIns="0" rIns="0" tIns="0" bIns="0">
            <a:spAutoFit/>
          </a:bodyPr>
          <a:lstStyle/>
          <a:p>
            <a:pPr algn="l" marL="274320" indent="-274320">
              <a:spcBef>
                <a:spcPts val="0"/>
              </a:spcBef>
              <a:spcAft>
                <a:spcPts val="0"/>
              </a:spcAft>
            </a:pPr>
            <a:r>
              <a:rPr sz="1390" i="0">
                <a:solidFill>
                  <a:srgbClr val="373144"/>
                </a:solidFill>
                <a:latin typeface="Arial"/>
              </a:rPr>
              <a:t>Kuzmanic, D., Valenzuela, J. P., Villalobos, C., &amp; Quaresma, M. L. (2022). Reproduction of academic and socioeconomic segregation in the transition to postsecondary education: A new approach. </a:t>
            </a:r>
            <a:r>
              <a:rPr sz="1390" i="1">
                <a:solidFill>
                  <a:srgbClr val="373144"/>
                </a:solidFill>
                <a:latin typeface="Arial"/>
              </a:rPr>
              <a:t>Research in Social Stratification and Mobility, 80</a:t>
            </a:r>
            <a:r>
              <a:rPr sz="1390">
                <a:solidFill>
                  <a:srgbClr val="373144"/>
                </a:solidFill>
                <a:latin typeface="Arial"/>
              </a:rPr>
              <a:t>, Article 100711. </a:t>
            </a:r>
            <a:r>
              <a:rPr sz="1390">
                <a:solidFill>
                  <a:srgbClr val="7953A6"/>
                </a:solidFill>
                <a:latin typeface="Arial"/>
                <a:hlinkClick r:id="rId3"/>
              </a:rPr>
              <a:t>https://doi.org/10.1016/j.rssm.2022.100711</a:t>
            </a:r>
          </a:p>
        </p:txBody>
      </p:sp>
      <p:sp>
        <p:nvSpPr>
          <p:cNvPr id="9" name="Rectangle 8"/>
          <p:cNvSpPr/>
          <p:nvPr/>
        </p:nvSpPr>
        <p:spPr>
          <a:xfrm>
            <a:off x="777240" y="3671315"/>
            <a:ext cx="10561320" cy="5461"/>
          </a:xfrm>
          <a:prstGeom prst="rect">
            <a:avLst/>
          </a:prstGeom>
          <a:solidFill>
            <a:srgbClr val="ED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3858768"/>
            <a:ext cx="10607040" cy="1051560"/>
          </a:xfrm>
          <a:prstGeom prst="rect">
            <a:avLst/>
          </a:prstGeom>
          <a:noFill/>
        </p:spPr>
        <p:txBody>
          <a:bodyPr wrap="square" lIns="0" rIns="0" tIns="0" bIns="0">
            <a:spAutoFit/>
          </a:bodyPr>
          <a:lstStyle/>
          <a:p>
            <a:pPr algn="l" marL="274320" indent="-274320">
              <a:spcBef>
                <a:spcPts val="0"/>
              </a:spcBef>
              <a:spcAft>
                <a:spcPts val="0"/>
              </a:spcAft>
            </a:pPr>
            <a:r>
              <a:rPr sz="1390" i="0">
                <a:solidFill>
                  <a:srgbClr val="373144"/>
                </a:solidFill>
                <a:latin typeface="Arial"/>
              </a:rPr>
              <a:t>Kuzmanic, D., Valenzuela, J. P., Villalobos, C., &amp; Quaresma, M. L. (2023). Socioeconomic segregation in higher education: Evidence for Chile (2009–2017). </a:t>
            </a:r>
            <a:r>
              <a:rPr sz="1390" i="1">
                <a:solidFill>
                  <a:srgbClr val="373144"/>
                </a:solidFill>
                <a:latin typeface="Arial"/>
              </a:rPr>
              <a:t>Higher Education Policy, 36</a:t>
            </a:r>
            <a:r>
              <a:rPr sz="1390">
                <a:solidFill>
                  <a:srgbClr val="373144"/>
                </a:solidFill>
                <a:latin typeface="Arial"/>
              </a:rPr>
              <a:t>(2), 329–350. </a:t>
            </a:r>
            <a:r>
              <a:rPr sz="1390">
                <a:solidFill>
                  <a:srgbClr val="7953A6"/>
                </a:solidFill>
                <a:latin typeface="Arial"/>
                <a:hlinkClick r:id="rId4"/>
              </a:rPr>
              <a:t>https://doi.org/10.1057/s41307-021-00258-6</a:t>
            </a:r>
          </a:p>
        </p:txBody>
      </p:sp>
      <p:sp>
        <p:nvSpPr>
          <p:cNvPr id="11" name="Rectangle 10"/>
          <p:cNvSpPr/>
          <p:nvPr/>
        </p:nvSpPr>
        <p:spPr>
          <a:xfrm>
            <a:off x="777240" y="4745736"/>
            <a:ext cx="10561320" cy="5461"/>
          </a:xfrm>
          <a:prstGeom prst="rect">
            <a:avLst/>
          </a:prstGeom>
          <a:solidFill>
            <a:srgbClr val="ED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4933188"/>
            <a:ext cx="10607040" cy="1051560"/>
          </a:xfrm>
          <a:prstGeom prst="rect">
            <a:avLst/>
          </a:prstGeom>
          <a:noFill/>
        </p:spPr>
        <p:txBody>
          <a:bodyPr wrap="square" lIns="0" rIns="0" tIns="0" bIns="0">
            <a:spAutoFit/>
          </a:bodyPr>
          <a:lstStyle/>
          <a:p>
            <a:pPr algn="l" marL="274320" indent="-274320">
              <a:spcBef>
                <a:spcPts val="0"/>
              </a:spcBef>
              <a:spcAft>
                <a:spcPts val="0"/>
              </a:spcAft>
            </a:pPr>
            <a:r>
              <a:rPr sz="1390" i="0">
                <a:solidFill>
                  <a:srgbClr val="373144"/>
                </a:solidFill>
                <a:latin typeface="Arial"/>
              </a:rPr>
              <a:t>Lucas, S. R. (2001). Effectively maintained inequality: Education transitions, track mobility, and social background effects. </a:t>
            </a:r>
            <a:r>
              <a:rPr sz="1390" i="1">
                <a:solidFill>
                  <a:srgbClr val="373144"/>
                </a:solidFill>
                <a:latin typeface="Arial"/>
              </a:rPr>
              <a:t>American Journal of Sociology, 106</a:t>
            </a:r>
            <a:r>
              <a:rPr sz="1390">
                <a:solidFill>
                  <a:srgbClr val="373144"/>
                </a:solidFill>
                <a:latin typeface="Arial"/>
              </a:rPr>
              <a:t>(6), 1642–1690. </a:t>
            </a:r>
            <a:r>
              <a:rPr sz="1390">
                <a:solidFill>
                  <a:srgbClr val="7953A6"/>
                </a:solidFill>
                <a:latin typeface="Arial"/>
                <a:hlinkClick r:id="rId5"/>
              </a:rPr>
              <a:t>https://doi.org/10.1086/321300</a:t>
            </a:r>
          </a:p>
        </p:txBody>
      </p:sp>
      <p:sp>
        <p:nvSpPr>
          <p:cNvPr id="13" name="Rectangle 12"/>
          <p:cNvSpPr/>
          <p:nvPr/>
        </p:nvSpPr>
        <p:spPr>
          <a:xfrm>
            <a:off x="658368" y="6080760"/>
            <a:ext cx="10927080" cy="8255"/>
          </a:xfrm>
          <a:prstGeom prst="rect">
            <a:avLst/>
          </a:prstGeom>
          <a:solidFill>
            <a:srgbClr val="E2DD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6254496"/>
            <a:ext cx="10881360" cy="365760"/>
          </a:xfrm>
          <a:prstGeom prst="rect">
            <a:avLst/>
          </a:prstGeom>
          <a:noFill/>
        </p:spPr>
        <p:txBody>
          <a:bodyPr wrap="square" lIns="0" rIns="0" tIns="0" bIns="0">
            <a:spAutoFit/>
          </a:bodyPr>
          <a:lstStyle/>
          <a:p>
            <a:pPr>
              <a:spcBef>
                <a:spcPts val="0"/>
              </a:spcBef>
              <a:spcAft>
                <a:spcPts val="0"/>
              </a:spcAft>
            </a:pPr>
            <a:r>
              <a:rPr sz="1090" b="0">
                <a:solidFill>
                  <a:srgbClr val="767082"/>
                </a:solidFill>
                <a:latin typeface="Arial"/>
              </a:rPr>
              <a:t>Bibliografía de las obras citadas o utilizadas en el argumento · APA 7 · Fuera de la exposición oral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274320"/>
            <a:ext cx="10927080" cy="30480"/>
          </a:xfrm>
          <a:prstGeom prst="rect">
            <a:avLst/>
          </a:prstGeom>
          <a:solidFill>
            <a:srgbClr val="795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93192"/>
            <a:ext cx="9875520" cy="219456"/>
          </a:xfrm>
          <a:prstGeom prst="rect">
            <a:avLst/>
          </a:prstGeom>
          <a:noFill/>
        </p:spPr>
        <p:txBody>
          <a:bodyPr wrap="square" lIns="0" rIns="0" tIns="0" bIns="0">
            <a:spAutoFit/>
          </a:bodyPr>
          <a:lstStyle/>
          <a:p>
            <a:pPr>
              <a:spcBef>
                <a:spcPts val="0"/>
              </a:spcBef>
              <a:spcAft>
                <a:spcPts val="0"/>
              </a:spcAft>
            </a:pPr>
            <a:r>
              <a:rPr sz="1040" b="1">
                <a:solidFill>
                  <a:srgbClr val="7953A6"/>
                </a:solidFill>
                <a:latin typeface="Arial"/>
              </a:rPr>
              <a:t>REFERENCIAS · MATERIAL DE CONSULTA</a:t>
            </a:r>
          </a:p>
        </p:txBody>
      </p:sp>
      <p:sp>
        <p:nvSpPr>
          <p:cNvPr id="4" name="TextBox 3"/>
          <p:cNvSpPr txBox="1"/>
          <p:nvPr/>
        </p:nvSpPr>
        <p:spPr>
          <a:xfrm>
            <a:off x="658368" y="731520"/>
            <a:ext cx="10881360" cy="548640"/>
          </a:xfrm>
          <a:prstGeom prst="rect">
            <a:avLst/>
          </a:prstGeom>
          <a:noFill/>
        </p:spPr>
        <p:txBody>
          <a:bodyPr wrap="square" lIns="0" rIns="0" tIns="0" bIns="0">
            <a:spAutoFit/>
          </a:bodyPr>
          <a:lstStyle/>
          <a:p>
            <a:pPr>
              <a:spcBef>
                <a:spcPts val="0"/>
              </a:spcBef>
              <a:spcAft>
                <a:spcPts val="0"/>
              </a:spcAft>
            </a:pPr>
            <a:r>
              <a:rPr sz="3000" b="0">
                <a:solidFill>
                  <a:srgbClr val="373144"/>
                </a:solidFill>
                <a:latin typeface="Georgia"/>
              </a:rPr>
              <a:t>Referencias (continuación)</a:t>
            </a:r>
          </a:p>
        </p:txBody>
      </p:sp>
      <p:sp>
        <p:nvSpPr>
          <p:cNvPr id="5" name="Rectangle 4"/>
          <p:cNvSpPr/>
          <p:nvPr/>
        </p:nvSpPr>
        <p:spPr>
          <a:xfrm>
            <a:off x="667512" y="1417320"/>
            <a:ext cx="10881360" cy="10795"/>
          </a:xfrm>
          <a:prstGeom prst="rect">
            <a:avLst/>
          </a:prstGeom>
          <a:solidFill>
            <a:srgbClr val="E2DD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1709928"/>
            <a:ext cx="10607040" cy="1051560"/>
          </a:xfrm>
          <a:prstGeom prst="rect">
            <a:avLst/>
          </a:prstGeom>
          <a:noFill/>
        </p:spPr>
        <p:txBody>
          <a:bodyPr wrap="square" lIns="0" rIns="0" tIns="0" bIns="0">
            <a:spAutoFit/>
          </a:bodyPr>
          <a:lstStyle/>
          <a:p>
            <a:pPr algn="l" marL="274320" indent="-274320">
              <a:spcBef>
                <a:spcPts val="0"/>
              </a:spcBef>
              <a:spcAft>
                <a:spcPts val="0"/>
              </a:spcAft>
            </a:pPr>
            <a:r>
              <a:rPr sz="1390" i="0">
                <a:solidFill>
                  <a:srgbClr val="373144"/>
                </a:solidFill>
                <a:latin typeface="Arial"/>
              </a:rPr>
              <a:t>Mare, R. D. (1980). Social background and school continuation decisions. </a:t>
            </a:r>
            <a:r>
              <a:rPr sz="1390" i="1">
                <a:solidFill>
                  <a:srgbClr val="373144"/>
                </a:solidFill>
                <a:latin typeface="Arial"/>
              </a:rPr>
              <a:t>Journal of the American Statistical Association, 75</a:t>
            </a:r>
            <a:r>
              <a:rPr sz="1390">
                <a:solidFill>
                  <a:srgbClr val="373144"/>
                </a:solidFill>
                <a:latin typeface="Arial"/>
              </a:rPr>
              <a:t>(370), 295–305. </a:t>
            </a:r>
            <a:r>
              <a:rPr sz="1390">
                <a:solidFill>
                  <a:srgbClr val="7953A6"/>
                </a:solidFill>
                <a:latin typeface="Arial"/>
                <a:hlinkClick r:id="rId2"/>
              </a:rPr>
              <a:t>https://doi.org/10.1080/01621459.1980.10477466</a:t>
            </a:r>
          </a:p>
        </p:txBody>
      </p:sp>
      <p:sp>
        <p:nvSpPr>
          <p:cNvPr id="7" name="Rectangle 6"/>
          <p:cNvSpPr/>
          <p:nvPr/>
        </p:nvSpPr>
        <p:spPr>
          <a:xfrm>
            <a:off x="777240" y="2596896"/>
            <a:ext cx="10561320" cy="5461"/>
          </a:xfrm>
          <a:prstGeom prst="rect">
            <a:avLst/>
          </a:prstGeom>
          <a:solidFill>
            <a:srgbClr val="ED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2784348"/>
            <a:ext cx="10607040" cy="1051560"/>
          </a:xfrm>
          <a:prstGeom prst="rect">
            <a:avLst/>
          </a:prstGeom>
          <a:noFill/>
        </p:spPr>
        <p:txBody>
          <a:bodyPr wrap="square" lIns="0" rIns="0" tIns="0" bIns="0">
            <a:spAutoFit/>
          </a:bodyPr>
          <a:lstStyle/>
          <a:p>
            <a:pPr algn="l" marL="274320" indent="-274320">
              <a:spcBef>
                <a:spcPts val="0"/>
              </a:spcBef>
              <a:spcAft>
                <a:spcPts val="0"/>
              </a:spcAft>
            </a:pPr>
            <a:r>
              <a:rPr sz="1390" i="0">
                <a:solidFill>
                  <a:srgbClr val="373144"/>
                </a:solidFill>
                <a:latin typeface="Arial"/>
              </a:rPr>
              <a:t>Peralta Rojas, M. (2024). Cursar un programa técnico secundario en Chile, más allá del origen. </a:t>
            </a:r>
            <a:r>
              <a:rPr sz="1390" i="1">
                <a:solidFill>
                  <a:srgbClr val="373144"/>
                </a:solidFill>
                <a:latin typeface="Arial"/>
              </a:rPr>
              <a:t>Revista Estudios de Políticas Públicas, 10</a:t>
            </a:r>
            <a:r>
              <a:rPr sz="1390">
                <a:solidFill>
                  <a:srgbClr val="373144"/>
                </a:solidFill>
                <a:latin typeface="Arial"/>
              </a:rPr>
              <a:t>(2), 68–93. </a:t>
            </a:r>
            <a:r>
              <a:rPr sz="1390">
                <a:solidFill>
                  <a:srgbClr val="7953A6"/>
                </a:solidFill>
                <a:latin typeface="Arial"/>
                <a:hlinkClick r:id="rId3"/>
              </a:rPr>
              <a:t>https://doi.org/10.5354/0719-6296.2024.76162</a:t>
            </a:r>
          </a:p>
        </p:txBody>
      </p:sp>
      <p:sp>
        <p:nvSpPr>
          <p:cNvPr id="9" name="Rectangle 8"/>
          <p:cNvSpPr/>
          <p:nvPr/>
        </p:nvSpPr>
        <p:spPr>
          <a:xfrm>
            <a:off x="777240" y="3671315"/>
            <a:ext cx="10561320" cy="5461"/>
          </a:xfrm>
          <a:prstGeom prst="rect">
            <a:avLst/>
          </a:prstGeom>
          <a:solidFill>
            <a:srgbClr val="ED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3858768"/>
            <a:ext cx="10607040" cy="1051560"/>
          </a:xfrm>
          <a:prstGeom prst="rect">
            <a:avLst/>
          </a:prstGeom>
          <a:noFill/>
        </p:spPr>
        <p:txBody>
          <a:bodyPr wrap="square" lIns="0" rIns="0" tIns="0" bIns="0">
            <a:spAutoFit/>
          </a:bodyPr>
          <a:lstStyle/>
          <a:p>
            <a:pPr algn="l" marL="274320" indent="-274320">
              <a:spcBef>
                <a:spcPts val="0"/>
              </a:spcBef>
              <a:spcAft>
                <a:spcPts val="0"/>
              </a:spcAft>
            </a:pPr>
            <a:r>
              <a:rPr sz="1390" i="0">
                <a:solidFill>
                  <a:srgbClr val="373144"/>
                </a:solidFill>
                <a:latin typeface="Arial"/>
              </a:rPr>
              <a:t>Triventi, M. (2013). Stratification in higher education and its relationship with social inequality: A comparative study of 11 European countries. </a:t>
            </a:r>
            <a:r>
              <a:rPr sz="1390" i="1">
                <a:solidFill>
                  <a:srgbClr val="373144"/>
                </a:solidFill>
                <a:latin typeface="Arial"/>
              </a:rPr>
              <a:t>European Sociological Review, 29</a:t>
            </a:r>
            <a:r>
              <a:rPr sz="1390">
                <a:solidFill>
                  <a:srgbClr val="373144"/>
                </a:solidFill>
                <a:latin typeface="Arial"/>
              </a:rPr>
              <a:t>(3), 489–502. </a:t>
            </a:r>
            <a:r>
              <a:rPr sz="1390">
                <a:solidFill>
                  <a:srgbClr val="7953A6"/>
                </a:solidFill>
                <a:latin typeface="Arial"/>
                <a:hlinkClick r:id="rId4"/>
              </a:rPr>
              <a:t>https://doi.org/10.1093/esr/jcr092</a:t>
            </a:r>
          </a:p>
        </p:txBody>
      </p:sp>
      <p:sp>
        <p:nvSpPr>
          <p:cNvPr id="11" name="Rectangle 10"/>
          <p:cNvSpPr/>
          <p:nvPr/>
        </p:nvSpPr>
        <p:spPr>
          <a:xfrm>
            <a:off x="777240" y="4745736"/>
            <a:ext cx="10561320" cy="5461"/>
          </a:xfrm>
          <a:prstGeom prst="rect">
            <a:avLst/>
          </a:prstGeom>
          <a:solidFill>
            <a:srgbClr val="ED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4933188"/>
            <a:ext cx="10607040" cy="1051560"/>
          </a:xfrm>
          <a:prstGeom prst="rect">
            <a:avLst/>
          </a:prstGeom>
          <a:noFill/>
        </p:spPr>
        <p:txBody>
          <a:bodyPr wrap="square" lIns="0" rIns="0" tIns="0" bIns="0">
            <a:spAutoFit/>
          </a:bodyPr>
          <a:lstStyle/>
          <a:p>
            <a:pPr algn="l" marL="274320" indent="-274320">
              <a:spcBef>
                <a:spcPts val="0"/>
              </a:spcBef>
              <a:spcAft>
                <a:spcPts val="0"/>
              </a:spcAft>
            </a:pPr>
            <a:r>
              <a:rPr sz="1390" i="0">
                <a:solidFill>
                  <a:srgbClr val="373144"/>
                </a:solidFill>
                <a:latin typeface="Arial"/>
              </a:rPr>
              <a:t>Zelada, C., Ortega, L., &amp; Montero, M. (2025). ¿El “Sueño Chileno” incumplido? Desigualdades y segregación institucional en las transiciones a la educación superior de estudiantes extranjeros en Chile. </a:t>
            </a:r>
            <a:r>
              <a:rPr sz="1390" i="1">
                <a:solidFill>
                  <a:srgbClr val="373144"/>
                </a:solidFill>
                <a:latin typeface="Arial"/>
              </a:rPr>
              <a:t>Archivos Analíticos de Políticas Educativas, 33</a:t>
            </a:r>
            <a:r>
              <a:rPr sz="1390">
                <a:solidFill>
                  <a:srgbClr val="373144"/>
                </a:solidFill>
                <a:latin typeface="Arial"/>
              </a:rPr>
              <a:t>(88). </a:t>
            </a:r>
            <a:r>
              <a:rPr sz="1390">
                <a:solidFill>
                  <a:srgbClr val="7953A6"/>
                </a:solidFill>
                <a:latin typeface="Arial"/>
                <a:hlinkClick r:id="rId5"/>
              </a:rPr>
              <a:t>https://doi.org/10.14507/epaa.33.8520</a:t>
            </a:r>
          </a:p>
        </p:txBody>
      </p:sp>
      <p:sp>
        <p:nvSpPr>
          <p:cNvPr id="13" name="Rectangle 12"/>
          <p:cNvSpPr/>
          <p:nvPr/>
        </p:nvSpPr>
        <p:spPr>
          <a:xfrm>
            <a:off x="658368" y="6080760"/>
            <a:ext cx="10927080" cy="8255"/>
          </a:xfrm>
          <a:prstGeom prst="rect">
            <a:avLst/>
          </a:prstGeom>
          <a:solidFill>
            <a:srgbClr val="E2DD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6254496"/>
            <a:ext cx="10881360" cy="365760"/>
          </a:xfrm>
          <a:prstGeom prst="rect">
            <a:avLst/>
          </a:prstGeom>
          <a:noFill/>
        </p:spPr>
        <p:txBody>
          <a:bodyPr wrap="square" lIns="0" rIns="0" tIns="0" bIns="0">
            <a:spAutoFit/>
          </a:bodyPr>
          <a:lstStyle/>
          <a:p>
            <a:pPr>
              <a:spcBef>
                <a:spcPts val="0"/>
              </a:spcBef>
              <a:spcAft>
                <a:spcPts val="0"/>
              </a:spcAft>
            </a:pPr>
            <a:r>
              <a:rPr sz="1090" b="0">
                <a:solidFill>
                  <a:srgbClr val="767082"/>
                </a:solidFill>
                <a:latin typeface="Arial"/>
              </a:rPr>
              <a:t>Datos empíricos: registros administrativos MINEDUC (egreso) y SIES (matrícula); análisis y tablas de elaboración propia.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Universidad de Chile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Trayectorias segmentadas de egresados técnico-profesionales hacia la educación superior chilena</dc:title>
  <dc:subject>CIIE 2026 · Ponencia científica</dc:subject>
  <dc:creator>Katherine Aravena Herrera</dc:creator>
  <cp:lastModifiedBy>Katherine Aravena Herrera</cp:lastModifiedBy>
  <cp:revision>1</cp:revision>
  <dcterms:created xsi:type="dcterms:W3CDTF">2026-10-25T23:59:58Z</dcterms:created>
  <dcterms:modified xsi:type="dcterms:W3CDTF">2026-10-25T23:59:58Z</dcterms:modified>
</cp:coreProperties>
</file>